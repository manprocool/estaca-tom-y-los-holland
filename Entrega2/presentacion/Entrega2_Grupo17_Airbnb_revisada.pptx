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c5a129be2cc4cbe" /><Relationship Type="http://schemas.openxmlformats.org/officeDocument/2006/relationships/extended-properties" Target="/docProps/app.xml" Id="Re7b43379089c4407" /><Relationship Type="http://schemas.openxmlformats.org/officeDocument/2006/relationships/officeDocument" Target="/ppt/presentation.xml" Id="Rf45e76cffb804aa4" /></Relationships>
</file>

<file path=ppt/presentation.xml><?xml version="1.0" encoding="utf-8"?>
<p:presentation xmlns:p="http://schemas.openxmlformats.org/presentationml/2006/main">
  <p:sldMasterIdLst>
    <p:sldMasterId xmlns:r="http://schemas.openxmlformats.org/officeDocument/2006/relationships" id="2147483648" r:id="Rc26ad8c146684204"/>
  </p:sldMasterIdLst>
  <p:notesMasterIdLst>
    <p:notesMasterId xmlns:r="http://schemas.openxmlformats.org/officeDocument/2006/relationships" r:id="R31f1cd8ac3f54a92"/>
  </p:notesMasterIdLst>
  <p:sldIdLst>
    <p:sldId xmlns:r="http://schemas.openxmlformats.org/officeDocument/2006/relationships" id="256" r:id="Rc09e2dada2154c86"/>
    <p:sldId xmlns:r="http://schemas.openxmlformats.org/officeDocument/2006/relationships" id="257" r:id="R930cdedb9425440b"/>
    <p:sldId xmlns:r="http://schemas.openxmlformats.org/officeDocument/2006/relationships" id="258" r:id="R09cf607a250946da"/>
    <p:sldId xmlns:r="http://schemas.openxmlformats.org/officeDocument/2006/relationships" id="259" r:id="R6d050158b3e743a2"/>
    <p:sldId xmlns:r="http://schemas.openxmlformats.org/officeDocument/2006/relationships" id="260" r:id="R08574d84239e45e5"/>
    <p:sldId xmlns:r="http://schemas.openxmlformats.org/officeDocument/2006/relationships" id="261" r:id="Rbdc3bed9ac234b51"/>
    <p:sldId xmlns:r="http://schemas.openxmlformats.org/officeDocument/2006/relationships" id="262" r:id="R34e081e4560246b3"/>
    <p:sldId xmlns:r="http://schemas.openxmlformats.org/officeDocument/2006/relationships" id="263" r:id="R979b9e7158c441b4"/>
    <p:sldId xmlns:r="http://schemas.openxmlformats.org/officeDocument/2006/relationships" id="264" r:id="Rdc9dbfd891f64b69"/>
    <p:sldId xmlns:r="http://schemas.openxmlformats.org/officeDocument/2006/relationships" id="265" r:id="Rf7e948e8b1d14d44"/>
    <p:sldId xmlns:r="http://schemas.openxmlformats.org/officeDocument/2006/relationships" id="266" r:id="Re28ac96c9e574972"/>
    <p:sldId xmlns:r="http://schemas.openxmlformats.org/officeDocument/2006/relationships" id="267" r:id="Rba6efdbe4dc0458b"/>
    <p:sldId xmlns:r="http://schemas.openxmlformats.org/officeDocument/2006/relationships" id="268" r:id="Rdf8d6794b6be4ec0"/>
    <p:sldId xmlns:r="http://schemas.openxmlformats.org/officeDocument/2006/relationships" id="269" r:id="R0c949e82d62c4bbe"/>
    <p:sldId xmlns:r="http://schemas.openxmlformats.org/officeDocument/2006/relationships" id="270" r:id="R4b1acac63ef647da"/>
    <p:sldId xmlns:r="http://schemas.openxmlformats.org/officeDocument/2006/relationships" id="271" r:id="Re58eaab0e6614832"/>
    <p:sldId xmlns:r="http://schemas.openxmlformats.org/officeDocument/2006/relationships" id="272" r:id="R87227f87a64b4e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2df307b47b4bfc" /><Relationship Type="http://schemas.openxmlformats.org/officeDocument/2006/relationships/slideMaster" Target="/ppt/slideMasters/slideMaster1.xml" Id="Rc26ad8c146684204" /><Relationship Type="http://schemas.openxmlformats.org/officeDocument/2006/relationships/notesMaster" Target="/ppt/notesMasters/notesMaster1.xml" Id="R31f1cd8ac3f54a92" /><Relationship Type="http://schemas.openxmlformats.org/officeDocument/2006/relationships/presProps" Target="/ppt/presProps.xml" Id="Rb13b5bd566194c13" /><Relationship Type="http://schemas.openxmlformats.org/officeDocument/2006/relationships/tableStyles" Target="/ppt/tableStyles.xml" Id="Rb996213df2f94208" /><Relationship Type="http://schemas.openxmlformats.org/officeDocument/2006/relationships/slide" Target="/ppt/slides/slide1.xml" Id="Rc09e2dada2154c86" /><Relationship Type="http://schemas.openxmlformats.org/officeDocument/2006/relationships/slide" Target="/ppt/slides/slide2.xml" Id="R930cdedb9425440b" /><Relationship Type="http://schemas.openxmlformats.org/officeDocument/2006/relationships/slide" Target="/ppt/slides/slide3.xml" Id="R09cf607a250946da" /><Relationship Type="http://schemas.openxmlformats.org/officeDocument/2006/relationships/slide" Target="/ppt/slides/slide4.xml" Id="R6d050158b3e743a2" /><Relationship Type="http://schemas.openxmlformats.org/officeDocument/2006/relationships/slide" Target="/ppt/slides/slide5.xml" Id="R08574d84239e45e5" /><Relationship Type="http://schemas.openxmlformats.org/officeDocument/2006/relationships/slide" Target="/ppt/slides/slide6.xml" Id="Rbdc3bed9ac234b51" /><Relationship Type="http://schemas.openxmlformats.org/officeDocument/2006/relationships/slide" Target="/ppt/slides/slide7.xml" Id="R34e081e4560246b3" /><Relationship Type="http://schemas.openxmlformats.org/officeDocument/2006/relationships/slide" Target="/ppt/slides/slide8.xml" Id="R979b9e7158c441b4" /><Relationship Type="http://schemas.openxmlformats.org/officeDocument/2006/relationships/slide" Target="/ppt/slides/slide9.xml" Id="Rdc9dbfd891f64b69" /><Relationship Type="http://schemas.openxmlformats.org/officeDocument/2006/relationships/slide" Target="/ppt/slides/slide10.xml" Id="Rf7e948e8b1d14d44" /><Relationship Type="http://schemas.openxmlformats.org/officeDocument/2006/relationships/slide" Target="/ppt/slides/slide11.xml" Id="Re28ac96c9e574972" /><Relationship Type="http://schemas.openxmlformats.org/officeDocument/2006/relationships/slide" Target="/ppt/slides/slide12.xml" Id="Rba6efdbe4dc0458b" /><Relationship Type="http://schemas.openxmlformats.org/officeDocument/2006/relationships/slide" Target="/ppt/slides/slide13.xml" Id="Rdf8d6794b6be4ec0" /><Relationship Type="http://schemas.openxmlformats.org/officeDocument/2006/relationships/slide" Target="/ppt/slides/slide14.xml" Id="R0c949e82d62c4bbe" /><Relationship Type="http://schemas.openxmlformats.org/officeDocument/2006/relationships/slide" Target="/ppt/slides/slide15.xml" Id="R4b1acac63ef647da" /><Relationship Type="http://schemas.openxmlformats.org/officeDocument/2006/relationships/slide" Target="/ppt/slides/slide16.xml" Id="Re58eaab0e6614832" /><Relationship Type="http://schemas.openxmlformats.org/officeDocument/2006/relationships/slide" Target="/ppt/slides/slide17.xml" Id="R87227f87a64b4e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692e20fe874b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ac84eb183e45a4" /><Relationship Type="http://schemas.openxmlformats.org/officeDocument/2006/relationships/notesMaster" Target="/ppt/notesMasters/notesMaster1.xml" Id="R9dc09567d6744a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03400e747349a0" /><Relationship Type="http://schemas.openxmlformats.org/officeDocument/2006/relationships/notesMaster" Target="/ppt/notesMasters/notesMaster1.xml" Id="Rc7cbd8dfbd2b48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4eb620b2864e39" /><Relationship Type="http://schemas.openxmlformats.org/officeDocument/2006/relationships/notesMaster" Target="/ppt/notesMasters/notesMaster1.xml" Id="R2b84edbfe0e547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391e6a685e47c4" /><Relationship Type="http://schemas.openxmlformats.org/officeDocument/2006/relationships/notesMaster" Target="/ppt/notesMasters/notesMaster1.xml" Id="Rb70d36efc6e84f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c7f1f980f14540" /><Relationship Type="http://schemas.openxmlformats.org/officeDocument/2006/relationships/notesMaster" Target="/ppt/notesMasters/notesMaster1.xml" Id="Ra602fbe2b6b24750"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25f7825ee5489a" /><Relationship Type="http://schemas.openxmlformats.org/officeDocument/2006/relationships/notesMaster" Target="/ppt/notesMasters/notesMaster1.xml" Id="R36863daa71b446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7fd8b6fe574043" /><Relationship Type="http://schemas.openxmlformats.org/officeDocument/2006/relationships/notesMaster" Target="/ppt/notesMasters/notesMaster1.xml" Id="R76fd16febee148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fee9f0150a47ce" /><Relationship Type="http://schemas.openxmlformats.org/officeDocument/2006/relationships/notesMaster" Target="/ppt/notesMasters/notesMaster1.xml" Id="R37983051785b4b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fb272fb10b46bb" /><Relationship Type="http://schemas.openxmlformats.org/officeDocument/2006/relationships/notesMaster" Target="/ppt/notesMasters/notesMaster1.xml" Id="Rf948f5f9cf6f40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46b7764d1e4d91" /><Relationship Type="http://schemas.openxmlformats.org/officeDocument/2006/relationships/notesMaster" Target="/ppt/notesMasters/notesMaster1.xml" Id="R616ad5cfd0484c6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fe920c825b4ed6" /><Relationship Type="http://schemas.openxmlformats.org/officeDocument/2006/relationships/notesMaster" Target="/ppt/notesMasters/notesMaster1.xml" Id="Rb0c5e3db50054e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d221fa5f3e47ee" /><Relationship Type="http://schemas.openxmlformats.org/officeDocument/2006/relationships/notesMaster" Target="/ppt/notesMasters/notesMaster1.xml" Id="R9cd02e23d9994c4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f4a6679e19448c" /><Relationship Type="http://schemas.openxmlformats.org/officeDocument/2006/relationships/notesMaster" Target="/ppt/notesMasters/notesMaster1.xml" Id="R4e63be222d46423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812acef6924de1" /><Relationship Type="http://schemas.openxmlformats.org/officeDocument/2006/relationships/notesMaster" Target="/ppt/notesMasters/notesMaster1.xml" Id="R54c3e927704c4a8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1970f56bd6d49df" /><Relationship Type="http://schemas.openxmlformats.org/officeDocument/2006/relationships/notesMaster" Target="/ppt/notesMasters/notesMaster1.xml" Id="Re2959ef897a247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cffd9ff3f446c2" /><Relationship Type="http://schemas.openxmlformats.org/officeDocument/2006/relationships/notesMaster" Target="/ppt/notesMasters/notesMaster1.xml" Id="R6188e07694f647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620b2f9f064255" /><Relationship Type="http://schemas.openxmlformats.org/officeDocument/2006/relationships/notesMaster" Target="/ppt/notesMasters/notesMaster1.xml" Id="Ra125191dc50c42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la segunda entrega del grupo 17. Estimamos las medias de calificación en Manhattan y Brooklyn y estudiamos su diferencia mediante bootstrap y Monte Carlo. La unidad de análisis es el anuncio, no cada huésped.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la Entrega 1 evaluamos las cinco medias con ANOVA y complementamos el resultado con V de Cramér. Aquí estimamos dos parámetros: la media poblacional de los anuncios calificados en Manhattan y la correspondiente en Brooklyn. La diferencia es un contraste derivado. Elegimos estos distritos por su presencia en la muestra, sin seleccionar el máximo y mínimo promedio. Este contraste específico no reemplaza una comparación de los cinco distritos. La igualdad de medias no equivale a independencia completa entre variables. Fuente: Entrega1_Grupo_EDA_Airbnb.ipynb y secciones 2–3 de Entrega2_Grupo17_Airbnb.ipynb.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Reutilizamos el CSV original, versión 1, y reproducimos la limpieza de la Entrega 1. El dataset pasa de 102.599 a 102.058 filas. Para los cinco distritos hay 101.712 pares completos. En Manhattan faltan 140 calificaciones y en Brooklyn 116. El análisis usa 43.418 y 41.515 calificaciones, respectivamente. Cada anuncio pesa uno. No imputamos las calificaciones ausentes. El archivo no documenta una muestra probabilística del mercado, de modo que la inferencia está condicionada al modelo de anuncios comparables con calificación disponible. Fuente: auditoría y resumen de Entrega2_Grupo17_Airbnb.ipynb.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muestral es la suma de las puntuaciones dividida por el tamaño del distrito. La diferencia estimada es la resta de ambas medias. Bajo muestreo independiente con distribución estable, la media es insesgada y consistente. Su eficiencia se refiere a la mínima varianza entre estimadores lineales insesgados de la media, no a todos los procedimientos. La escala es ordinal, así que el uso de medias presupone interpretar como comparables sus distancias numéricas. Las puntuaciones individuales no son normales, pero con estos tamaños aplicamos aproximaciones para la distribución de las medias. Los errores estándar y los IC de la diferencia usan Welch y no exigen igualdad de varianzas entre distritos. Fuente: sección 3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media estimada en Manhattan es 3,2765 y en Brooklyn 3,2585. Su diferencia es 0,0181 puntos. El intervalo clásico del 95% para la diferencia es [0,0007, 0,0355]. Usamos s dividido por raíz de n para cada media y raíz de sM²/nM+sB²/nB para la diferencia. Los intervalos t son aproximaciones de muestra grande para estas puntuaciones discretas. El límite inferior está muy cerca de cero, por lo que centramos la interpretación en la magnitud y la precisión. Fuente: comparacion_estimacion.csv, calculado por 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Efron introdujo el bootstrap en 1979. El método aproxima la distribución muestral a partir de la distribución empírica. Nuestra función sortea índices con reemplazo, conserva exactamente el tamaño de cada distrito y calcula medias y diferencia en cada réplica. Repetimos 20.000 veces. NumPy genera los números aleatorios, pero escribimos el procedimiento de remuestreo. No llamamos a implementaciones de bootstrap de SciPy o sklearn. Los lotes controlan memoria sin cambiar la remuestra. El EE es la desviación estándar de las réplicas y el IC percentil usa los percentiles 2,5 y 97,5. Fuente: Efron (1979), https://doi.org/10.1214/aos/1176344552 y sección 4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curva muestra la densidad de las medias remuestreadas de uno de los dos distritos. Usamos los centros de 30 intervalos para construir polígonos de frecuencia. Las distribuciones están centradas cerca de 3,2765 y 3,2585. Las líneas no representan distribuciones de puntuaciones individuales. La superposición de estas dos distribuciones no equivale a una prueba de igualdad de medias: la distribución de la diferencia, mostrada a continuación, es la apropiada para ese contraste. Fuente: bootstrap_medias_densidad en resumen_resultados.json y sección 4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gráfica es un polígono de frecuencias de la densidad del bootstrap, construido con 30 intervalos de la diferencia. Las medias bootstrap quedan cerca de la diferencia original. El estimador puntual principal sigue siendo 0,0181. El promedio de las réplicas vale 0,0181 y el sesgo bootstrap numérico es 0,000040. Para la media, el sesgo condicional teórico es cero. La pequeña desviación observada procede de un número finito de réplicas. El intervalo percentil es [0,0006, 0,0354]. Un IC frecuentista no es una probabilidad posterior sobre el parámetro fijo. Fuente: réplicas y resumen_resultados.json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estimación observada se conserva en los dos enfoques. El bootstrap aproxima la variación usando la distribución empírica, mientras que la estimación clásica usa una fórmula para las medias. La razón entre errores estándar es 0,996. La concordancia es esperable con estos tamaños de muestra y este estadístico. El bootstrap puede adaptarse a otros estadísticos, pero no agrega datos ni elimina sesgo de selección. Ambos enfoques descansan aquí en independencia y estabilidad. Fuente: comparacion_estimacion.csv y sección 5 del notebook. Referencia conceptual: Shalizi (2018), https://stat.cmu.edu/~cshalizi/dst/18/lectures/18/lecture-18.html.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Mostramos los resultados usando prefijos de una misma secuencia reproducible de réplicas. Con pocas réplicas, el límite inferior puede quedar por debajo de cero. Al aumentar B se estabilizan las magnitudes, pero los resultados próximos a un corte requieren cautela. Adoptamos B=20.000 y comparamos el EE simulado con la fórmula exacta condicional para la media, Var*(media)=(n−1)/n por s²/n. La concordancia aporta una comprobación de la implementación. El número B reduce error numérico y no aumenta la información muestral. Fuente: estabilidad_bootstrap.csv y sección 4.3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Monte Carlo estima cantidades mediante repetidas realizaciones aleatorias de un modelo. Usamos una distribución categórica de puntuaciones 1, 2, 3, 4 y 5 en cada distrito, con probabilidades estimadas desde sus frecuencias. Los conteos de una muestra independiente siguen una multinomial. Generarlos directamente equivale a sortear cada puntuación y contarla. Fijamos las probabilidades durante la simulación. La gráfica muestra que las distribuciones observadas son parecidas. Fuente conceptual: NIST, https://www.nist.gov/services-resources/software/monte-carlo-tool. Generador: https://numpy.org/doc/stable/reference/random/generated/numpy.random.Generator.multinomial.html. Datos: probabilidades_modelo.csv.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Simulamos 50, 200, 1.000 y 5.000 anuncios por distrito, además de las muestras originales: 43.418 y 41.515. Generamos 20.000 realizaciones independientes por condición. En la condición ajustada cada distrito usa sus probabilidades empíricas y la diferencia del modelo es la estimada. En la condición nula, ambos usan las mismas probabilidades conjuntas, ponderadas por el tamaño observado. Registramos el rechazo de una prueba bilateral de Welch al 5%, la precisión del estimador y su signo. El modelo nulo permite examinar falsos rechazos. Las probabilidades simuladas se refieren al comportamiento del procedimiento dentro del modelo, no a una probabilidad posterior sobre el parámetro real. Fuente: secciones 6 y 7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línea del modelo ajustado representa la potencia simulada. Pasa de 4,95% con 50 anuncios por distrito a 52,78% con tamaños originales. Con el modelo nulo, los falsos rechazos quedan cerca del 5%. El caso de 200 anuncios da 5,40%. No todos los intervalos necesariamente contienen el 5%, debido a error Monte Carlo y a la aproximación t para puntuaciones discretas. Estos escenarios mantienen fija la magnitud poblacional dentro del modelo. Tener un resultado significativo en la muestra original no garantiza obtenerlo en cada muestra futura del modelo. Fuente: monte_carlo_escenarios.csv. En Original, nM=43418 y nB=41515.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probabilidad de que la diferencia estimada esté a no más de 0,05 puntos del valor del modelo es 29,73% con 200 anuncios por distrito. Con tamaños originales el evento ocurre en todas las 20.000 realizaciones. Esto no asegura una probabilidad poblacional igual a uno. El límite inferior Wilson es 99,98%. El modelo mantiene fijas las probabilidades empíricas y el error se mide respecto a su Δ, no frente a un parámetro verdadero conocido del mercado de NYC. Fuente: monte_carlo_escenarios.csv y sección 7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probabilidades estimadas a partir de realizaciones independientes, el EE Monte Carlo es raíz de p(1−p)/R. Su cota máxima con R=20.000 es 0,00354 y el margen normal aproximado del 95% es 0,00693, o 0,69 puntos porcentuales. Mostramos la convergencia de la potencia del escenario de 1.000 anuncios por distrito. Además contrastamos la desviación del estimador con su fórmula exacta dentro del modelo y comparamos dos bloques independientes. Los intervalos de la tabla son Wilson, y cuantifican incertidumbre numérica de la probabilidad simulada. Aumentar R no corrige supuestos del modelo. Fuente: convergencia_monte_carlo.csv y sección 6.3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Estimamos una diferencia de 0,0181 puntos entre Manhattan y Brooklyn. Los errores estándar y los intervalos clásicos y bootstrap son muy similares. La diferencia puede detectarse en muestras grandes, aunque conserva una magnitud pequeña. El contraste cubre dos distritos, no los cinco. Los resultados son condicionales a esta fuente, a los anuncios calificados y al modelo de independencia. No atribuimos causalidad al distrito ni inferimos satisfacción individual de cada huésped. La escala ordinal y la selección del dataset limitan el alcance. Los umbrales de 0,05, 0,10 y 0,20 puntos son referencias exploratorias, no estándares validados de relevancia. Fuente: secciones 5 y 8 del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Referencias completas en el notebook. Efron, B. (1979). Bootstrap Methods: Another Look at the Jackknife. The Annals of Statistics 7(1), 1–26. https://doi.org/10.1214/aos/1176344552. Shalizi, C. R. (2018). Simulation for Inference I — The Bootstrap. https://stat.cmu.edu/~cshalizi/dst/18/lectures/18/lecture-18.html. NIST, Monte Carlo Tool: https://www.nist.gov/services-resources/software/monte-carlo-tool. NumPy, Generator.multinomial: https://numpy.org/doc/stable/reference/random/generated/numpy.random.Generator.multinomial.html. Dataset: https://www.kaggle.com/datasets/arianazmoudeh/airbnbopendata, versión 1. ChatGPT/Codex apoyó la definición del análisis, programación, comprobaciones y redacción inicial de esta entrega. Antes de entregar, cada integrante debe revisar y comprender el contenido. La declaración de IA de la Entrega 1 queda asociada a esa entrega.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404b4e721a4a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106435b67e4459" /><Relationship Type="http://schemas.openxmlformats.org/officeDocument/2006/relationships/slideLayout" Target="/ppt/slideLayouts/slideLayout1.xml" Id="Rb578d2821342482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78d2821342482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28257bdbba469a" /><Relationship Type="http://schemas.openxmlformats.org/officeDocument/2006/relationships/notesSlide" Target="/ppt/notesSlides/notesSlide1.xml" Id="Rf7c3db85ee6248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e5352ee703a409d" /><Relationship Type="http://schemas.openxmlformats.org/officeDocument/2006/relationships/notesSlide" Target="/ppt/notesSlides/notesSlide2.xml" Id="Rdbde565dc7034a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2c3b3570cd4b67" /><Relationship Type="http://schemas.openxmlformats.org/officeDocument/2006/relationships/notesSlide" Target="/ppt/notesSlides/notesSlide3.xml" Id="Rdbf7d843f01247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0cbc625b4434347" /><Relationship Type="http://schemas.openxmlformats.org/officeDocument/2006/relationships/notesSlide" Target="/ppt/notesSlides/notesSlide4.xml" Id="Rdad8108d5e9546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57bea32ebc40dd" /><Relationship Type="http://schemas.openxmlformats.org/officeDocument/2006/relationships/notesSlide" Target="/ppt/notesSlides/notesSlide5.xml" Id="R15b8a0e92172448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53d08568e74d93" /><Relationship Type="http://schemas.openxmlformats.org/officeDocument/2006/relationships/notesSlide" Target="/ppt/notesSlides/notesSlide6.xml" Id="R2803997e263042f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afc4c8fbb947b4" /><Relationship Type="http://schemas.openxmlformats.org/officeDocument/2006/relationships/chart" Target="/ppt/slides/charts/chart1.xml" Id="Rb42ef6617c244972" /><Relationship Type="http://schemas.openxmlformats.org/officeDocument/2006/relationships/notesSlide" Target="/ppt/notesSlides/notesSlide7.xml" Id="R5c1dae837aea42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a1cb1ee7fd489c" /><Relationship Type="http://schemas.openxmlformats.org/officeDocument/2006/relationships/chart" Target="/ppt/slides/charts/chart2.xml" Id="R9d0bbf3b4e394f42" /><Relationship Type="http://schemas.openxmlformats.org/officeDocument/2006/relationships/notesSlide" Target="/ppt/notesSlides/notesSlide8.xml" Id="R3d1f3ae7f55b40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835d0bbf544289" /><Relationship Type="http://schemas.openxmlformats.org/officeDocument/2006/relationships/notesSlide" Target="/ppt/notesSlides/notesSlide9.xml" Id="R6a3ba37f852946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93eff5aa6d47f5" /><Relationship Type="http://schemas.openxmlformats.org/officeDocument/2006/relationships/notesSlide" Target="/ppt/notesSlides/notesSlide10.xml" Id="Rf296a3e2d3974b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b7a26c75b1413f" /><Relationship Type="http://schemas.openxmlformats.org/officeDocument/2006/relationships/chart" Target="/ppt/slides/charts/chart3.xml" Id="Ra12776b0954f416f" /><Relationship Type="http://schemas.openxmlformats.org/officeDocument/2006/relationships/notesSlide" Target="/ppt/notesSlides/notesSlide11.xml" Id="R84f486863d834f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faca18c2f5f4840" /><Relationship Type="http://schemas.openxmlformats.org/officeDocument/2006/relationships/notesSlide" Target="/ppt/notesSlides/notesSlide12.xml" Id="R7b9c285658be4c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e54bb07b384395" /><Relationship Type="http://schemas.openxmlformats.org/officeDocument/2006/relationships/chart" Target="/ppt/slides/charts/chart4.xml" Id="R685ef6cfe8a840ce" /><Relationship Type="http://schemas.openxmlformats.org/officeDocument/2006/relationships/notesSlide" Target="/ppt/notesSlides/notesSlide13.xml" Id="R137c8ed154e844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1a3f22cb6c4351" /><Relationship Type="http://schemas.openxmlformats.org/officeDocument/2006/relationships/chart" Target="/ppt/slides/charts/chart5.xml" Id="R08a0380c37004289" /><Relationship Type="http://schemas.openxmlformats.org/officeDocument/2006/relationships/notesSlide" Target="/ppt/notesSlides/notesSlide14.xml" Id="R6e7654d744174f3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55897f8c72487d" /><Relationship Type="http://schemas.openxmlformats.org/officeDocument/2006/relationships/notesSlide" Target="/ppt/notesSlides/notesSlide15.xml" Id="R2191dfbe0e0647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40d9d6e542e45ba" /><Relationship Type="http://schemas.openxmlformats.org/officeDocument/2006/relationships/notesSlide" Target="/ppt/notesSlides/notesSlide16.xml" Id="Rd84b19d3b50349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df37380b0914c67" /><Relationship Type="http://schemas.openxmlformats.org/officeDocument/2006/relationships/notesSlide" Target="/ppt/notesSlides/notesSlide17.xml" Id="Re8e2de3debb14a9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82F3B"/>
                </a:solidFill>
                <a:latin typeface="Arial"/>
                <a:ea typeface="Arial"/>
                <a:cs typeface="Arial"/>
              </a:rPr>
              <a:t>Medias remuestreadas por distrito</a:t>
            </a:r>
          </a:p>
        </c:rich>
      </c:tx>
      <c:overlay val="0"/>
      <c:txPr>
        <a:bodyPr xmlns:a="http://schemas.openxmlformats.org/drawingml/2006/main" anchorCtr="1"/>
        <a:lstStyle xmlns:a="http://schemas.openxmlformats.org/drawingml/2006/main"/>
        <a:p xmlns:a="http://schemas.openxmlformats.org/drawingml/2006/main">
          <a:pPr>
            <a:defRPr sz="1875">
              <a:solidFill>
                <a:srgbClr val="182F3B"/>
              </a:solidFill>
              <a:latin typeface="Arial"/>
              <a:ea typeface="Arial"/>
              <a:cs typeface="Arial"/>
            </a:defRPr>
          </a:pPr>
        </a:p>
      </c:txPr>
    </c:title>
    <c:plotArea>
      <c:scatterChart>
        <c:scatterStyle val="line"/>
        <c:ser>
          <c:idx val="0"/>
          <c:order val="0"/>
          <c:tx>
            <c:v>Manhattan</c:v>
          </c:tx>
          <c:spPr>
            <a:ln xmlns:a="http://schemas.openxmlformats.org/drawingml/2006/main" w="28575">
              <a:solidFill>
                <a:srgbClr val="087E8B"/>
              </a:solidFill>
            </a:ln>
          </c:spPr>
          <c:marker>
            <c:symbol val="none"/>
          </c:marker>
          <c:xVal>
            <c:numRef>
              <c:f>'Chart Data'!$A$2:$A$31</c:f>
              <c:numCache>
                <c:formatCode>General</c:formatCode>
                <c:ptCount val="30"/>
                <c:pt idx="0">
                  <c:v>3.25151358116</c:v>
                </c:pt>
                <c:pt idx="1">
                  <c:v>3.2532279239</c:v>
                </c:pt>
                <c:pt idx="2">
                  <c:v>3.25494226665</c:v>
                </c:pt>
                <c:pt idx="3">
                  <c:v>3.25665660939</c:v>
                </c:pt>
                <c:pt idx="4">
                  <c:v>3.25837095214</c:v>
                </c:pt>
                <c:pt idx="5">
                  <c:v>3.26008529489</c:v>
                </c:pt>
                <c:pt idx="6">
                  <c:v>3.26179963763</c:v>
                </c:pt>
                <c:pt idx="7">
                  <c:v>3.26351398038</c:v>
                </c:pt>
                <c:pt idx="8">
                  <c:v>3.26522832312</c:v>
                </c:pt>
                <c:pt idx="9">
                  <c:v>3.26694266587</c:v>
                </c:pt>
                <c:pt idx="10">
                  <c:v>3.26865700861</c:v>
                </c:pt>
                <c:pt idx="11">
                  <c:v>3.27037135136</c:v>
                </c:pt>
                <c:pt idx="12">
                  <c:v>3.27208569411</c:v>
                </c:pt>
                <c:pt idx="13">
                  <c:v>3.27380003685</c:v>
                </c:pt>
                <c:pt idx="14">
                  <c:v>3.2755143796</c:v>
                </c:pt>
                <c:pt idx="15">
                  <c:v>3.27722872234</c:v>
                </c:pt>
                <c:pt idx="16">
                  <c:v>3.27894306509</c:v>
                </c:pt>
                <c:pt idx="17">
                  <c:v>3.28065740783</c:v>
                </c:pt>
                <c:pt idx="18">
                  <c:v>3.28237175058</c:v>
                </c:pt>
                <c:pt idx="19">
                  <c:v>3.28408609333</c:v>
                </c:pt>
                <c:pt idx="20">
                  <c:v>3.28580043607</c:v>
                </c:pt>
                <c:pt idx="21">
                  <c:v>3.28751477882</c:v>
                </c:pt>
                <c:pt idx="22">
                  <c:v>3.28922912156</c:v>
                </c:pt>
                <c:pt idx="23">
                  <c:v>3.29094346431</c:v>
                </c:pt>
                <c:pt idx="24">
                  <c:v>3.29265780705</c:v>
                </c:pt>
                <c:pt idx="25">
                  <c:v>3.2943721498</c:v>
                </c:pt>
                <c:pt idx="26">
                  <c:v>3.29608649255</c:v>
                </c:pt>
                <c:pt idx="27">
                  <c:v>3.29780083529</c:v>
                </c:pt>
                <c:pt idx="28">
                  <c:v>3.29951517804</c:v>
                </c:pt>
                <c:pt idx="29">
                  <c:v>3.30122952078</c:v>
                </c:pt>
              </c:numCache>
            </c:numRef>
          </c:xVal>
          <c:yVal>
            <c:numRef>
              <c:f>'Chart Data'!$B$2:$B$31</c:f>
              <c:numCache>
                <c:formatCode>General</c:formatCode>
                <c:ptCount val="30"/>
                <c:pt idx="0">
                  <c:v>0.0583313927452</c:v>
                </c:pt>
                <c:pt idx="1">
                  <c:v>0.0583313927452</c:v>
                </c:pt>
                <c:pt idx="2">
                  <c:v>0.174994178236</c:v>
                </c:pt>
                <c:pt idx="3">
                  <c:v>0.408319749216</c:v>
                </c:pt>
                <c:pt idx="4">
                  <c:v>1.22495924765</c:v>
                </c:pt>
                <c:pt idx="5">
                  <c:v>2.04159874608</c:v>
                </c:pt>
                <c:pt idx="6">
                  <c:v>3.38322077922</c:v>
                </c:pt>
                <c:pt idx="7">
                  <c:v>7.2330927004</c:v>
                </c:pt>
                <c:pt idx="8">
                  <c:v>13.0370662785</c:v>
                </c:pt>
                <c:pt idx="9">
                  <c:v>18.8118741603</c:v>
                </c:pt>
                <c:pt idx="10">
                  <c:v>28.0573999104</c:v>
                </c:pt>
                <c:pt idx="11">
                  <c:v>39.0820331393</c:v>
                </c:pt>
                <c:pt idx="12">
                  <c:v>51.039968652</c:v>
                </c:pt>
                <c:pt idx="13">
                  <c:v>57.1355991939</c:v>
                </c:pt>
                <c:pt idx="14">
                  <c:v>62.9979041648</c:v>
                </c:pt>
                <c:pt idx="15">
                  <c:v>64.0187035378</c:v>
                </c:pt>
                <c:pt idx="16">
                  <c:v>60.0521688312</c:v>
                </c:pt>
                <c:pt idx="17">
                  <c:v>50.9524715629</c:v>
                </c:pt>
                <c:pt idx="18">
                  <c:v>41.5902830273</c:v>
                </c:pt>
                <c:pt idx="19">
                  <c:v>29.6615132109</c:v>
                </c:pt>
                <c:pt idx="20">
                  <c:v>20.7368101209</c:v>
                </c:pt>
                <c:pt idx="21">
                  <c:v>13.9412028661</c:v>
                </c:pt>
                <c:pt idx="22">
                  <c:v>7.67057814599</c:v>
                </c:pt>
                <c:pt idx="23">
                  <c:v>5.62897939991</c:v>
                </c:pt>
                <c:pt idx="24">
                  <c:v>2.36242140618</c:v>
                </c:pt>
                <c:pt idx="25">
                  <c:v>1.1666278549</c:v>
                </c:pt>
                <c:pt idx="26">
                  <c:v>0.437485445589</c:v>
                </c:pt>
                <c:pt idx="27">
                  <c:v>0.204159874608</c:v>
                </c:pt>
                <c:pt idx="28">
                  <c:v>0.11666278549</c:v>
                </c:pt>
                <c:pt idx="29">
                  <c:v>0.0291656963726</c:v>
                </c:pt>
              </c:numCache>
            </c:numRef>
          </c:yVal>
        </c:ser>
        <c:ser>
          <c:idx val="1"/>
          <c:order val="1"/>
          <c:tx>
            <c:v>Brooklyn</c:v>
          </c:tx>
          <c:spPr>
            <a:ln xmlns:a="http://schemas.openxmlformats.org/drawingml/2006/main" w="28575">
              <a:solidFill>
                <a:srgbClr val="C85A43"/>
              </a:solidFill>
            </a:ln>
          </c:spPr>
          <c:marker>
            <c:symbol val="none"/>
          </c:marker>
          <c:xVal>
            <c:numRef>
              <c:f>'Chart Data'!$C$2:$C$31</c:f>
              <c:numCache>
                <c:formatCode>General</c:formatCode>
                <c:ptCount val="30"/>
                <c:pt idx="0">
                  <c:v>3.23648199446</c:v>
                </c:pt>
                <c:pt idx="1">
                  <c:v>3.23809827773</c:v>
                </c:pt>
                <c:pt idx="2">
                  <c:v>3.239714561</c:v>
                </c:pt>
                <c:pt idx="3">
                  <c:v>3.24133084427</c:v>
                </c:pt>
                <c:pt idx="4">
                  <c:v>3.24294712754</c:v>
                </c:pt>
                <c:pt idx="5">
                  <c:v>3.24456341082</c:v>
                </c:pt>
                <c:pt idx="6">
                  <c:v>3.24617969409</c:v>
                </c:pt>
                <c:pt idx="7">
                  <c:v>3.24779597736</c:v>
                </c:pt>
                <c:pt idx="8">
                  <c:v>3.24941226063</c:v>
                </c:pt>
                <c:pt idx="9">
                  <c:v>3.2510285439</c:v>
                </c:pt>
                <c:pt idx="10">
                  <c:v>3.25264482717</c:v>
                </c:pt>
                <c:pt idx="11">
                  <c:v>3.25426111044</c:v>
                </c:pt>
                <c:pt idx="12">
                  <c:v>3.25587739371</c:v>
                </c:pt>
                <c:pt idx="13">
                  <c:v>3.25749367698</c:v>
                </c:pt>
                <c:pt idx="14">
                  <c:v>3.25910996026</c:v>
                </c:pt>
                <c:pt idx="15">
                  <c:v>3.26072624353</c:v>
                </c:pt>
                <c:pt idx="16">
                  <c:v>3.2623425268</c:v>
                </c:pt>
                <c:pt idx="17">
                  <c:v>3.26395881007</c:v>
                </c:pt>
                <c:pt idx="18">
                  <c:v>3.26557509334</c:v>
                </c:pt>
                <c:pt idx="19">
                  <c:v>3.26719137661</c:v>
                </c:pt>
                <c:pt idx="20">
                  <c:v>3.26880765988</c:v>
                </c:pt>
                <c:pt idx="21">
                  <c:v>3.27042394315</c:v>
                </c:pt>
                <c:pt idx="22">
                  <c:v>3.27204022642</c:v>
                </c:pt>
                <c:pt idx="23">
                  <c:v>3.2736565097</c:v>
                </c:pt>
                <c:pt idx="24">
                  <c:v>3.27527279297</c:v>
                </c:pt>
                <c:pt idx="25">
                  <c:v>3.27688907624</c:v>
                </c:pt>
                <c:pt idx="26">
                  <c:v>3.27850535951</c:v>
                </c:pt>
                <c:pt idx="27">
                  <c:v>3.28012164278</c:v>
                </c:pt>
                <c:pt idx="28">
                  <c:v>3.28173792605</c:v>
                </c:pt>
                <c:pt idx="29">
                  <c:v>3.28335420932</c:v>
                </c:pt>
              </c:numCache>
            </c:numRef>
          </c:xVal>
          <c:yVal>
            <c:numRef>
              <c:f>'Chart Data'!$D$2:$D$31</c:f>
              <c:numCache>
                <c:formatCode>General</c:formatCode>
                <c:ptCount val="30"/>
                <c:pt idx="0">
                  <c:v>0.216546199702</c:v>
                </c:pt>
                <c:pt idx="1">
                  <c:v>0.340286885246</c:v>
                </c:pt>
                <c:pt idx="2">
                  <c:v>0.61870342772</c:v>
                </c:pt>
                <c:pt idx="3">
                  <c:v>1.45395305514</c:v>
                </c:pt>
                <c:pt idx="4">
                  <c:v>2.93884128167</c:v>
                </c:pt>
                <c:pt idx="5">
                  <c:v>5.53739567809</c:v>
                </c:pt>
                <c:pt idx="6">
                  <c:v>10.3942175857</c:v>
                </c:pt>
                <c:pt idx="7">
                  <c:v>14.9726229508</c:v>
                </c:pt>
                <c:pt idx="8">
                  <c:v>23.2632488823</c:v>
                </c:pt>
                <c:pt idx="9">
                  <c:v>31.8632265276</c:v>
                </c:pt>
                <c:pt idx="10">
                  <c:v>43.0926937407</c:v>
                </c:pt>
                <c:pt idx="11">
                  <c:v>51.0739679583</c:v>
                </c:pt>
                <c:pt idx="12">
                  <c:v>56.1473360656</c:v>
                </c:pt>
                <c:pt idx="13">
                  <c:v>60.5401304024</c:v>
                </c:pt>
                <c:pt idx="14">
                  <c:v>61.3444448584</c:v>
                </c:pt>
                <c:pt idx="15">
                  <c:v>60.3235842027</c:v>
                </c:pt>
                <c:pt idx="16">
                  <c:v>51.5689307004</c:v>
                </c:pt>
                <c:pt idx="17">
                  <c:v>44.237295082</c:v>
                </c:pt>
                <c:pt idx="18">
                  <c:v>33.4409202683</c:v>
                </c:pt>
                <c:pt idx="19">
                  <c:v>24.686266766</c:v>
                </c:pt>
                <c:pt idx="20">
                  <c:v>17.0762146051</c:v>
                </c:pt>
                <c:pt idx="21">
                  <c:v>10.981985842</c:v>
                </c:pt>
                <c:pt idx="22">
                  <c:v>5.72300670641</c:v>
                </c:pt>
                <c:pt idx="23">
                  <c:v>2.84603576751</c:v>
                </c:pt>
                <c:pt idx="24">
                  <c:v>2.01078614009</c:v>
                </c:pt>
                <c:pt idx="25">
                  <c:v>1.05179582712</c:v>
                </c:pt>
                <c:pt idx="26">
                  <c:v>0.61870342772</c:v>
                </c:pt>
                <c:pt idx="27">
                  <c:v>0.15467585693</c:v>
                </c:pt>
                <c:pt idx="28">
                  <c:v>0.092805514158</c:v>
                </c:pt>
                <c:pt idx="29">
                  <c:v>0.092805514158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70"/>
          <c:min val="0"/>
        </c:scaling>
        <c:delete val="0"/>
        <c:axPos val="l"/>
        <c:majorGridlines>
          <c:spPr>
            <a:ln xmlns:a="http://schemas.openxmlformats.org/drawingml/2006/main" w="9525">
              <a:solidFill>
                <a:srgbClr val="DDE3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50112"/>
        <c:majorUnit val="10"/>
      </c:valAx>
      <c:valAx>
        <c:axId val="48650112"/>
        <c:scaling>
          <c:orientation val="minMax"/>
          <c:max val="3.31"/>
          <c:min val="3.23"/>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Media de calificación (puntos)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72768"/>
        <c:majorUnit val="0.01"/>
      </c:valAx>
      <c:spPr>
        <a:solidFill xmlns:a="http://schemas.openxmlformats.org/drawingml/2006/main">
          <a:srgbClr val="FAF9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legend>
    <c:plotVisOnly val="1"/>
  </c:chart>
  <c:spPr>
    <a:solidFill xmlns:a="http://schemas.openxmlformats.org/drawingml/2006/main">
      <a:srgbClr val="FAF9F6"/>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82F3B"/>
                </a:solidFill>
                <a:latin typeface="Arial"/>
                <a:ea typeface="Arial"/>
                <a:cs typeface="Arial"/>
              </a:rPr>
              <a:t>Densidad de la diferencia bootstrap</a:t>
            </a:r>
          </a:p>
        </c:rich>
      </c:tx>
      <c:overlay val="0"/>
      <c:txPr>
        <a:bodyPr xmlns:a="http://schemas.openxmlformats.org/drawingml/2006/main" anchorCtr="1"/>
        <a:lstStyle xmlns:a="http://schemas.openxmlformats.org/drawingml/2006/main"/>
        <a:p xmlns:a="http://schemas.openxmlformats.org/drawingml/2006/main">
          <a:pPr>
            <a:defRPr sz="1875">
              <a:solidFill>
                <a:srgbClr val="182F3B"/>
              </a:solidFill>
              <a:latin typeface="Arial"/>
              <a:ea typeface="Arial"/>
              <a:cs typeface="Arial"/>
            </a:defRPr>
          </a:pPr>
        </a:p>
      </c:txPr>
    </c:title>
    <c:plotArea>
      <c:scatterChart>
        <c:scatterStyle val="line"/>
        <c:ser>
          <c:idx val="0"/>
          <c:order val="0"/>
          <c:tx>
            <c:v>Densidad bootstrap</c:v>
          </c:tx>
          <c:spPr>
            <a:ln xmlns:a="http://schemas.openxmlformats.org/drawingml/2006/main" w="28575">
              <a:solidFill>
                <a:srgbClr val="087E8B"/>
              </a:solidFill>
            </a:ln>
          </c:spPr>
          <c:marker>
            <c:symbol val="none"/>
          </c:marker>
          <c:xVal>
            <c:numRef>
              <c:f>'Chart Data'!$A$2:$A$31</c:f>
              <c:numCache>
                <c:formatCode>General</c:formatCode>
                <c:ptCount val="30"/>
                <c:pt idx="0">
                  <c:v>-0.0132303032021</c:v>
                </c:pt>
                <c:pt idx="1">
                  <c:v>-0.0109982007916</c:v>
                </c:pt>
                <c:pt idx="2">
                  <c:v>-0.00876609838115</c:v>
                </c:pt>
                <c:pt idx="3">
                  <c:v>-0.00653399597068</c:v>
                </c:pt>
                <c:pt idx="4">
                  <c:v>-0.00430189356021</c:v>
                </c:pt>
                <c:pt idx="5">
                  <c:v>-0.00206979114974</c:v>
                </c:pt>
                <c:pt idx="6">
                  <c:v>0.00016231126073</c:v>
                </c:pt>
                <c:pt idx="7">
                  <c:v>0.0023944136712</c:v>
                </c:pt>
                <c:pt idx="8">
                  <c:v>0.00462651608167</c:v>
                </c:pt>
                <c:pt idx="9">
                  <c:v>0.00685861849214</c:v>
                </c:pt>
                <c:pt idx="10">
                  <c:v>0.00909072090261</c:v>
                </c:pt>
                <c:pt idx="11">
                  <c:v>0.0113228233131</c:v>
                </c:pt>
                <c:pt idx="12">
                  <c:v>0.0135549257235</c:v>
                </c:pt>
                <c:pt idx="13">
                  <c:v>0.015787028134</c:v>
                </c:pt>
                <c:pt idx="14">
                  <c:v>0.0180191305445</c:v>
                </c:pt>
                <c:pt idx="15">
                  <c:v>0.020251232955</c:v>
                </c:pt>
                <c:pt idx="16">
                  <c:v>0.0224833353654</c:v>
                </c:pt>
                <c:pt idx="17">
                  <c:v>0.0247154377759</c:v>
                </c:pt>
                <c:pt idx="18">
                  <c:v>0.0269475401864</c:v>
                </c:pt>
                <c:pt idx="19">
                  <c:v>0.0291796425968</c:v>
                </c:pt>
                <c:pt idx="20">
                  <c:v>0.0314117450073</c:v>
                </c:pt>
                <c:pt idx="21">
                  <c:v>0.0336438474178</c:v>
                </c:pt>
                <c:pt idx="22">
                  <c:v>0.0358759498282</c:v>
                </c:pt>
                <c:pt idx="23">
                  <c:v>0.0381080522387</c:v>
                </c:pt>
                <c:pt idx="24">
                  <c:v>0.0403401546492</c:v>
                </c:pt>
                <c:pt idx="25">
                  <c:v>0.0425722570596</c:v>
                </c:pt>
                <c:pt idx="26">
                  <c:v>0.0448043594701</c:v>
                </c:pt>
                <c:pt idx="27">
                  <c:v>0.0470364618806</c:v>
                </c:pt>
                <c:pt idx="28">
                  <c:v>0.049268564291</c:v>
                </c:pt>
                <c:pt idx="29">
                  <c:v>0.0515006667015</c:v>
                </c:pt>
              </c:numCache>
            </c:numRef>
          </c:xVal>
          <c:yVal>
            <c:numRef>
              <c:f>'Chart Data'!$B$2:$B$31</c:f>
              <c:numCache>
                <c:formatCode>General</c:formatCode>
                <c:ptCount val="30"/>
                <c:pt idx="0">
                  <c:v>0.156802841285</c:v>
                </c:pt>
                <c:pt idx="1">
                  <c:v>0.268804870774</c:v>
                </c:pt>
                <c:pt idx="2">
                  <c:v>0.492808929752</c:v>
                </c:pt>
                <c:pt idx="3">
                  <c:v>1.29922354207</c:v>
                </c:pt>
                <c:pt idx="4">
                  <c:v>2.21764018388</c:v>
                </c:pt>
                <c:pt idx="5">
                  <c:v>3.38246129057</c:v>
                </c:pt>
                <c:pt idx="6">
                  <c:v>5.57770106856</c:v>
                </c:pt>
                <c:pt idx="7">
                  <c:v>8.82575992374</c:v>
                </c:pt>
                <c:pt idx="8">
                  <c:v>13.8658512507</c:v>
                </c:pt>
                <c:pt idx="9">
                  <c:v>20.2275665257</c:v>
                </c:pt>
                <c:pt idx="10">
                  <c:v>25.4692615058</c:v>
                </c:pt>
                <c:pt idx="11">
                  <c:v>33.981415747</c:v>
                </c:pt>
                <c:pt idx="12">
                  <c:v>40.1639277748</c:v>
                </c:pt>
                <c:pt idx="13">
                  <c:v>43.7927935302</c:v>
                </c:pt>
                <c:pt idx="14">
                  <c:v>44.1960008364</c:v>
                </c:pt>
                <c:pt idx="15">
                  <c:v>44.6440089543</c:v>
                </c:pt>
                <c:pt idx="16">
                  <c:v>39.671118845</c:v>
                </c:pt>
                <c:pt idx="17">
                  <c:v>35.4598425362</c:v>
                </c:pt>
                <c:pt idx="18">
                  <c:v>25.9844708415</c:v>
                </c:pt>
                <c:pt idx="19">
                  <c:v>19.5555543488</c:v>
                </c:pt>
                <c:pt idx="20">
                  <c:v>15.2546764164</c:v>
                </c:pt>
                <c:pt idx="21">
                  <c:v>10.2369854953</c:v>
                </c:pt>
                <c:pt idx="22">
                  <c:v>6.1153108101</c:v>
                </c:pt>
                <c:pt idx="23">
                  <c:v>3.87527022032</c:v>
                </c:pt>
                <c:pt idx="24">
                  <c:v>1.83683328362</c:v>
                </c:pt>
                <c:pt idx="25">
                  <c:v>0.784014206424</c:v>
                </c:pt>
                <c:pt idx="26">
                  <c:v>0.448008117956</c:v>
                </c:pt>
                <c:pt idx="27">
                  <c:v>0.156802841285</c:v>
                </c:pt>
                <c:pt idx="28">
                  <c:v>0.0224004058978</c:v>
                </c:pt>
                <c:pt idx="29">
                  <c:v>0.0448008117956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
          <c:min val="0"/>
        </c:scaling>
        <c:delete val="0"/>
        <c:axPos val="l"/>
        <c:majorGridlines>
          <c:spPr>
            <a:ln xmlns:a="http://schemas.openxmlformats.org/drawingml/2006/main" w="9525">
              <a:solidFill>
                <a:srgbClr val="DDE3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Densidad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50112"/>
      </c:valAx>
      <c:valAx>
        <c:axId val="48650112"/>
        <c:scaling>
          <c:orientation val="minMax"/>
          <c:max val="0.06"/>
          <c:min val="-0.02"/>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Diferencia M − B (puntos)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72768"/>
        <c:majorUnit val="0.01"/>
      </c:valAx>
      <c:spPr>
        <a:solidFill xmlns:a="http://schemas.openxmlformats.org/drawingml/2006/main">
          <a:srgbClr val="FAF9F6"/>
        </a:solidFill>
      </c:spPr>
    </c:plotArea>
    <c:plotVisOnly val="1"/>
  </c:chart>
  <c:spPr>
    <a:solidFill xmlns:a="http://schemas.openxmlformats.org/drawingml/2006/main">
      <a:srgbClr val="FAF9F6"/>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82F3B"/>
                </a:solidFill>
                <a:latin typeface="Arial"/>
                <a:ea typeface="Arial"/>
                <a:cs typeface="Arial"/>
              </a:rPr>
              <a:t>Probabilidades de puntuación por distrito</a:t>
            </a:r>
          </a:p>
        </c:rich>
      </c:tx>
      <c:overlay val="0"/>
      <c:txPr>
        <a:bodyPr xmlns:a="http://schemas.openxmlformats.org/drawingml/2006/main" anchorCtr="1"/>
        <a:lstStyle xmlns:a="http://schemas.openxmlformats.org/drawingml/2006/main"/>
        <a:p xmlns:a="http://schemas.openxmlformats.org/drawingml/2006/main">
          <a:pPr>
            <a:defRPr sz="1875">
              <a:solidFill>
                <a:srgbClr val="182F3B"/>
              </a:solidFill>
              <a:latin typeface="Arial"/>
              <a:ea typeface="Arial"/>
              <a:cs typeface="Arial"/>
            </a:defRPr>
          </a:pPr>
        </a:p>
      </c:txPr>
    </c:title>
    <c:plotArea>
      <c:barChart>
        <c:barDir val="col"/>
        <c:grouping val="clustered"/>
        <c:varyColors val="0"/>
        <c:ser>
          <c:idx val="0"/>
          <c:order val="0"/>
          <c:tx>
            <c:v>Manhattan</c:v>
          </c:tx>
          <c:spPr>
            <a:solidFill xmlns:a="http://schemas.openxmlformats.org/drawingml/2006/main">
              <a:srgbClr val="087E8B"/>
            </a:solidFill>
          </c:spPr>
          <c:cat>
            <c:numRef>
              <c:f>'Chart Data'!$A$2:$A$6</c:f>
              <c:numCache>
                <c:formatCode>General</c:formatCode>
                <c:ptCount val="5"/>
                <c:pt idx="0">
                  <c:v>1</c:v>
                </c:pt>
                <c:pt idx="1">
                  <c:v>2</c:v>
                </c:pt>
                <c:pt idx="2">
                  <c:v>3</c:v>
                </c:pt>
                <c:pt idx="3">
                  <c:v>4</c:v>
                </c:pt>
                <c:pt idx="4">
                  <c:v>5</c:v>
                </c:pt>
              </c:numCache>
            </c:numRef>
          </c:cat>
          <c:val>
            <c:numRef>
              <c:f>'Chart Data'!$B$2:$B$6</c:f>
              <c:numCache>
                <c:formatCode>0%</c:formatCode>
                <c:ptCount val="5"/>
                <c:pt idx="0">
                  <c:v>0.0928186466442</c:v>
                </c:pt>
                <c:pt idx="1">
                  <c:v>0.223709060758</c:v>
                </c:pt>
                <c:pt idx="2">
                  <c:v>0.228315445207</c:v>
                </c:pt>
                <c:pt idx="3">
                  <c:v>0.22444608227</c:v>
                </c:pt>
                <c:pt idx="4">
                  <c:v>0.23071076512</c:v>
                </c:pt>
              </c:numCache>
            </c:numRef>
          </c:val>
        </c:ser>
        <c:ser>
          <c:idx val="1"/>
          <c:order val="1"/>
          <c:tx>
            <c:v>Brooklyn</c:v>
          </c:tx>
          <c:spPr>
            <a:solidFill xmlns:a="http://schemas.openxmlformats.org/drawingml/2006/main">
              <a:srgbClr val="C85A43"/>
            </a:solidFill>
          </c:spPr>
          <c:cat>
            <c:numRef>
              <c:f>'Chart Data'!$C$2:$C$6</c:f>
              <c:numCache>
                <c:formatCode>General</c:formatCode>
                <c:ptCount val="5"/>
                <c:pt idx="0">
                  <c:v>1</c:v>
                </c:pt>
                <c:pt idx="1">
                  <c:v>2</c:v>
                </c:pt>
                <c:pt idx="2">
                  <c:v>3</c:v>
                </c:pt>
                <c:pt idx="3">
                  <c:v>4</c:v>
                </c:pt>
                <c:pt idx="4">
                  <c:v>5</c:v>
                </c:pt>
              </c:numCache>
            </c:numRef>
          </c:cat>
          <c:val>
            <c:numRef>
              <c:f>'Chart Data'!$D$2:$D$6</c:f>
              <c:numCache>
                <c:formatCode>0%</c:formatCode>
                <c:ptCount val="5"/>
                <c:pt idx="0">
                  <c:v>0.0966397687583</c:v>
                </c:pt>
                <c:pt idx="1">
                  <c:v>0.227773094062</c:v>
                </c:pt>
                <c:pt idx="2">
                  <c:v>0.221100806937</c:v>
                </c:pt>
                <c:pt idx="3">
                  <c:v>0.229459231603</c:v>
                </c:pt>
                <c:pt idx="4">
                  <c:v>0.225027098639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Puntuación registrada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2F3B"/>
                </a:solidFill>
                <a:latin typeface="Arial"/>
                <a:ea typeface="Arial"/>
                <a:cs typeface="Arial"/>
              </a:defRPr>
            </a:pPr>
          </a:p>
        </c:txPr>
        <c:crossAx val="48672768"/>
      </c:catAx>
      <c:valAx>
        <c:axId val="48672768"/>
        <c:scaling>
          <c:orientation val="minMax"/>
          <c:max val="0.3"/>
          <c:min val="0"/>
        </c:scaling>
        <c:delete val="0"/>
        <c:axPos val="l"/>
        <c:majorGridlines>
          <c:spPr>
            <a:ln xmlns:a="http://schemas.openxmlformats.org/drawingml/2006/main" w="9525">
              <a:solidFill>
                <a:srgbClr val="DDE3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Probabilidad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50112"/>
        <c:crossBetween val="between"/>
      </c:valAx>
      <c:spPr>
        <a:solidFill xmlns:a="http://schemas.openxmlformats.org/drawingml/2006/main">
          <a:srgbClr val="FAF9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legend>
    <c:plotVisOnly val="1"/>
  </c:chart>
  <c:spPr>
    <a:solidFill xmlns:a="http://schemas.openxmlformats.org/drawingml/2006/main">
      <a:srgbClr val="FAF9F6"/>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82F3B"/>
                </a:solidFill>
                <a:latin typeface="Arial"/>
                <a:ea typeface="Arial"/>
                <a:cs typeface="Arial"/>
              </a:rPr>
              <a:t>Probabilidad de rechazar igualdad de medias</a:t>
            </a:r>
          </a:p>
        </c:rich>
      </c:tx>
      <c:overlay val="0"/>
      <c:txPr>
        <a:bodyPr xmlns:a="http://schemas.openxmlformats.org/drawingml/2006/main" anchorCtr="1"/>
        <a:lstStyle xmlns:a="http://schemas.openxmlformats.org/drawingml/2006/main"/>
        <a:p xmlns:a="http://schemas.openxmlformats.org/drawingml/2006/main">
          <a:pPr>
            <a:defRPr sz="1875">
              <a:solidFill>
                <a:srgbClr val="182F3B"/>
              </a:solidFill>
              <a:latin typeface="Arial"/>
              <a:ea typeface="Arial"/>
              <a:cs typeface="Arial"/>
            </a:defRPr>
          </a:pPr>
        </a:p>
      </c:txPr>
    </c:title>
    <c:plotArea>
      <c:lineChart>
        <c:grouping val="standard"/>
        <c:varyColors val="0"/>
        <c:ser>
          <c:idx val="0"/>
          <c:order val="0"/>
          <c:tx>
            <c:v>Modelo ajustado</c:v>
          </c:tx>
          <c:spPr>
            <a:ln xmlns:a="http://schemas.openxmlformats.org/drawingml/2006/main" w="28575">
              <a:solidFill>
                <a:srgbClr val="087E8B"/>
              </a:solidFill>
            </a:ln>
          </c:spPr>
          <c:marker>
            <c:symbol val="circle"/>
            <c:size val="9"/>
            <c:spPr>
              <a:solidFill xmlns:a="http://schemas.openxmlformats.org/drawingml/2006/main">
                <a:srgbClr val="087E8B"/>
              </a:solidFill>
            </c:spPr>
          </c:marker>
          <c:cat>
            <c:strRef>
              <c:f>'Chart Data'!$A$2:$A$6</c:f>
              <c:strCache>
                <c:ptCount val="5"/>
                <c:pt idx="0">
                  <c:v>50</c:v>
                </c:pt>
                <c:pt idx="1">
                  <c:v>200</c:v>
                </c:pt>
                <c:pt idx="2">
                  <c:v>1000</c:v>
                </c:pt>
                <c:pt idx="3">
                  <c:v>5000</c:v>
                </c:pt>
                <c:pt idx="4">
                  <c:v>Orig.</c:v>
                </c:pt>
              </c:strCache>
            </c:strRef>
          </c:cat>
          <c:val>
            <c:numRef>
              <c:f>'Chart Data'!$B$2:$B$6</c:f>
              <c:numCache>
                <c:formatCode>0%</c:formatCode>
                <c:ptCount val="5"/>
                <c:pt idx="0">
                  <c:v>0.0495</c:v>
                </c:pt>
                <c:pt idx="1">
                  <c:v>0.0534</c:v>
                </c:pt>
                <c:pt idx="2">
                  <c:v>0.0604</c:v>
                </c:pt>
                <c:pt idx="3">
                  <c:v>0.10845</c:v>
                </c:pt>
                <c:pt idx="4">
                  <c:v>0.52775</c:v>
                </c:pt>
              </c:numCache>
            </c:numRef>
          </c:val>
          <c:smooth val="0"/>
        </c:ser>
        <c:ser>
          <c:idx val="1"/>
          <c:order val="1"/>
          <c:tx>
            <c:v>Modelo nulo</c:v>
          </c:tx>
          <c:spPr>
            <a:ln xmlns:a="http://schemas.openxmlformats.org/drawingml/2006/main" w="28575">
              <a:solidFill>
                <a:srgbClr val="C85A43"/>
              </a:solidFill>
            </a:ln>
          </c:spPr>
          <c:marker>
            <c:symbol val="circle"/>
            <c:size val="9"/>
            <c:spPr>
              <a:solidFill xmlns:a="http://schemas.openxmlformats.org/drawingml/2006/main">
                <a:srgbClr val="C85A43"/>
              </a:solidFill>
            </c:spPr>
          </c:marker>
          <c:cat>
            <c:strRef>
              <c:f>'Chart Data'!$C$2:$C$6</c:f>
              <c:strCache>
                <c:ptCount val="5"/>
                <c:pt idx="0">
                  <c:v>50</c:v>
                </c:pt>
                <c:pt idx="1">
                  <c:v>200</c:v>
                </c:pt>
                <c:pt idx="2">
                  <c:v>1000</c:v>
                </c:pt>
                <c:pt idx="3">
                  <c:v>5000</c:v>
                </c:pt>
                <c:pt idx="4">
                  <c:v>Orig.</c:v>
                </c:pt>
              </c:strCache>
            </c:strRef>
          </c:cat>
          <c:val>
            <c:numRef>
              <c:f>'Chart Data'!$D$2:$D$6</c:f>
              <c:numCache>
                <c:formatCode>0%</c:formatCode>
                <c:ptCount val="5"/>
                <c:pt idx="0">
                  <c:v>0.0513</c:v>
                </c:pt>
                <c:pt idx="1">
                  <c:v>0.054</c:v>
                </c:pt>
                <c:pt idx="2">
                  <c:v>0.0501</c:v>
                </c:pt>
                <c:pt idx="3">
                  <c:v>0.0517</c:v>
                </c:pt>
                <c:pt idx="4">
                  <c:v>0.04755</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Anuncios por distrito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72768"/>
      </c:catAx>
      <c:valAx>
        <c:axId val="48672768"/>
        <c:scaling>
          <c:orientation val="minMax"/>
          <c:max val="0.6"/>
          <c:min val="0"/>
        </c:scaling>
        <c:delete val="0"/>
        <c:axPos val="l"/>
        <c:majorGridlines>
          <c:spPr>
            <a:ln xmlns:a="http://schemas.openxmlformats.org/drawingml/2006/main" w="9525">
              <a:solidFill>
                <a:srgbClr val="DDE3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Probabilidad de rechazo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50112"/>
        <c:crossBetween val="between"/>
      </c:valAx>
      <c:spPr>
        <a:solidFill xmlns:a="http://schemas.openxmlformats.org/drawingml/2006/main">
          <a:srgbClr val="FAF9F6"/>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legend>
    <c:plotVisOnly val="1"/>
  </c:chart>
  <c:spPr>
    <a:solidFill xmlns:a="http://schemas.openxmlformats.org/drawingml/2006/main">
      <a:srgbClr val="FAF9F6"/>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a:solidFill>
                  <a:srgbClr val="182F3B"/>
                </a:solidFill>
                <a:latin typeface="Arial"/>
                <a:ea typeface="Arial"/>
                <a:cs typeface="Arial"/>
              </a:rPr>
              <a:t>Probabilidad de error absoluto hasta 0,05 puntos</a:t>
            </a:r>
          </a:p>
        </c:rich>
      </c:tx>
      <c:overlay val="0"/>
      <c:txPr>
        <a:bodyPr xmlns:a="http://schemas.openxmlformats.org/drawingml/2006/main" anchorCtr="1"/>
        <a:lstStyle xmlns:a="http://schemas.openxmlformats.org/drawingml/2006/main"/>
        <a:p xmlns:a="http://schemas.openxmlformats.org/drawingml/2006/main">
          <a:pPr>
            <a:defRPr sz="1875">
              <a:solidFill>
                <a:srgbClr val="182F3B"/>
              </a:solidFill>
              <a:latin typeface="Arial"/>
              <a:ea typeface="Arial"/>
              <a:cs typeface="Arial"/>
            </a:defRPr>
          </a:pPr>
        </a:p>
      </c:txPr>
    </c:title>
    <c:plotArea>
      <c:lineChart>
        <c:grouping val="standard"/>
        <c:varyColors val="0"/>
        <c:ser>
          <c:idx val="0"/>
          <c:order val="0"/>
          <c:tx>
            <c:v>Precisión bajo el modelo</c:v>
          </c:tx>
          <c:spPr>
            <a:ln xmlns:a="http://schemas.openxmlformats.org/drawingml/2006/main" w="28575">
              <a:solidFill>
                <a:srgbClr val="087E8B"/>
              </a:solidFill>
            </a:ln>
          </c:spPr>
          <c:marker>
            <c:symbol val="circle"/>
            <c:size val="10"/>
            <c:spPr>
              <a:solidFill xmlns:a="http://schemas.openxmlformats.org/drawingml/2006/main">
                <a:srgbClr val="087E8B"/>
              </a:solidFill>
            </c:spPr>
          </c:marker>
          <c:cat>
            <c:strRef>
              <c:f>'Chart Data'!$A$2:$A$6</c:f>
              <c:strCache>
                <c:ptCount val="5"/>
                <c:pt idx="0">
                  <c:v>50</c:v>
                </c:pt>
                <c:pt idx="1">
                  <c:v>200</c:v>
                </c:pt>
                <c:pt idx="2">
                  <c:v>1000</c:v>
                </c:pt>
                <c:pt idx="3">
                  <c:v>5000</c:v>
                </c:pt>
                <c:pt idx="4">
                  <c:v>Original</c:v>
                </c:pt>
              </c:strCache>
            </c:strRef>
          </c:cat>
          <c:val>
            <c:numRef>
              <c:f>'Chart Data'!$B$2:$B$6</c:f>
              <c:numCache>
                <c:formatCode>0%</c:formatCode>
                <c:ptCount val="5"/>
                <c:pt idx="0">
                  <c:v>0.15595</c:v>
                </c:pt>
                <c:pt idx="1">
                  <c:v>0.29725</c:v>
                </c:pt>
                <c:pt idx="2">
                  <c:v>0.6135</c:v>
                </c:pt>
                <c:pt idx="3">
                  <c:v>0.9443</c:v>
                </c:pt>
                <c:pt idx="4">
                  <c:v>1</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Anuncios por distrito</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DE3E3"/>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Probabilidad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2F3B"/>
                </a:solidFill>
                <a:latin typeface="Arial"/>
                <a:ea typeface="Arial"/>
                <a:cs typeface="Arial"/>
              </a:defRPr>
            </a:pPr>
          </a:p>
        </c:txPr>
        <c:crossAx val="48650112"/>
        <c:crossBetween val="between"/>
      </c:valAx>
      <c:spPr>
        <a:solidFill xmlns:a="http://schemas.openxmlformats.org/drawingml/2006/main">
          <a:srgbClr val="FAF9F6"/>
        </a:solidFill>
      </c:spPr>
    </c:plotArea>
    <c:plotVisOnly val="1"/>
  </c:chart>
  <c:spPr>
    <a:solidFill xmlns:a="http://schemas.openxmlformats.org/drawingml/2006/main">
      <a:srgbClr val="FAF9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F3B"/>
        </a:solidFill>
      </p:bgPr>
    </p:bg>
    <p:spTree>
      <p:nvGrpSpPr>
        <p:cNvPr id="1" name=""/>
        <p:cNvGrpSpPr/>
        <p:nvPr/>
      </p:nvGrpSpPr>
      <p:grpSpPr>
        <a:xfrm xmlns:a="http://schemas.openxmlformats.org/drawingml/2006/main"/>
      </p:grpSpPr>
      <p:sp>
        <p:nvSpPr>
          <p:cNvPr id="7" name="text-gfv6f0-72-44">
            <a:extLst xmlns:a="http://schemas.openxmlformats.org/drawingml/2006/main">
              <a:ext uri="{FF2B5EF4-FFF2-40B4-BE49-F238E27FC236}">
                <a16:creationId xmlns:a16="http://schemas.microsoft.com/office/drawing/2014/main" id="{ADB6ECF0-DBA2-4448-86A2-E2A57C366079}"/>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Airbnb Nueva York</a:t>
            </a:r>
          </a:p>
        </p:txBody>
      </p:sp>
      <p:sp>
        <p:nvSpPr>
          <p:cNvPr id="2" name="text-gfv6f0-72-151">
            <a:extLst xmlns:a="http://schemas.openxmlformats.org/drawingml/2006/main">
              <a:ext uri="{FF2B5EF4-FFF2-40B4-BE49-F238E27FC236}">
                <a16:creationId xmlns:a16="http://schemas.microsoft.com/office/drawing/2014/main" id="{B448516C-FD7D-484F-9EFE-64F284AFE3EB}"/>
              </a:ext>
            </a:extLst>
          </p:cNvPr>
          <p:cNvSpPr>
            <a:spLocks xmlns:a="http://schemas.openxmlformats.org/drawingml/2006/main" noGrp="1"/>
          </p:cNvSpPr>
          <p:nvPr/>
        </p:nvSpPr>
        <p:spPr>
          <a:xfrm xmlns:a="http://schemas.openxmlformats.org/drawingml/2006/main">
            <a:off x="685800" y="1438275"/>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Simulación e inferencia</a:t>
            </a:r>
          </a:p>
        </p:txBody>
      </p:sp>
      <p:sp>
        <p:nvSpPr>
          <p:cNvPr id="3" name="text-gfv6f0-72-238">
            <a:extLst xmlns:a="http://schemas.openxmlformats.org/drawingml/2006/main">
              <a:ext uri="{FF2B5EF4-FFF2-40B4-BE49-F238E27FC236}">
                <a16:creationId xmlns:a16="http://schemas.microsoft.com/office/drawing/2014/main" id="{8B9D0E13-1180-4BA7-BC76-24C344ABB77F}"/>
              </a:ext>
            </a:extLst>
          </p:cNvPr>
          <p:cNvSpPr>
            <a:spLocks xmlns:a="http://schemas.openxmlformats.org/drawingml/2006/main" noGrp="1"/>
          </p:cNvSpPr>
          <p:nvPr/>
        </p:nvSpPr>
        <p:spPr>
          <a:xfrm xmlns:a="http://schemas.openxmlformats.org/drawingml/2006/main">
            <a:off x="685800" y="22669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B7DDDC"/>
                </a:solidFill>
                <a:latin typeface="Arial"/>
                <a:ea typeface="Arial"/>
                <a:cs typeface="Arial"/>
              </a:defRPr>
            </a:pPr>
            <a:r>
              <a:rPr sz="2400" b="0">
                <a:solidFill>
                  <a:srgbClr val="B7DDDC"/>
                </a:solidFill>
                <a:latin typeface="Arial"/>
                <a:ea typeface="Arial"/>
                <a:cs typeface="Arial"/>
              </a:rPr>
              <a:t>Manhattan y Brooklyn</a:t>
            </a:r>
          </a:p>
        </p:txBody>
      </p:sp>
      <p:sp>
        <p:nvSpPr>
          <p:cNvPr id="4" name="text-gfv6f0-72-312">
            <a:extLst xmlns:a="http://schemas.openxmlformats.org/drawingml/2006/main">
              <a:ext uri="{FF2B5EF4-FFF2-40B4-BE49-F238E27FC236}">
                <a16:creationId xmlns:a16="http://schemas.microsoft.com/office/drawing/2014/main" id="{2372A19B-4D4E-4915-88D3-A5B2335134D2}"/>
              </a:ext>
            </a:extLst>
          </p:cNvPr>
          <p:cNvSpPr>
            <a:spLocks xmlns:a="http://schemas.openxmlformats.org/drawingml/2006/main" noGrp="1"/>
          </p:cNvSpPr>
          <p:nvPr/>
        </p:nvSpPr>
        <p:spPr>
          <a:xfrm xmlns:a="http://schemas.openxmlformats.org/drawingml/2006/main">
            <a:off x="685800" y="2971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Grupo 17, INF280</a:t>
            </a:r>
          </a:p>
        </p:txBody>
      </p:sp>
      <p:sp>
        <p:nvSpPr>
          <p:cNvPr id="5" name="text-gfv6f0-72-367">
            <a:extLst xmlns:a="http://schemas.openxmlformats.org/drawingml/2006/main">
              <a:ext uri="{FF2B5EF4-FFF2-40B4-BE49-F238E27FC236}">
                <a16:creationId xmlns:a16="http://schemas.microsoft.com/office/drawing/2014/main" id="{CE8A112E-7277-430A-8820-2468B739472A}"/>
              </a:ext>
            </a:extLst>
          </p:cNvPr>
          <p:cNvSpPr>
            <a:spLocks xmlns:a="http://schemas.openxmlformats.org/drawingml/2006/main" noGrp="1"/>
          </p:cNvSpPr>
          <p:nvPr/>
        </p:nvSpPr>
        <p:spPr>
          <a:xfrm xmlns:a="http://schemas.openxmlformats.org/drawingml/2006/main">
            <a:off x="685800" y="34956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D3DDDF"/>
                </a:solidFill>
                <a:latin typeface="Arial"/>
                <a:ea typeface="Arial"/>
                <a:cs typeface="Arial"/>
              </a:defRPr>
            </a:pPr>
            <a:r>
              <a:rPr sz="1800" b="0">
                <a:solidFill>
                  <a:srgbClr val="D3DDDF"/>
                </a:solidFill>
                <a:latin typeface="Arial"/>
                <a:ea typeface="Arial"/>
                <a:cs typeface="Arial"/>
              </a:rPr>
              <a:t>José Flores, Sebastian Alcaide, Pedro Ortiz y Miguel Primera</a:t>
            </a:r>
          </a:p>
        </p:txBody>
      </p:sp>
      <p:sp>
        <p:nvSpPr>
          <p:cNvPr id="6" name="text-gfv6f0-72-545">
            <a:extLst xmlns:a="http://schemas.openxmlformats.org/drawingml/2006/main">
              <a:ext uri="{FF2B5EF4-FFF2-40B4-BE49-F238E27FC236}">
                <a16:creationId xmlns:a16="http://schemas.microsoft.com/office/drawing/2014/main" id="{BB92CBB2-E433-4500-9822-E17D961E0F2C}"/>
              </a:ext>
            </a:extLst>
          </p:cNvPr>
          <p:cNvSpPr>
            <a:spLocks xmlns:a="http://schemas.openxmlformats.org/drawingml/2006/main" noGrp="1"/>
          </p:cNvSpPr>
          <p:nvPr/>
        </p:nvSpPr>
        <p:spPr>
          <a:xfrm xmlns:a="http://schemas.openxmlformats.org/drawingml/2006/main">
            <a:off x="685800" y="51911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B7DDDC"/>
                </a:solidFill>
                <a:latin typeface="Arial"/>
                <a:ea typeface="Arial"/>
                <a:cs typeface="Arial"/>
              </a:defRPr>
            </a:pPr>
            <a:r>
              <a:rPr sz="2250" b="0">
                <a:solidFill>
                  <a:srgbClr val="B7DDDC"/>
                </a:solidFill>
                <a:latin typeface="Arial"/>
                <a:ea typeface="Arial"/>
                <a:cs typeface="Arial"/>
              </a:rPr>
              <a:t>Estimación puntual, bootstrap propio y Monte Carlo</a:t>
            </a:r>
          </a:p>
        </p:txBody>
      </p:sp>
    </p:spTree>
    <p:extLst>
      <p:ext uri="{BB962C8B-B14F-4D97-AF65-F5344CB8AC3E}">
        <p14:creationId xmlns:p14="http://schemas.microsoft.com/office/powerpoint/2010/main" val="233321781"/>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text-4ignpw-72-44">
            <a:extLst xmlns:a="http://schemas.openxmlformats.org/drawingml/2006/main">
              <a:ext uri="{FF2B5EF4-FFF2-40B4-BE49-F238E27FC236}">
                <a16:creationId xmlns:a16="http://schemas.microsoft.com/office/drawing/2014/main" id="{33488A6A-4974-4634-B7E6-ABFC408D0458}"/>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Pregunta y parámetros</a:t>
            </a:r>
          </a:p>
        </p:txBody>
      </p:sp>
      <p:sp>
        <p:nvSpPr>
          <p:cNvPr id="2" name="text-4ignpw-1190-670">
            <a:extLst xmlns:a="http://schemas.openxmlformats.org/drawingml/2006/main">
              <a:ext uri="{FF2B5EF4-FFF2-40B4-BE49-F238E27FC236}">
                <a16:creationId xmlns:a16="http://schemas.microsoft.com/office/drawing/2014/main" id="{A44DDC8E-2690-4AB2-88EA-43D19C3F455B}"/>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02</a:t>
            </a:r>
          </a:p>
        </p:txBody>
      </p:sp>
      <p:sp>
        <p:nvSpPr>
          <p:cNvPr id="3" name="text-4ignpw-72-160">
            <a:extLst xmlns:a="http://schemas.openxmlformats.org/drawingml/2006/main">
              <a:ext uri="{FF2B5EF4-FFF2-40B4-BE49-F238E27FC236}">
                <a16:creationId xmlns:a16="http://schemas.microsoft.com/office/drawing/2014/main" id="{7183349D-662A-4776-A00A-329B73E50FC3}"/>
              </a:ext>
            </a:extLst>
          </p:cNvPr>
          <p:cNvSpPr>
            <a:spLocks xmlns:a="http://schemas.openxmlformats.org/drawingml/2006/main" noGrp="1"/>
          </p:cNvSpPr>
          <p:nvPr/>
        </p:nvSpPr>
        <p:spPr>
          <a:xfrm xmlns:a="http://schemas.openxmlformats.org/drawingml/2006/main">
            <a:off x="685800" y="15240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82F3B"/>
                </a:solidFill>
                <a:latin typeface="Arial"/>
                <a:ea typeface="Arial"/>
                <a:cs typeface="Arial"/>
              </a:defRPr>
            </a:pPr>
            <a:r>
              <a:rPr sz="2700" b="1">
                <a:solidFill>
                  <a:srgbClr val="182F3B"/>
                </a:solidFill>
                <a:latin typeface="Arial"/>
                <a:ea typeface="Arial"/>
                <a:cs typeface="Arial"/>
              </a:rPr>
              <a:t>¿Cuánto difieren las calificaciones medias de ambos distritos?</a:t>
            </a:r>
          </a:p>
        </p:txBody>
      </p:sp>
      <p:sp>
        <p:nvSpPr>
          <p:cNvPr id="4" name="text-4ignpw-72-292">
            <a:extLst xmlns:a="http://schemas.openxmlformats.org/drawingml/2006/main">
              <a:ext uri="{FF2B5EF4-FFF2-40B4-BE49-F238E27FC236}">
                <a16:creationId xmlns:a16="http://schemas.microsoft.com/office/drawing/2014/main" id="{3BA5BCA9-6EC0-4600-8C44-98CCE260EA81}"/>
              </a:ext>
            </a:extLst>
          </p:cNvPr>
          <p:cNvSpPr>
            <a:spLocks xmlns:a="http://schemas.openxmlformats.org/drawingml/2006/main" noGrp="1"/>
          </p:cNvSpPr>
          <p:nvPr/>
        </p:nvSpPr>
        <p:spPr>
          <a:xfrm xmlns:a="http://schemas.openxmlformats.org/drawingml/2006/main">
            <a:off x="685800" y="27813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0">
                <a:solidFill>
                  <a:srgbClr val="087E8B"/>
                </a:solidFill>
                <a:latin typeface="Arial"/>
                <a:ea typeface="Arial"/>
                <a:cs typeface="Arial"/>
              </a:defRPr>
            </a:pPr>
            <a:r>
              <a:rPr sz="2400" b="0">
                <a:solidFill>
                  <a:srgbClr val="087E8B"/>
                </a:solidFill>
                <a:latin typeface="Arial"/>
                <a:ea typeface="Arial"/>
                <a:cs typeface="Arial"/>
              </a:rPr>
              <a:t>μM = media de Manhattan        μB = media de Brooklyn</a:t>
            </a:r>
          </a:p>
        </p:txBody>
      </p:sp>
      <p:sp>
        <p:nvSpPr>
          <p:cNvPr id="5" name="text-4ignpw-72-388">
            <a:extLst xmlns:a="http://schemas.openxmlformats.org/drawingml/2006/main">
              <a:ext uri="{FF2B5EF4-FFF2-40B4-BE49-F238E27FC236}">
                <a16:creationId xmlns:a16="http://schemas.microsoft.com/office/drawing/2014/main" id="{0D05DF49-95C7-4E6A-9309-4C0985B6791F}"/>
              </a:ext>
            </a:extLst>
          </p:cNvPr>
          <p:cNvSpPr>
            <a:spLocks xmlns:a="http://schemas.openxmlformats.org/drawingml/2006/main" noGrp="1"/>
          </p:cNvSpPr>
          <p:nvPr/>
        </p:nvSpPr>
        <p:spPr>
          <a:xfrm xmlns:a="http://schemas.openxmlformats.org/drawingml/2006/main">
            <a:off x="685800" y="369570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450" b="1">
                <a:solidFill>
                  <a:srgbClr val="182F3B"/>
                </a:solidFill>
                <a:latin typeface="Arial"/>
                <a:ea typeface="Arial"/>
                <a:cs typeface="Arial"/>
              </a:defRPr>
            </a:pPr>
            <a:r>
              <a:rPr sz="3450" b="1">
                <a:solidFill>
                  <a:srgbClr val="182F3B"/>
                </a:solidFill>
                <a:latin typeface="Arial"/>
                <a:ea typeface="Arial"/>
                <a:cs typeface="Arial"/>
              </a:rPr>
              <a:t>Δ = μM − μB</a:t>
            </a:r>
          </a:p>
        </p:txBody>
      </p:sp>
      <p:sp>
        <p:nvSpPr>
          <p:cNvPr id="6" name="text-4ignpw-72-515">
            <a:extLst xmlns:a="http://schemas.openxmlformats.org/drawingml/2006/main">
              <a:ext uri="{FF2B5EF4-FFF2-40B4-BE49-F238E27FC236}">
                <a16:creationId xmlns:a16="http://schemas.microsoft.com/office/drawing/2014/main" id="{320195B1-9082-4B6E-AE59-D1B2379EDCF3}"/>
              </a:ext>
            </a:extLst>
          </p:cNvPr>
          <p:cNvSpPr>
            <a:spLocks xmlns:a="http://schemas.openxmlformats.org/drawingml/2006/main" noGrp="1"/>
          </p:cNvSpPr>
          <p:nvPr/>
        </p:nvSpPr>
        <p:spPr>
          <a:xfrm xmlns:a="http://schemas.openxmlformats.org/drawingml/2006/main">
            <a:off x="685800" y="49053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16674"/>
                </a:solidFill>
                <a:latin typeface="Arial"/>
                <a:ea typeface="Arial"/>
                <a:cs typeface="Arial"/>
              </a:defRPr>
            </a:pPr>
            <a:r>
              <a:rPr sz="2100" b="0">
                <a:solidFill>
                  <a:srgbClr val="516674"/>
                </a:solidFill>
                <a:latin typeface="Arial"/>
                <a:ea typeface="Arial"/>
                <a:cs typeface="Arial"/>
              </a:rPr>
              <a:t>Elegimos los dos distritos con más anuncios registrados.</a:t>
            </a:r>
          </a:p>
        </p:txBody>
      </p:sp>
      <p:sp>
        <p:nvSpPr>
          <p:cNvPr id="7" name="text-4ignpw-72-583">
            <a:extLst xmlns:a="http://schemas.openxmlformats.org/drawingml/2006/main">
              <a:ext uri="{FF2B5EF4-FFF2-40B4-BE49-F238E27FC236}">
                <a16:creationId xmlns:a16="http://schemas.microsoft.com/office/drawing/2014/main" id="{09C5233E-2A6F-421C-9613-1874C92B2507}"/>
              </a:ext>
            </a:extLst>
          </p:cNvPr>
          <p:cNvSpPr>
            <a:spLocks xmlns:a="http://schemas.openxmlformats.org/drawingml/2006/main" noGrp="1"/>
          </p:cNvSpPr>
          <p:nvPr/>
        </p:nvSpPr>
        <p:spPr>
          <a:xfrm xmlns:a="http://schemas.openxmlformats.org/drawingml/2006/main">
            <a:off x="685800" y="555307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516674"/>
                </a:solidFill>
                <a:latin typeface="Arial"/>
                <a:ea typeface="Arial"/>
                <a:cs typeface="Arial"/>
              </a:defRPr>
            </a:pPr>
            <a:r>
              <a:rPr sz="2100" b="0">
                <a:solidFill>
                  <a:srgbClr val="516674"/>
                </a:solidFill>
                <a:latin typeface="Arial"/>
                <a:ea typeface="Arial"/>
                <a:cs typeface="Arial"/>
              </a:rPr>
              <a:t>La diferencia se mide en puntos de la escala 1–5.</a:t>
            </a:r>
          </a:p>
        </p:txBody>
      </p:sp>
    </p:spTree>
    <p:extLst>
      <p:ext uri="{BB962C8B-B14F-4D97-AF65-F5344CB8AC3E}">
        <p14:creationId xmlns:p14="http://schemas.microsoft.com/office/powerpoint/2010/main" val="2032509833"/>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text-rmoi0u-72-44">
            <a:extLst xmlns:a="http://schemas.openxmlformats.org/drawingml/2006/main">
              <a:ext uri="{FF2B5EF4-FFF2-40B4-BE49-F238E27FC236}">
                <a16:creationId xmlns:a16="http://schemas.microsoft.com/office/drawing/2014/main" id="{25E44D44-BC47-4079-86B9-55F3240CD73B}"/>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Datos y alcance del análisis</a:t>
            </a:r>
          </a:p>
        </p:txBody>
      </p:sp>
      <p:sp>
        <p:nvSpPr>
          <p:cNvPr id="2" name="text-rmoi0u-1190-670">
            <a:extLst xmlns:a="http://schemas.openxmlformats.org/drawingml/2006/main">
              <a:ext uri="{FF2B5EF4-FFF2-40B4-BE49-F238E27FC236}">
                <a16:creationId xmlns:a16="http://schemas.microsoft.com/office/drawing/2014/main" id="{CD7BE91D-377A-4817-BA1D-C8CA8033069E}"/>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03</a:t>
            </a:r>
          </a:p>
        </p:txBody>
      </p:sp>
      <p:graphicFrame>
        <p:nvGraphicFramePr>
          <p:cNvPr id="9" name=""/>
          <p:cNvGraphicFramePr/>
          <p:nvPr/>
        </p:nvGraphicFramePr>
        <p:xfrm>
          <a:off xmlns:a="http://schemas.openxmlformats.org/drawingml/2006/main" x="685800" y="1619250"/>
          <a:ext xmlns:a="http://schemas.openxmlformats.org/drawingml/2006/main" cx="10820400" cy="2095500"/>
        </p:xfrm>
        <a:graphic xmlns:a="http://schemas.openxmlformats.org/drawingml/2006/main">
          <a:graphicData uri="http://schemas.openxmlformats.org/drawingml/2006/table">
            <a:tbl>
              <a:tblPr/>
              <a:tblGrid>
                <a:gridCol w="2615921"/>
                <a:gridCol w="2615921"/>
                <a:gridCol w="3210448"/>
                <a:gridCol w="2378110"/>
              </a:tblGrid>
              <a:tr h="698500">
                <a:tc>
                  <a:txBody>
                    <a:bodyPr/>
                    <a:lstStyle/>
                    <a:p>
                      <a:r>
                        <a:rPr sz="1800" b="1">
                          <a:solidFill>
                            <a:srgbClr val="FFFFFF"/>
                          </a:solidFill>
                          <a:latin typeface="Arial"/>
                          <a:ea typeface="Arial"/>
                          <a:cs typeface="Arial"/>
                        </a:rPr>
                        <a:t>Distrito</a:t>
                      </a:r>
                    </a:p>
                  </a:txBody>
                  <a:tcPr marL="114300" marR="114300" marT="95250" marB="95250">
                    <a:solidFill>
                      <a:srgbClr val="182F3B"/>
                    </a:solidFill>
                  </a:tcPr>
                </a:tc>
                <a:tc>
                  <a:txBody>
                    <a:bodyPr/>
                    <a:lstStyle/>
                    <a:p>
                      <a:r>
                        <a:rPr sz="1800" b="1">
                          <a:solidFill>
                            <a:srgbClr val="FFFFFF"/>
                          </a:solidFill>
                          <a:latin typeface="Arial"/>
                          <a:ea typeface="Arial"/>
                          <a:cs typeface="Arial"/>
                        </a:rPr>
                        <a:t>Anuncios limpios</a:t>
                      </a:r>
                    </a:p>
                  </a:txBody>
                  <a:tcPr marL="114300" marR="114300" marT="95250" marB="95250">
                    <a:solidFill>
                      <a:srgbClr val="182F3B"/>
                    </a:solidFill>
                  </a:tcPr>
                </a:tc>
                <a:tc>
                  <a:txBody>
                    <a:bodyPr/>
                    <a:lstStyle/>
                    <a:p>
                      <a:r>
                        <a:rPr sz="1800" b="1">
                          <a:solidFill>
                            <a:srgbClr val="FFFFFF"/>
                          </a:solidFill>
                          <a:latin typeface="Arial"/>
                          <a:ea typeface="Arial"/>
                          <a:cs typeface="Arial"/>
                        </a:rPr>
                        <a:t>Calificaciones válidas</a:t>
                      </a:r>
                    </a:p>
                  </a:txBody>
                  <a:tcPr marL="114300" marR="114300" marT="95250" marB="95250">
                    <a:solidFill>
                      <a:srgbClr val="182F3B"/>
                    </a:solidFill>
                  </a:tcPr>
                </a:tc>
                <a:tc>
                  <a:txBody>
                    <a:bodyPr/>
                    <a:lstStyle/>
                    <a:p>
                      <a:r>
                        <a:rPr sz="1800" b="1">
                          <a:solidFill>
                            <a:srgbClr val="FFFFFF"/>
                          </a:solidFill>
                          <a:latin typeface="Arial"/>
                          <a:ea typeface="Arial"/>
                          <a:cs typeface="Arial"/>
                        </a:rPr>
                        <a:t>Sin calificación</a:t>
                      </a:r>
                    </a:p>
                  </a:txBody>
                  <a:tcPr marL="114300" marR="114300" marT="95250" marB="95250">
                    <a:solidFill>
                      <a:srgbClr val="182F3B"/>
                    </a:solidFill>
                  </a:tcPr>
                </a:tc>
              </a:tr>
              <a:tr h="698500">
                <a:tc>
                  <a:txBody>
                    <a:bodyPr/>
                    <a:lstStyle/>
                    <a:p>
                      <a:r>
                        <a:rPr sz="1800">
                          <a:solidFill>
                            <a:srgbClr val="182F3B"/>
                          </a:solidFill>
                          <a:latin typeface="Arial"/>
                          <a:ea typeface="Arial"/>
                          <a:cs typeface="Arial"/>
                        </a:rPr>
                        <a:t>Manhattan</a:t>
                      </a:r>
                    </a:p>
                  </a:txBody>
                  <a:tcPr marL="114300" marR="114300" marT="95250" marB="95250">
                    <a:solidFill>
                      <a:srgbClr val="F0F3F2"/>
                    </a:solidFill>
                  </a:tcPr>
                </a:tc>
                <a:tc>
                  <a:txBody>
                    <a:bodyPr/>
                    <a:lstStyle/>
                    <a:p>
                      <a:r>
                        <a:rPr sz="1800">
                          <a:solidFill>
                            <a:srgbClr val="182F3B"/>
                          </a:solidFill>
                          <a:latin typeface="Arial"/>
                          <a:ea typeface="Arial"/>
                          <a:cs typeface="Arial"/>
                        </a:rPr>
                        <a:t>43.558</a:t>
                      </a:r>
                    </a:p>
                  </a:txBody>
                  <a:tcPr marL="114300" marR="114300" marT="95250" marB="95250">
                    <a:solidFill>
                      <a:srgbClr val="F0F3F2"/>
                    </a:solidFill>
                  </a:tcPr>
                </a:tc>
                <a:tc>
                  <a:txBody>
                    <a:bodyPr/>
                    <a:lstStyle/>
                    <a:p>
                      <a:r>
                        <a:rPr sz="1800">
                          <a:solidFill>
                            <a:srgbClr val="182F3B"/>
                          </a:solidFill>
                          <a:latin typeface="Arial"/>
                          <a:ea typeface="Arial"/>
                          <a:cs typeface="Arial"/>
                        </a:rPr>
                        <a:t>43.418</a:t>
                      </a:r>
                    </a:p>
                  </a:txBody>
                  <a:tcPr marL="114300" marR="114300" marT="95250" marB="95250">
                    <a:solidFill>
                      <a:srgbClr val="F0F3F2"/>
                    </a:solidFill>
                  </a:tcPr>
                </a:tc>
                <a:tc>
                  <a:txBody>
                    <a:bodyPr/>
                    <a:lstStyle/>
                    <a:p>
                      <a:r>
                        <a:rPr sz="1800">
                          <a:solidFill>
                            <a:srgbClr val="182F3B"/>
                          </a:solidFill>
                          <a:latin typeface="Arial"/>
                          <a:ea typeface="Arial"/>
                          <a:cs typeface="Arial"/>
                        </a:rPr>
                        <a:t>140</a:t>
                      </a:r>
                    </a:p>
                  </a:txBody>
                  <a:tcPr marL="114300" marR="114300" marT="95250" marB="95250">
                    <a:solidFill>
                      <a:srgbClr val="F0F3F2"/>
                    </a:solidFill>
                  </a:tcPr>
                </a:tc>
              </a:tr>
              <a:tr h="698500">
                <a:tc>
                  <a:txBody>
                    <a:bodyPr/>
                    <a:lstStyle/>
                    <a:p>
                      <a:r>
                        <a:rPr sz="1800">
                          <a:solidFill>
                            <a:srgbClr val="182F3B"/>
                          </a:solidFill>
                          <a:latin typeface="Arial"/>
                          <a:ea typeface="Arial"/>
                          <a:cs typeface="Arial"/>
                        </a:rPr>
                        <a:t>Brooklyn</a:t>
                      </a:r>
                    </a:p>
                  </a:txBody>
                  <a:tcPr marL="114300" marR="114300" marT="95250" marB="95250">
                    <a:solidFill>
                      <a:srgbClr val="FFFFFF"/>
                    </a:solidFill>
                  </a:tcPr>
                </a:tc>
                <a:tc>
                  <a:txBody>
                    <a:bodyPr/>
                    <a:lstStyle/>
                    <a:p>
                      <a:r>
                        <a:rPr sz="1800">
                          <a:solidFill>
                            <a:srgbClr val="182F3B"/>
                          </a:solidFill>
                          <a:latin typeface="Arial"/>
                          <a:ea typeface="Arial"/>
                          <a:cs typeface="Arial"/>
                        </a:rPr>
                        <a:t>41.631</a:t>
                      </a:r>
                    </a:p>
                  </a:txBody>
                  <a:tcPr marL="114300" marR="114300" marT="95250" marB="95250">
                    <a:solidFill>
                      <a:srgbClr val="FFFFFF"/>
                    </a:solidFill>
                  </a:tcPr>
                </a:tc>
                <a:tc>
                  <a:txBody>
                    <a:bodyPr/>
                    <a:lstStyle/>
                    <a:p>
                      <a:r>
                        <a:rPr sz="1800">
                          <a:solidFill>
                            <a:srgbClr val="182F3B"/>
                          </a:solidFill>
                          <a:latin typeface="Arial"/>
                          <a:ea typeface="Arial"/>
                          <a:cs typeface="Arial"/>
                        </a:rPr>
                        <a:t>41.515</a:t>
                      </a:r>
                    </a:p>
                  </a:txBody>
                  <a:tcPr marL="114300" marR="114300" marT="95250" marB="95250">
                    <a:solidFill>
                      <a:srgbClr val="FFFFFF"/>
                    </a:solidFill>
                  </a:tcPr>
                </a:tc>
                <a:tc>
                  <a:txBody>
                    <a:bodyPr/>
                    <a:lstStyle/>
                    <a:p>
                      <a:r>
                        <a:rPr sz="1800">
                          <a:solidFill>
                            <a:srgbClr val="182F3B"/>
                          </a:solidFill>
                          <a:latin typeface="Arial"/>
                          <a:ea typeface="Arial"/>
                          <a:cs typeface="Arial"/>
                        </a:rPr>
                        <a:t>116</a:t>
                      </a:r>
                    </a:p>
                  </a:txBody>
                  <a:tcPr marL="114300" marR="114300" marT="95250" marB="95250">
                    <a:solidFill>
                      <a:srgbClr val="FFFFFF"/>
                    </a:solidFill>
                  </a:tcPr>
                </a:tc>
              </a:tr>
            </a:tbl>
          </a:graphicData>
        </a:graphic>
      </p:graphicFrame>
      <p:sp>
        <p:nvSpPr>
          <p:cNvPr id="4" name="text-rmoi0u-72-425">
            <a:extLst xmlns:a="http://schemas.openxmlformats.org/drawingml/2006/main">
              <a:ext uri="{FF2B5EF4-FFF2-40B4-BE49-F238E27FC236}">
                <a16:creationId xmlns:a16="http://schemas.microsoft.com/office/drawing/2014/main" id="{DBC72C6A-BCCE-40F1-879A-631D6481A79C}"/>
              </a:ext>
            </a:extLst>
          </p:cNvPr>
          <p:cNvSpPr>
            <a:spLocks xmlns:a="http://schemas.openxmlformats.org/drawingml/2006/main" noGrp="1"/>
          </p:cNvSpPr>
          <p:nvPr/>
        </p:nvSpPr>
        <p:spPr>
          <a:xfrm xmlns:a="http://schemas.openxmlformats.org/drawingml/2006/main">
            <a:off x="685800" y="40481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102.058 registros después de la limpieza original.</a:t>
            </a:r>
          </a:p>
        </p:txBody>
      </p:sp>
      <p:sp>
        <p:nvSpPr>
          <p:cNvPr id="5" name="text-rmoi0u-72-488">
            <a:extLst xmlns:a="http://schemas.openxmlformats.org/drawingml/2006/main">
              <a:ext uri="{FF2B5EF4-FFF2-40B4-BE49-F238E27FC236}">
                <a16:creationId xmlns:a16="http://schemas.microsoft.com/office/drawing/2014/main" id="{BFC1BFD1-5587-45E0-B392-FAEDBF6284BB}"/>
              </a:ext>
            </a:extLst>
          </p:cNvPr>
          <p:cNvSpPr>
            <a:spLocks xmlns:a="http://schemas.openxmlformats.org/drawingml/2006/main" noGrp="1"/>
          </p:cNvSpPr>
          <p:nvPr/>
        </p:nvSpPr>
        <p:spPr>
          <a:xfrm xmlns:a="http://schemas.openxmlformats.org/drawingml/2006/main">
            <a:off x="685800" y="46482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2F3B"/>
                </a:solidFill>
                <a:latin typeface="Arial"/>
                <a:ea typeface="Arial"/>
                <a:cs typeface="Arial"/>
              </a:defRPr>
            </a:pPr>
            <a:r>
              <a:rPr sz="2100" b="0">
                <a:solidFill>
                  <a:srgbClr val="182F3B"/>
                </a:solidFill>
                <a:latin typeface="Arial"/>
                <a:ea typeface="Arial"/>
                <a:cs typeface="Arial"/>
              </a:rPr>
              <a:t>Cada anuncio pesa lo mismo. Conservamos los datos ausentes.</a:t>
            </a:r>
          </a:p>
        </p:txBody>
      </p:sp>
      <p:sp>
        <p:nvSpPr>
          <p:cNvPr id="6" name="text-rmoi0u-72-580">
            <a:extLst xmlns:a="http://schemas.openxmlformats.org/drawingml/2006/main">
              <a:ext uri="{FF2B5EF4-FFF2-40B4-BE49-F238E27FC236}">
                <a16:creationId xmlns:a16="http://schemas.microsoft.com/office/drawing/2014/main" id="{F2FDD14C-322F-46F6-8F4E-1F06B5CB0908}"/>
              </a:ext>
            </a:extLst>
          </p:cNvPr>
          <p:cNvSpPr>
            <a:spLocks xmlns:a="http://schemas.openxmlformats.org/drawingml/2006/main" noGrp="1"/>
          </p:cNvSpPr>
          <p:nvPr/>
        </p:nvSpPr>
        <p:spPr>
          <a:xfrm xmlns:a="http://schemas.openxmlformats.org/drawingml/2006/main">
            <a:off x="685800" y="55245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16674"/>
                </a:solidFill>
                <a:latin typeface="Arial"/>
                <a:ea typeface="Arial"/>
                <a:cs typeface="Arial"/>
              </a:defRPr>
            </a:pPr>
            <a:r>
              <a:rPr sz="2025" b="0">
                <a:solidFill>
                  <a:srgbClr val="516674"/>
                </a:solidFill>
                <a:latin typeface="Arial"/>
                <a:ea typeface="Arial"/>
                <a:cs typeface="Arial"/>
              </a:rPr>
              <a:t>Alcance: anuncios calificados comparables a esta fuente.</a:t>
            </a:r>
          </a:p>
        </p:txBody>
      </p:sp>
    </p:spTree>
    <p:extLst>
      <p:ext uri="{BB962C8B-B14F-4D97-AF65-F5344CB8AC3E}">
        <p14:creationId xmlns:p14="http://schemas.microsoft.com/office/powerpoint/2010/main" val="1469271878"/>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text-hzmfel-72-44">
            <a:extLst xmlns:a="http://schemas.openxmlformats.org/drawingml/2006/main">
              <a:ext uri="{FF2B5EF4-FFF2-40B4-BE49-F238E27FC236}">
                <a16:creationId xmlns:a16="http://schemas.microsoft.com/office/drawing/2014/main" id="{501C15C2-92EC-47D6-8F89-7D40B9762650}"/>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Estimadores y propiedades</a:t>
            </a:r>
          </a:p>
        </p:txBody>
      </p:sp>
      <p:sp>
        <p:nvSpPr>
          <p:cNvPr id="2" name="text-hzmfel-1190-670">
            <a:extLst xmlns:a="http://schemas.openxmlformats.org/drawingml/2006/main">
              <a:ext uri="{FF2B5EF4-FFF2-40B4-BE49-F238E27FC236}">
                <a16:creationId xmlns:a16="http://schemas.microsoft.com/office/drawing/2014/main" id="{50FCE25E-A914-48AB-A749-35DA356DC960}"/>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04</a:t>
            </a:r>
          </a:p>
        </p:txBody>
      </p:sp>
      <p:sp>
        <p:nvSpPr>
          <p:cNvPr id="3" name="text-hzmfel-72-158">
            <a:extLst xmlns:a="http://schemas.openxmlformats.org/drawingml/2006/main">
              <a:ext uri="{FF2B5EF4-FFF2-40B4-BE49-F238E27FC236}">
                <a16:creationId xmlns:a16="http://schemas.microsoft.com/office/drawing/2014/main" id="{91581002-D0A1-4782-890B-82F043C64C93}"/>
              </a:ext>
            </a:extLst>
          </p:cNvPr>
          <p:cNvSpPr>
            <a:spLocks xmlns:a="http://schemas.openxmlformats.org/drawingml/2006/main" noGrp="1"/>
          </p:cNvSpPr>
          <p:nvPr/>
        </p:nvSpPr>
        <p:spPr>
          <a:xfrm xmlns:a="http://schemas.openxmlformats.org/drawingml/2006/main">
            <a:off x="685800" y="1504950"/>
            <a:ext cx="10477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087E8B"/>
                </a:solidFill>
                <a:latin typeface="Arial"/>
                <a:ea typeface="Arial"/>
                <a:cs typeface="Arial"/>
              </a:defRPr>
            </a:pPr>
            <a:r>
              <a:rPr sz="3000" b="1">
                <a:solidFill>
                  <a:srgbClr val="087E8B"/>
                </a:solidFill>
                <a:latin typeface="Arial"/>
                <a:ea typeface="Arial"/>
                <a:cs typeface="Arial"/>
              </a:rPr>
              <a:t>Media:  μ̂g = Σ Ygi / ng</a:t>
            </a:r>
          </a:p>
        </p:txBody>
      </p:sp>
      <p:sp>
        <p:nvSpPr>
          <p:cNvPr id="4" name="text-hzmfel-72-255">
            <a:extLst xmlns:a="http://schemas.openxmlformats.org/drawingml/2006/main">
              <a:ext uri="{FF2B5EF4-FFF2-40B4-BE49-F238E27FC236}">
                <a16:creationId xmlns:a16="http://schemas.microsoft.com/office/drawing/2014/main" id="{4D2B8DD2-1ABF-426E-95B2-91DFE3475EB7}"/>
              </a:ext>
            </a:extLst>
          </p:cNvPr>
          <p:cNvSpPr>
            <a:spLocks xmlns:a="http://schemas.openxmlformats.org/drawingml/2006/main" noGrp="1"/>
          </p:cNvSpPr>
          <p:nvPr/>
        </p:nvSpPr>
        <p:spPr>
          <a:xfrm xmlns:a="http://schemas.openxmlformats.org/drawingml/2006/main">
            <a:off x="685800" y="24288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182F3B"/>
                </a:solidFill>
                <a:latin typeface="Arial"/>
                <a:ea typeface="Arial"/>
                <a:cs typeface="Arial"/>
              </a:defRPr>
            </a:pPr>
            <a:r>
              <a:rPr sz="3000" b="1">
                <a:solidFill>
                  <a:srgbClr val="182F3B"/>
                </a:solidFill>
                <a:latin typeface="Arial"/>
                <a:ea typeface="Arial"/>
                <a:cs typeface="Arial"/>
              </a:rPr>
              <a:t>Diferencia:  Δ̂ = ȲM − ȲB</a:t>
            </a:r>
          </a:p>
        </p:txBody>
      </p:sp>
      <p:sp>
        <p:nvSpPr>
          <p:cNvPr id="5" name="text-hzmfel-72-365">
            <a:extLst xmlns:a="http://schemas.openxmlformats.org/drawingml/2006/main">
              <a:ext uri="{FF2B5EF4-FFF2-40B4-BE49-F238E27FC236}">
                <a16:creationId xmlns:a16="http://schemas.microsoft.com/office/drawing/2014/main" id="{82DE4013-12C9-4D90-BDF1-D995BE890DC6}"/>
              </a:ext>
            </a:extLst>
          </p:cNvPr>
          <p:cNvSpPr>
            <a:spLocks xmlns:a="http://schemas.openxmlformats.org/drawingml/2006/main" noGrp="1"/>
          </p:cNvSpPr>
          <p:nvPr/>
        </p:nvSpPr>
        <p:spPr>
          <a:xfrm xmlns:a="http://schemas.openxmlformats.org/drawingml/2006/main">
            <a:off x="685800" y="34766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Insesgados bajo el modelo de muestreo independiente.</a:t>
            </a:r>
          </a:p>
        </p:txBody>
      </p:sp>
      <p:sp>
        <p:nvSpPr>
          <p:cNvPr id="6" name="text-hzmfel-72-452">
            <a:extLst xmlns:a="http://schemas.openxmlformats.org/drawingml/2006/main">
              <a:ext uri="{FF2B5EF4-FFF2-40B4-BE49-F238E27FC236}">
                <a16:creationId xmlns:a16="http://schemas.microsoft.com/office/drawing/2014/main" id="{18A917C0-A185-4D97-8322-26B76C3CA832}"/>
              </a:ext>
            </a:extLst>
          </p:cNvPr>
          <p:cNvSpPr>
            <a:spLocks xmlns:a="http://schemas.openxmlformats.org/drawingml/2006/main" noGrp="1"/>
          </p:cNvSpPr>
          <p:nvPr/>
        </p:nvSpPr>
        <p:spPr>
          <a:xfrm xmlns:a="http://schemas.openxmlformats.org/drawingml/2006/main">
            <a:off x="685800" y="430530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Consistentes cuando crecen los tamaños de ambos distritos.</a:t>
            </a:r>
          </a:p>
        </p:txBody>
      </p:sp>
      <p:sp>
        <p:nvSpPr>
          <p:cNvPr id="7" name="text-hzmfel-72-539">
            <a:extLst xmlns:a="http://schemas.openxmlformats.org/drawingml/2006/main">
              <a:ext uri="{FF2B5EF4-FFF2-40B4-BE49-F238E27FC236}">
                <a16:creationId xmlns:a16="http://schemas.microsoft.com/office/drawing/2014/main" id="{A8E778B6-C5B7-4A9C-A3E5-FAC8E6A1EC61}"/>
              </a:ext>
            </a:extLst>
          </p:cNvPr>
          <p:cNvSpPr>
            <a:spLocks xmlns:a="http://schemas.openxmlformats.org/drawingml/2006/main" noGrp="1"/>
          </p:cNvSpPr>
          <p:nvPr/>
        </p:nvSpPr>
        <p:spPr>
          <a:xfrm xmlns:a="http://schemas.openxmlformats.org/drawingml/2006/main">
            <a:off x="685800" y="51339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Eficiencia entre estimadores lineales insesgados.</a:t>
            </a:r>
          </a:p>
        </p:txBody>
      </p:sp>
      <p:sp>
        <p:nvSpPr>
          <p:cNvPr id="8" name="text-hzmfel-72-611">
            <a:extLst xmlns:a="http://schemas.openxmlformats.org/drawingml/2006/main">
              <a:ext uri="{FF2B5EF4-FFF2-40B4-BE49-F238E27FC236}">
                <a16:creationId xmlns:a16="http://schemas.microsoft.com/office/drawing/2014/main" id="{F286B52B-C39D-4089-BA02-7FD7F77901FA}"/>
              </a:ext>
            </a:extLst>
          </p:cNvPr>
          <p:cNvSpPr>
            <a:spLocks xmlns:a="http://schemas.openxmlformats.org/drawingml/2006/main" noGrp="1"/>
          </p:cNvSpPr>
          <p:nvPr/>
        </p:nvSpPr>
        <p:spPr>
          <a:xfrm xmlns:a="http://schemas.openxmlformats.org/drawingml/2006/main">
            <a:off x="685800" y="58197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2F3B"/>
                </a:solidFill>
                <a:latin typeface="Arial"/>
                <a:ea typeface="Arial"/>
                <a:cs typeface="Arial"/>
              </a:defRPr>
            </a:pPr>
            <a:r>
              <a:rPr sz="2100" b="0">
                <a:solidFill>
                  <a:srgbClr val="182F3B"/>
                </a:solidFill>
                <a:latin typeface="Arial"/>
                <a:ea typeface="Arial"/>
                <a:cs typeface="Arial"/>
              </a:rPr>
              <a:t>Varianza de la media: σ²g / ng.</a:t>
            </a:r>
          </a:p>
        </p:txBody>
      </p:sp>
    </p:spTree>
    <p:extLst>
      <p:ext uri="{BB962C8B-B14F-4D97-AF65-F5344CB8AC3E}">
        <p14:creationId xmlns:p14="http://schemas.microsoft.com/office/powerpoint/2010/main" val="2039525293"/>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ydro7r-72-44">
            <a:extLst xmlns:a="http://schemas.openxmlformats.org/drawingml/2006/main">
              <a:ext uri="{FF2B5EF4-FFF2-40B4-BE49-F238E27FC236}">
                <a16:creationId xmlns:a16="http://schemas.microsoft.com/office/drawing/2014/main" id="{7A48F39C-CA8B-4781-8BBF-037425EC3FCD}"/>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Estimación clásica</a:t>
            </a:r>
          </a:p>
        </p:txBody>
      </p:sp>
      <p:sp>
        <p:nvSpPr>
          <p:cNvPr id="2" name="text-ydro7r-1190-670">
            <a:extLst xmlns:a="http://schemas.openxmlformats.org/drawingml/2006/main">
              <a:ext uri="{FF2B5EF4-FFF2-40B4-BE49-F238E27FC236}">
                <a16:creationId xmlns:a16="http://schemas.microsoft.com/office/drawing/2014/main" id="{07F04F35-CD2A-496A-8E27-F5CCEA0196CF}"/>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05</a:t>
            </a:r>
          </a:p>
        </p:txBody>
      </p:sp>
      <p:graphicFrame>
        <p:nvGraphicFramePr>
          <p:cNvPr id="8" name=""/>
          <p:cNvGraphicFramePr/>
          <p:nvPr/>
        </p:nvGraphicFramePr>
        <p:xfrm>
          <a:off xmlns:a="http://schemas.openxmlformats.org/drawingml/2006/main" x="685800" y="1647825"/>
          <a:ext xmlns:a="http://schemas.openxmlformats.org/drawingml/2006/main" cx="10820400" cy="2857500"/>
        </p:xfrm>
        <a:graphic xmlns:a="http://schemas.openxmlformats.org/drawingml/2006/main">
          <a:graphicData uri="http://schemas.openxmlformats.org/drawingml/2006/table">
            <a:tbl>
              <a:tblPr/>
              <a:tblGrid>
                <a:gridCol w="3155950"/>
                <a:gridCol w="1803400"/>
                <a:gridCol w="2254250"/>
                <a:gridCol w="3606800"/>
              </a:tblGrid>
              <a:tr h="714375">
                <a:tc>
                  <a:txBody>
                    <a:bodyPr/>
                    <a:lstStyle/>
                    <a:p>
                      <a:r>
                        <a:rPr sz="1800" b="1">
                          <a:solidFill>
                            <a:srgbClr val="FFFFFF"/>
                          </a:solidFill>
                          <a:latin typeface="Arial"/>
                          <a:ea typeface="Arial"/>
                          <a:cs typeface="Arial"/>
                        </a:rPr>
                        <a:t>Estimador</a:t>
                      </a:r>
                    </a:p>
                  </a:txBody>
                  <a:tcPr marL="114300" marR="114300" marT="95250" marB="95250">
                    <a:solidFill>
                      <a:srgbClr val="182F3B"/>
                    </a:solidFill>
                  </a:tcPr>
                </a:tc>
                <a:tc>
                  <a:txBody>
                    <a:bodyPr/>
                    <a:lstStyle/>
                    <a:p>
                      <a:r>
                        <a:rPr sz="1800" b="1">
                          <a:solidFill>
                            <a:srgbClr val="FFFFFF"/>
                          </a:solidFill>
                          <a:latin typeface="Arial"/>
                          <a:ea typeface="Arial"/>
                          <a:cs typeface="Arial"/>
                        </a:rPr>
                        <a:t>Valor</a:t>
                      </a:r>
                    </a:p>
                  </a:txBody>
                  <a:tcPr marL="114300" marR="114300" marT="95250" marB="95250">
                    <a:solidFill>
                      <a:srgbClr val="182F3B"/>
                    </a:solidFill>
                  </a:tcPr>
                </a:tc>
                <a:tc>
                  <a:txBody>
                    <a:bodyPr/>
                    <a:lstStyle/>
                    <a:p>
                      <a:r>
                        <a:rPr sz="1800" b="1">
                          <a:solidFill>
                            <a:srgbClr val="FFFFFF"/>
                          </a:solidFill>
                          <a:latin typeface="Arial"/>
                          <a:ea typeface="Arial"/>
                          <a:cs typeface="Arial"/>
                        </a:rPr>
                        <a:t>Error estándar</a:t>
                      </a:r>
                    </a:p>
                  </a:txBody>
                  <a:tcPr marL="114300" marR="114300" marT="95250" marB="95250">
                    <a:solidFill>
                      <a:srgbClr val="182F3B"/>
                    </a:solidFill>
                  </a:tcPr>
                </a:tc>
                <a:tc>
                  <a:txBody>
                    <a:bodyPr/>
                    <a:lstStyle/>
                    <a:p>
                      <a:r>
                        <a:rPr sz="1800" b="1">
                          <a:solidFill>
                            <a:srgbClr val="FFFFFF"/>
                          </a:solidFill>
                          <a:latin typeface="Arial"/>
                          <a:ea typeface="Arial"/>
                          <a:cs typeface="Arial"/>
                        </a:rPr>
                        <a:t>IC 95%</a:t>
                      </a:r>
                    </a:p>
                  </a:txBody>
                  <a:tcPr marL="114300" marR="114300" marT="95250" marB="95250">
                    <a:solidFill>
                      <a:srgbClr val="182F3B"/>
                    </a:solidFill>
                  </a:tcPr>
                </a:tc>
              </a:tr>
              <a:tr h="714375">
                <a:tc>
                  <a:txBody>
                    <a:bodyPr/>
                    <a:lstStyle/>
                    <a:p>
                      <a:r>
                        <a:rPr sz="1800">
                          <a:solidFill>
                            <a:srgbClr val="182F3B"/>
                          </a:solidFill>
                          <a:latin typeface="Arial"/>
                          <a:ea typeface="Arial"/>
                          <a:cs typeface="Arial"/>
                        </a:rPr>
                        <a:t>Media Manhattan</a:t>
                      </a:r>
                    </a:p>
                  </a:txBody>
                  <a:tcPr marL="114300" marR="114300" marT="95250" marB="95250">
                    <a:solidFill>
                      <a:srgbClr val="F0F3F2"/>
                    </a:solidFill>
                  </a:tcPr>
                </a:tc>
                <a:tc>
                  <a:txBody>
                    <a:bodyPr/>
                    <a:lstStyle/>
                    <a:p>
                      <a:r>
                        <a:rPr sz="1800">
                          <a:solidFill>
                            <a:srgbClr val="182F3B"/>
                          </a:solidFill>
                          <a:latin typeface="Arial"/>
                          <a:ea typeface="Arial"/>
                          <a:cs typeface="Arial"/>
                        </a:rPr>
                        <a:t>3,2765</a:t>
                      </a:r>
                    </a:p>
                  </a:txBody>
                  <a:tcPr marL="114300" marR="114300" marT="95250" marB="95250">
                    <a:solidFill>
                      <a:srgbClr val="F0F3F2"/>
                    </a:solidFill>
                  </a:tcPr>
                </a:tc>
                <a:tc>
                  <a:txBody>
                    <a:bodyPr/>
                    <a:lstStyle/>
                    <a:p>
                      <a:r>
                        <a:rPr sz="1800">
                          <a:solidFill>
                            <a:srgbClr val="182F3B"/>
                          </a:solidFill>
                          <a:latin typeface="Arial"/>
                          <a:ea typeface="Arial"/>
                          <a:cs typeface="Arial"/>
                        </a:rPr>
                        <a:t>0,00619</a:t>
                      </a:r>
                    </a:p>
                  </a:txBody>
                  <a:tcPr marL="114300" marR="114300" marT="95250" marB="95250">
                    <a:solidFill>
                      <a:srgbClr val="F0F3F2"/>
                    </a:solidFill>
                  </a:tcPr>
                </a:tc>
                <a:tc>
                  <a:txBody>
                    <a:bodyPr/>
                    <a:lstStyle/>
                    <a:p>
                      <a:r>
                        <a:rPr sz="1800">
                          <a:solidFill>
                            <a:srgbClr val="182F3B"/>
                          </a:solidFill>
                          <a:latin typeface="Arial"/>
                          <a:ea typeface="Arial"/>
                          <a:cs typeface="Arial"/>
                        </a:rPr>
                        <a:t>[3,2644; 3,2887]</a:t>
                      </a:r>
                    </a:p>
                  </a:txBody>
                  <a:tcPr marL="114300" marR="114300" marT="95250" marB="95250">
                    <a:solidFill>
                      <a:srgbClr val="F0F3F2"/>
                    </a:solidFill>
                  </a:tcPr>
                </a:tc>
              </a:tr>
              <a:tr h="714375">
                <a:tc>
                  <a:txBody>
                    <a:bodyPr/>
                    <a:lstStyle/>
                    <a:p>
                      <a:r>
                        <a:rPr sz="1800">
                          <a:solidFill>
                            <a:srgbClr val="182F3B"/>
                          </a:solidFill>
                          <a:latin typeface="Arial"/>
                          <a:ea typeface="Arial"/>
                          <a:cs typeface="Arial"/>
                        </a:rPr>
                        <a:t>Media Brooklyn</a:t>
                      </a:r>
                    </a:p>
                  </a:txBody>
                  <a:tcPr marL="114300" marR="114300" marT="95250" marB="95250">
                    <a:solidFill>
                      <a:srgbClr val="FFFFFF"/>
                    </a:solidFill>
                  </a:tcPr>
                </a:tc>
                <a:tc>
                  <a:txBody>
                    <a:bodyPr/>
                    <a:lstStyle/>
                    <a:p>
                      <a:r>
                        <a:rPr sz="1800">
                          <a:solidFill>
                            <a:srgbClr val="182F3B"/>
                          </a:solidFill>
                          <a:latin typeface="Arial"/>
                          <a:ea typeface="Arial"/>
                          <a:cs typeface="Arial"/>
                        </a:rPr>
                        <a:t>3,2585</a:t>
                      </a:r>
                    </a:p>
                  </a:txBody>
                  <a:tcPr marL="114300" marR="114300" marT="95250" marB="95250">
                    <a:solidFill>
                      <a:srgbClr val="FFFFFF"/>
                    </a:solidFill>
                  </a:tcPr>
                </a:tc>
                <a:tc>
                  <a:txBody>
                    <a:bodyPr/>
                    <a:lstStyle/>
                    <a:p>
                      <a:r>
                        <a:rPr sz="1800">
                          <a:solidFill>
                            <a:srgbClr val="182F3B"/>
                          </a:solidFill>
                          <a:latin typeface="Arial"/>
                          <a:ea typeface="Arial"/>
                          <a:cs typeface="Arial"/>
                        </a:rPr>
                        <a:t>0,00636</a:t>
                      </a:r>
                    </a:p>
                  </a:txBody>
                  <a:tcPr marL="114300" marR="114300" marT="95250" marB="95250">
                    <a:solidFill>
                      <a:srgbClr val="FFFFFF"/>
                    </a:solidFill>
                  </a:tcPr>
                </a:tc>
                <a:tc>
                  <a:txBody>
                    <a:bodyPr/>
                    <a:lstStyle/>
                    <a:p>
                      <a:r>
                        <a:rPr sz="1800">
                          <a:solidFill>
                            <a:srgbClr val="182F3B"/>
                          </a:solidFill>
                          <a:latin typeface="Arial"/>
                          <a:ea typeface="Arial"/>
                          <a:cs typeface="Arial"/>
                        </a:rPr>
                        <a:t>[3,2460; 3,2709]</a:t>
                      </a:r>
                    </a:p>
                  </a:txBody>
                  <a:tcPr marL="114300" marR="114300" marT="95250" marB="95250">
                    <a:solidFill>
                      <a:srgbClr val="FFFFFF"/>
                    </a:solidFill>
                  </a:tcPr>
                </a:tc>
              </a:tr>
              <a:tr h="714375">
                <a:tc>
                  <a:txBody>
                    <a:bodyPr/>
                    <a:lstStyle/>
                    <a:p>
                      <a:r>
                        <a:rPr sz="1800">
                          <a:solidFill>
                            <a:srgbClr val="182F3B"/>
                          </a:solidFill>
                          <a:latin typeface="Arial"/>
                          <a:ea typeface="Arial"/>
                          <a:cs typeface="Arial"/>
                        </a:rPr>
                        <a:t>Diferencia M − B</a:t>
                      </a:r>
                    </a:p>
                  </a:txBody>
                  <a:tcPr marL="114300" marR="114300" marT="95250" marB="95250">
                    <a:solidFill>
                      <a:srgbClr val="F0F3F2"/>
                    </a:solidFill>
                  </a:tcPr>
                </a:tc>
                <a:tc>
                  <a:txBody>
                    <a:bodyPr/>
                    <a:lstStyle/>
                    <a:p>
                      <a:r>
                        <a:rPr sz="1800">
                          <a:solidFill>
                            <a:srgbClr val="182F3B"/>
                          </a:solidFill>
                          <a:latin typeface="Arial"/>
                          <a:ea typeface="Arial"/>
                          <a:cs typeface="Arial"/>
                        </a:rPr>
                        <a:t>0,0181</a:t>
                      </a:r>
                    </a:p>
                  </a:txBody>
                  <a:tcPr marL="114300" marR="114300" marT="95250" marB="95250">
                    <a:solidFill>
                      <a:srgbClr val="F0F3F2"/>
                    </a:solidFill>
                  </a:tcPr>
                </a:tc>
                <a:tc>
                  <a:txBody>
                    <a:bodyPr/>
                    <a:lstStyle/>
                    <a:p>
                      <a:r>
                        <a:rPr sz="1800">
                          <a:solidFill>
                            <a:srgbClr val="182F3B"/>
                          </a:solidFill>
                          <a:latin typeface="Arial"/>
                          <a:ea typeface="Arial"/>
                          <a:cs typeface="Arial"/>
                        </a:rPr>
                        <a:t>0,00888</a:t>
                      </a:r>
                    </a:p>
                  </a:txBody>
                  <a:tcPr marL="114300" marR="114300" marT="95250" marB="95250">
                    <a:solidFill>
                      <a:srgbClr val="F0F3F2"/>
                    </a:solidFill>
                  </a:tcPr>
                </a:tc>
                <a:tc>
                  <a:txBody>
                    <a:bodyPr/>
                    <a:lstStyle/>
                    <a:p>
                      <a:r>
                        <a:rPr sz="1800">
                          <a:solidFill>
                            <a:srgbClr val="182F3B"/>
                          </a:solidFill>
                          <a:latin typeface="Arial"/>
                          <a:ea typeface="Arial"/>
                          <a:cs typeface="Arial"/>
                        </a:rPr>
                        <a:t>[0,0007; 0,0355]</a:t>
                      </a:r>
                    </a:p>
                  </a:txBody>
                  <a:tcPr marL="114300" marR="114300" marT="95250" marB="95250">
                    <a:solidFill>
                      <a:srgbClr val="F0F3F2"/>
                    </a:solidFill>
                  </a:tcPr>
                </a:tc>
              </a:tr>
            </a:tbl>
          </a:graphicData>
        </a:graphic>
      </p:graphicFrame>
      <p:sp>
        <p:nvSpPr>
          <p:cNvPr id="4" name="text-ydro7r-72-520">
            <a:extLst xmlns:a="http://schemas.openxmlformats.org/drawingml/2006/main">
              <a:ext uri="{FF2B5EF4-FFF2-40B4-BE49-F238E27FC236}">
                <a16:creationId xmlns:a16="http://schemas.microsoft.com/office/drawing/2014/main" id="{47F0C5A9-CD68-4501-B36D-644F29B3E033}"/>
              </a:ext>
            </a:extLst>
          </p:cNvPr>
          <p:cNvSpPr>
            <a:spLocks xmlns:a="http://schemas.openxmlformats.org/drawingml/2006/main" noGrp="1"/>
          </p:cNvSpPr>
          <p:nvPr/>
        </p:nvSpPr>
        <p:spPr>
          <a:xfrm xmlns:a="http://schemas.openxmlformats.org/drawingml/2006/main">
            <a:off x="685800" y="49530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150" b="1">
                <a:solidFill>
                  <a:srgbClr val="087E8B"/>
                </a:solidFill>
                <a:latin typeface="Arial"/>
                <a:ea typeface="Arial"/>
                <a:cs typeface="Arial"/>
              </a:defRPr>
            </a:pPr>
            <a:r>
              <a:rPr sz="3150" b="1">
                <a:solidFill>
                  <a:srgbClr val="087E8B"/>
                </a:solidFill>
                <a:latin typeface="Arial"/>
                <a:ea typeface="Arial"/>
                <a:cs typeface="Arial"/>
              </a:rPr>
              <a:t>0,0181 puntos de diferencia</a:t>
            </a:r>
          </a:p>
        </p:txBody>
      </p:sp>
      <p:sp>
        <p:nvSpPr>
          <p:cNvPr id="5" name="text-ydro7r-72-600">
            <a:extLst xmlns:a="http://schemas.openxmlformats.org/drawingml/2006/main">
              <a:ext uri="{FF2B5EF4-FFF2-40B4-BE49-F238E27FC236}">
                <a16:creationId xmlns:a16="http://schemas.microsoft.com/office/drawing/2014/main" id="{50E883F8-A750-4AF1-ABFF-5B663C015A31}"/>
              </a:ext>
            </a:extLst>
          </p:cNvPr>
          <p:cNvSpPr>
            <a:spLocks xmlns:a="http://schemas.openxmlformats.org/drawingml/2006/main" noGrp="1"/>
          </p:cNvSpPr>
          <p:nvPr/>
        </p:nvSpPr>
        <p:spPr>
          <a:xfrm xmlns:a="http://schemas.openxmlformats.org/drawingml/2006/main">
            <a:off x="685800"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516674"/>
                </a:solidFill>
                <a:latin typeface="Arial"/>
                <a:ea typeface="Arial"/>
                <a:cs typeface="Arial"/>
              </a:defRPr>
            </a:pPr>
            <a:r>
              <a:rPr sz="1800" b="0">
                <a:solidFill>
                  <a:srgbClr val="516674"/>
                </a:solidFill>
                <a:latin typeface="Arial"/>
                <a:ea typeface="Arial"/>
                <a:cs typeface="Arial"/>
              </a:rPr>
              <a:t>IC aproximados de muestra grande. El límite inferior queda cerca de cero.</a:t>
            </a:r>
          </a:p>
        </p:txBody>
      </p:sp>
    </p:spTree>
    <p:extLst>
      <p:ext uri="{BB962C8B-B14F-4D97-AF65-F5344CB8AC3E}">
        <p14:creationId xmlns:p14="http://schemas.microsoft.com/office/powerpoint/2010/main" val="363456631"/>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text-4vuvp7-72-44">
            <a:extLst xmlns:a="http://schemas.openxmlformats.org/drawingml/2006/main">
              <a:ext uri="{FF2B5EF4-FFF2-40B4-BE49-F238E27FC236}">
                <a16:creationId xmlns:a16="http://schemas.microsoft.com/office/drawing/2014/main" id="{96F83146-D5E1-4639-8077-19D43114EE2E}"/>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Bootstrap propio</a:t>
            </a:r>
          </a:p>
        </p:txBody>
      </p:sp>
      <p:sp>
        <p:nvSpPr>
          <p:cNvPr id="2" name="text-4vuvp7-1190-670">
            <a:extLst xmlns:a="http://schemas.openxmlformats.org/drawingml/2006/main">
              <a:ext uri="{FF2B5EF4-FFF2-40B4-BE49-F238E27FC236}">
                <a16:creationId xmlns:a16="http://schemas.microsoft.com/office/drawing/2014/main" id="{4C57FDD2-6AAD-483D-B306-0556BB426262}"/>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06</a:t>
            </a:r>
          </a:p>
        </p:txBody>
      </p:sp>
      <p:sp>
        <p:nvSpPr>
          <p:cNvPr id="3" name="text-4vuvp7-72-166">
            <a:extLst xmlns:a="http://schemas.openxmlformats.org/drawingml/2006/main">
              <a:ext uri="{FF2B5EF4-FFF2-40B4-BE49-F238E27FC236}">
                <a16:creationId xmlns:a16="http://schemas.microsoft.com/office/drawing/2014/main" id="{B0A9D7EB-B5F6-42AE-8B8D-32422288723A}"/>
              </a:ext>
            </a:extLst>
          </p:cNvPr>
          <p:cNvSpPr>
            <a:spLocks xmlns:a="http://schemas.openxmlformats.org/drawingml/2006/main" noGrp="1"/>
          </p:cNvSpPr>
          <p:nvPr/>
        </p:nvSpPr>
        <p:spPr>
          <a:xfrm xmlns:a="http://schemas.openxmlformats.org/drawingml/2006/main">
            <a:off x="685800" y="1581150"/>
            <a:ext cx="10382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1. Sortear anuncios con reemplazo dentro de cada distrito.</a:t>
            </a:r>
          </a:p>
        </p:txBody>
      </p:sp>
      <p:sp>
        <p:nvSpPr>
          <p:cNvPr id="4" name="text-4vuvp7-72-274">
            <a:extLst xmlns:a="http://schemas.openxmlformats.org/drawingml/2006/main">
              <a:ext uri="{FF2B5EF4-FFF2-40B4-BE49-F238E27FC236}">
                <a16:creationId xmlns:a16="http://schemas.microsoft.com/office/drawing/2014/main" id="{D7D51629-9A7C-40F7-ABAE-A8D1C7374B1D}"/>
              </a:ext>
            </a:extLst>
          </p:cNvPr>
          <p:cNvSpPr>
            <a:spLocks xmlns:a="http://schemas.openxmlformats.org/drawingml/2006/main" noGrp="1"/>
          </p:cNvSpPr>
          <p:nvPr/>
        </p:nvSpPr>
        <p:spPr>
          <a:xfrm xmlns:a="http://schemas.openxmlformats.org/drawingml/2006/main">
            <a:off x="685800" y="2609850"/>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2. Mantener nM y nB. Calcular ambas medias y su diferencia.</a:t>
            </a:r>
          </a:p>
        </p:txBody>
      </p:sp>
      <p:sp>
        <p:nvSpPr>
          <p:cNvPr id="5" name="text-4vuvp7-72-390">
            <a:extLst xmlns:a="http://schemas.openxmlformats.org/drawingml/2006/main">
              <a:ext uri="{FF2B5EF4-FFF2-40B4-BE49-F238E27FC236}">
                <a16:creationId xmlns:a16="http://schemas.microsoft.com/office/drawing/2014/main" id="{67B23B3C-BCD9-4315-B391-4413BC8F5944}"/>
              </a:ext>
            </a:extLst>
          </p:cNvPr>
          <p:cNvSpPr>
            <a:spLocks xmlns:a="http://schemas.openxmlformats.org/drawingml/2006/main" noGrp="1"/>
          </p:cNvSpPr>
          <p:nvPr/>
        </p:nvSpPr>
        <p:spPr>
          <a:xfrm xmlns:a="http://schemas.openxmlformats.org/drawingml/2006/main">
            <a:off x="685800" y="3714750"/>
            <a:ext cx="10382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182F3B"/>
                </a:solidFill>
                <a:latin typeface="Arial"/>
                <a:ea typeface="Arial"/>
                <a:cs typeface="Arial"/>
              </a:defRPr>
            </a:pPr>
            <a:r>
              <a:rPr sz="2250" b="0">
                <a:solidFill>
                  <a:srgbClr val="182F3B"/>
                </a:solidFill>
                <a:latin typeface="Arial"/>
                <a:ea typeface="Arial"/>
                <a:cs typeface="Arial"/>
              </a:rPr>
              <a:t>3. Repetir 20.000 veces y guardar los estadísticos.</a:t>
            </a:r>
          </a:p>
        </p:txBody>
      </p:sp>
      <p:sp>
        <p:nvSpPr>
          <p:cNvPr id="6" name="text-4vuvp7-72-507">
            <a:extLst xmlns:a="http://schemas.openxmlformats.org/drawingml/2006/main">
              <a:ext uri="{FF2B5EF4-FFF2-40B4-BE49-F238E27FC236}">
                <a16:creationId xmlns:a16="http://schemas.microsoft.com/office/drawing/2014/main" id="{2A643252-86D2-4967-B718-A5262E3ABC7D}"/>
              </a:ext>
            </a:extLst>
          </p:cNvPr>
          <p:cNvSpPr>
            <a:spLocks xmlns:a="http://schemas.openxmlformats.org/drawingml/2006/main" noGrp="1"/>
          </p:cNvSpPr>
          <p:nvPr/>
        </p:nvSpPr>
        <p:spPr>
          <a:xfrm xmlns:a="http://schemas.openxmlformats.org/drawingml/2006/main">
            <a:off x="685800" y="48291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EE bootstrap = desviación estándar de las réplicas</a:t>
            </a:r>
          </a:p>
        </p:txBody>
      </p:sp>
      <p:sp>
        <p:nvSpPr>
          <p:cNvPr id="7" name="text-4vuvp7-72-575">
            <a:extLst xmlns:a="http://schemas.openxmlformats.org/drawingml/2006/main">
              <a:ext uri="{FF2B5EF4-FFF2-40B4-BE49-F238E27FC236}">
                <a16:creationId xmlns:a16="http://schemas.microsoft.com/office/drawing/2014/main" id="{61D9884A-D782-428A-AD35-0FF95F57A66E}"/>
              </a:ext>
            </a:extLst>
          </p:cNvPr>
          <p:cNvSpPr>
            <a:spLocks xmlns:a="http://schemas.openxmlformats.org/drawingml/2006/main" noGrp="1"/>
          </p:cNvSpPr>
          <p:nvPr/>
        </p:nvSpPr>
        <p:spPr>
          <a:xfrm xmlns:a="http://schemas.openxmlformats.org/drawingml/2006/main">
            <a:off x="685800" y="54768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IC percentil = percentiles 2,5 y 97,5</a:t>
            </a:r>
          </a:p>
        </p:txBody>
      </p:sp>
      <p:sp>
        <p:nvSpPr>
          <p:cNvPr id="8" name="text-4vuvp7-72-640">
            <a:extLst xmlns:a="http://schemas.openxmlformats.org/drawingml/2006/main">
              <a:ext uri="{FF2B5EF4-FFF2-40B4-BE49-F238E27FC236}">
                <a16:creationId xmlns:a16="http://schemas.microsoft.com/office/drawing/2014/main" id="{E9F0269A-C2AC-41BC-9386-1AD8720EFA22}"/>
              </a:ext>
            </a:extLst>
          </p:cNvPr>
          <p:cNvSpPr>
            <a:spLocks xmlns:a="http://schemas.openxmlformats.org/drawingml/2006/main" noGrp="1"/>
          </p:cNvSpPr>
          <p:nvPr/>
        </p:nvSpPr>
        <p:spPr>
          <a:xfrm xmlns:a="http://schemas.openxmlformats.org/drawingml/2006/main">
            <a:off x="685800" y="60960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16674"/>
                </a:solidFill>
                <a:latin typeface="Arial"/>
                <a:ea typeface="Arial"/>
                <a:cs typeface="Arial"/>
              </a:defRPr>
            </a:pPr>
            <a:r>
              <a:rPr sz="1650" b="0">
                <a:solidFill>
                  <a:srgbClr val="516674"/>
                </a:solidFill>
                <a:latin typeface="Arial"/>
                <a:ea typeface="Arial"/>
                <a:cs typeface="Arial"/>
              </a:rPr>
              <a:t>Efron (1979): aproximar la incertidumbre desde la muestra.</a:t>
            </a:r>
          </a:p>
        </p:txBody>
      </p:sp>
    </p:spTree>
    <p:extLst>
      <p:ext uri="{BB962C8B-B14F-4D97-AF65-F5344CB8AC3E}">
        <p14:creationId xmlns:p14="http://schemas.microsoft.com/office/powerpoint/2010/main" val="1148589904"/>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wmda7a-72-44">
            <a:extLst xmlns:a="http://schemas.openxmlformats.org/drawingml/2006/main">
              <a:ext uri="{FF2B5EF4-FFF2-40B4-BE49-F238E27FC236}">
                <a16:creationId xmlns:a16="http://schemas.microsoft.com/office/drawing/2014/main" id="{ED756CE6-BEB1-4CF3-A013-5CA0325659C9}"/>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Distribuciones bootstrap de las medias</a:t>
            </a:r>
          </a:p>
        </p:txBody>
      </p:sp>
      <p:sp>
        <p:nvSpPr>
          <p:cNvPr id="2" name="text-wmda7a-1190-670">
            <a:extLst xmlns:a="http://schemas.openxmlformats.org/drawingml/2006/main">
              <a:ext uri="{FF2B5EF4-FFF2-40B4-BE49-F238E27FC236}">
                <a16:creationId xmlns:a16="http://schemas.microsoft.com/office/drawing/2014/main" id="{9F6091DD-3BFC-4C10-B28F-DE037B60DB29}"/>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07</a:t>
            </a:r>
          </a:p>
        </p:txBody>
      </p:sp>
      <p:graphicFrame>
        <p:nvGraphicFramePr>
          <p:cNvPr id="8" name="Chart"/>
          <p:cNvGraphicFramePr/>
          <p:nvPr/>
        </p:nvGraphicFramePr>
        <p:xfrm>
          <a:off xmlns:a="http://schemas.openxmlformats.org/drawingml/2006/main" x="800100" y="1476375"/>
          <a:ext xmlns:a="http://schemas.openxmlformats.org/drawingml/2006/main" cx="10477500" cy="3905250"/>
        </p:xfrm>
        <a:graphic xmlns:a="http://schemas.openxmlformats.org/drawingml/2006/main">
          <a:graphicData uri="http://schemas.openxmlformats.org/drawingml/2006/chart">
            <c:chart xmlns:r="http://schemas.openxmlformats.org/officeDocument/2006/relationships" xmlns:c="http://schemas.openxmlformats.org/drawingml/2006/chart" r:id="Rb42ef6617c244972"/>
          </a:graphicData>
        </a:graphic>
      </p:graphicFrame>
      <p:sp>
        <p:nvSpPr>
          <p:cNvPr id="4" name="text-wmda7a-72-592">
            <a:extLst xmlns:a="http://schemas.openxmlformats.org/drawingml/2006/main">
              <a:ext uri="{FF2B5EF4-FFF2-40B4-BE49-F238E27FC236}">
                <a16:creationId xmlns:a16="http://schemas.microsoft.com/office/drawing/2014/main" id="{E4A0EC7F-E858-42EA-A5CE-85977CB25A4F}"/>
              </a:ext>
            </a:extLst>
          </p:cNvPr>
          <p:cNvSpPr>
            <a:spLocks xmlns:a="http://schemas.openxmlformats.org/drawingml/2006/main" noGrp="1"/>
          </p:cNvSpPr>
          <p:nvPr/>
        </p:nvSpPr>
        <p:spPr>
          <a:xfrm xmlns:a="http://schemas.openxmlformats.org/drawingml/2006/main">
            <a:off x="685800" y="56388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20.000 réplicas de cada media, con tamaños originales.</a:t>
            </a:r>
          </a:p>
        </p:txBody>
      </p:sp>
      <p:sp>
        <p:nvSpPr>
          <p:cNvPr id="5" name="text-wmda7a-72-646">
            <a:extLst xmlns:a="http://schemas.openxmlformats.org/drawingml/2006/main">
              <a:ext uri="{FF2B5EF4-FFF2-40B4-BE49-F238E27FC236}">
                <a16:creationId xmlns:a16="http://schemas.microsoft.com/office/drawing/2014/main" id="{79E4D0FA-E727-41E1-B5D1-4A8BAC8E111D}"/>
              </a:ext>
            </a:extLst>
          </p:cNvPr>
          <p:cNvSpPr>
            <a:spLocks xmlns:a="http://schemas.openxmlformats.org/drawingml/2006/main" noGrp="1"/>
          </p:cNvSpPr>
          <p:nvPr/>
        </p:nvSpPr>
        <p:spPr>
          <a:xfrm xmlns:a="http://schemas.openxmlformats.org/drawingml/2006/main">
            <a:off x="685800" y="61531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16674"/>
                </a:solidFill>
                <a:latin typeface="Arial"/>
                <a:ea typeface="Arial"/>
                <a:cs typeface="Arial"/>
              </a:defRPr>
            </a:pPr>
            <a:r>
              <a:rPr sz="1650" b="0">
                <a:solidFill>
                  <a:srgbClr val="516674"/>
                </a:solidFill>
                <a:latin typeface="Arial"/>
                <a:ea typeface="Arial"/>
                <a:cs typeface="Arial"/>
              </a:rPr>
              <a:t>El contraste entre distritos usa la distribución de la diferencia.</a:t>
            </a:r>
          </a:p>
        </p:txBody>
      </p:sp>
    </p:spTree>
    <p:extLst>
      <p:ext uri="{BB962C8B-B14F-4D97-AF65-F5344CB8AC3E}">
        <p14:creationId xmlns:p14="http://schemas.microsoft.com/office/powerpoint/2010/main" val="1743534699"/>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text-hvv2mk-72-44">
            <a:extLst xmlns:a="http://schemas.openxmlformats.org/drawingml/2006/main">
              <a:ext uri="{FF2B5EF4-FFF2-40B4-BE49-F238E27FC236}">
                <a16:creationId xmlns:a16="http://schemas.microsoft.com/office/drawing/2014/main" id="{3E162B79-DABF-4C7A-8DD3-198321672D75}"/>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Incertidumbre de la diferencia</a:t>
            </a:r>
          </a:p>
        </p:txBody>
      </p:sp>
      <p:sp>
        <p:nvSpPr>
          <p:cNvPr id="2" name="text-hvv2mk-1190-670">
            <a:extLst xmlns:a="http://schemas.openxmlformats.org/drawingml/2006/main">
              <a:ext uri="{FF2B5EF4-FFF2-40B4-BE49-F238E27FC236}">
                <a16:creationId xmlns:a16="http://schemas.microsoft.com/office/drawing/2014/main" id="{251EBDC0-0B31-49C6-BD9C-606688F54111}"/>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08</a:t>
            </a:r>
          </a:p>
        </p:txBody>
      </p:sp>
      <p:graphicFrame>
        <p:nvGraphicFramePr>
          <p:cNvPr id="7" name="Chart"/>
          <p:cNvGraphicFramePr/>
          <p:nvPr/>
        </p:nvGraphicFramePr>
        <p:xfrm>
          <a:off xmlns:a="http://schemas.openxmlformats.org/drawingml/2006/main" x="800100" y="1476375"/>
          <a:ext xmlns:a="http://schemas.openxmlformats.org/drawingml/2006/main" cx="10477500" cy="3905250"/>
        </p:xfrm>
        <a:graphic xmlns:a="http://schemas.openxmlformats.org/drawingml/2006/main">
          <a:graphicData uri="http://schemas.openxmlformats.org/drawingml/2006/chart">
            <c:chart xmlns:r="http://schemas.openxmlformats.org/officeDocument/2006/relationships" xmlns:c="http://schemas.openxmlformats.org/drawingml/2006/chart" r:id="R9d0bbf3b4e394f42"/>
          </a:graphicData>
        </a:graphic>
      </p:graphicFrame>
      <p:sp>
        <p:nvSpPr>
          <p:cNvPr id="4" name="text-hvv2mk-72-593">
            <a:extLst xmlns:a="http://schemas.openxmlformats.org/drawingml/2006/main">
              <a:ext uri="{FF2B5EF4-FFF2-40B4-BE49-F238E27FC236}">
                <a16:creationId xmlns:a16="http://schemas.microsoft.com/office/drawing/2014/main" id="{01DB0353-D7C7-48DB-96CE-5F8A3E8A4A24}"/>
              </a:ext>
            </a:extLst>
          </p:cNvPr>
          <p:cNvSpPr>
            <a:spLocks xmlns:a="http://schemas.openxmlformats.org/drawingml/2006/main" noGrp="1"/>
          </p:cNvSpPr>
          <p:nvPr/>
        </p:nvSpPr>
        <p:spPr>
          <a:xfrm xmlns:a="http://schemas.openxmlformats.org/drawingml/2006/main">
            <a:off x="685800" y="56483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IC bootstrap 95%: [0,0006; 0,0354]</a:t>
            </a:r>
          </a:p>
        </p:txBody>
      </p:sp>
    </p:spTree>
    <p:extLst>
      <p:ext uri="{BB962C8B-B14F-4D97-AF65-F5344CB8AC3E}">
        <p14:creationId xmlns:p14="http://schemas.microsoft.com/office/powerpoint/2010/main" val="1616390790"/>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hcw7no-72-44">
            <a:extLst xmlns:a="http://schemas.openxmlformats.org/drawingml/2006/main">
              <a:ext uri="{FF2B5EF4-FFF2-40B4-BE49-F238E27FC236}">
                <a16:creationId xmlns:a16="http://schemas.microsoft.com/office/drawing/2014/main" id="{39C69AB0-8D38-42C9-9CAE-26D7DDECA2F8}"/>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Comparación de ambos métodos</a:t>
            </a:r>
          </a:p>
        </p:txBody>
      </p:sp>
      <p:sp>
        <p:nvSpPr>
          <p:cNvPr id="2" name="text-hcw7no-1190-670">
            <a:extLst xmlns:a="http://schemas.openxmlformats.org/drawingml/2006/main">
              <a:ext uri="{FF2B5EF4-FFF2-40B4-BE49-F238E27FC236}">
                <a16:creationId xmlns:a16="http://schemas.microsoft.com/office/drawing/2014/main" id="{663D3463-9CA0-408B-A641-0140C3F5D8A5}"/>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09</a:t>
            </a:r>
          </a:p>
        </p:txBody>
      </p:sp>
      <p:graphicFrame>
        <p:nvGraphicFramePr>
          <p:cNvPr id="8" name=""/>
          <p:cNvGraphicFramePr/>
          <p:nvPr/>
        </p:nvGraphicFramePr>
        <p:xfrm>
          <a:off xmlns:a="http://schemas.openxmlformats.org/drawingml/2006/main" x="685800" y="1600200"/>
          <a:ext xmlns:a="http://schemas.openxmlformats.org/drawingml/2006/main" cx="10820400" cy="2857500"/>
        </p:xfrm>
        <a:graphic xmlns:a="http://schemas.openxmlformats.org/drawingml/2006/main">
          <a:graphicData uri="http://schemas.openxmlformats.org/drawingml/2006/table">
            <a:tbl>
              <a:tblPr/>
              <a:tblGrid>
                <a:gridCol w="4809067"/>
                <a:gridCol w="3005667"/>
                <a:gridCol w="3005667"/>
              </a:tblGrid>
              <a:tr h="714375">
                <a:tc>
                  <a:txBody>
                    <a:bodyPr/>
                    <a:lstStyle/>
                    <a:p>
                      <a:r>
                        <a:rPr sz="1800" b="1">
                          <a:solidFill>
                            <a:srgbClr val="FFFFFF"/>
                          </a:solidFill>
                          <a:latin typeface="Arial"/>
                          <a:ea typeface="Arial"/>
                          <a:cs typeface="Arial"/>
                        </a:rPr>
                        <a:t>Para Δ</a:t>
                      </a:r>
                    </a:p>
                  </a:txBody>
                  <a:tcPr marL="114300" marR="114300" marT="95250" marB="95250">
                    <a:solidFill>
                      <a:srgbClr val="182F3B"/>
                    </a:solidFill>
                  </a:tcPr>
                </a:tc>
                <a:tc>
                  <a:txBody>
                    <a:bodyPr/>
                    <a:lstStyle/>
                    <a:p>
                      <a:r>
                        <a:rPr sz="1800" b="1">
                          <a:solidFill>
                            <a:srgbClr val="FFFFFF"/>
                          </a:solidFill>
                          <a:latin typeface="Arial"/>
                          <a:ea typeface="Arial"/>
                          <a:cs typeface="Arial"/>
                        </a:rPr>
                        <a:t>Clásico</a:t>
                      </a:r>
                    </a:p>
                  </a:txBody>
                  <a:tcPr marL="114300" marR="114300" marT="95250" marB="95250">
                    <a:solidFill>
                      <a:srgbClr val="182F3B"/>
                    </a:solidFill>
                  </a:tcPr>
                </a:tc>
                <a:tc>
                  <a:txBody>
                    <a:bodyPr/>
                    <a:lstStyle/>
                    <a:p>
                      <a:r>
                        <a:rPr sz="1800" b="1">
                          <a:solidFill>
                            <a:srgbClr val="FFFFFF"/>
                          </a:solidFill>
                          <a:latin typeface="Arial"/>
                          <a:ea typeface="Arial"/>
                          <a:cs typeface="Arial"/>
                        </a:rPr>
                        <a:t>Bootstrap</a:t>
                      </a:r>
                    </a:p>
                  </a:txBody>
                  <a:tcPr marL="114300" marR="114300" marT="95250" marB="95250">
                    <a:solidFill>
                      <a:srgbClr val="182F3B"/>
                    </a:solidFill>
                  </a:tcPr>
                </a:tc>
              </a:tr>
              <a:tr h="714375">
                <a:tc>
                  <a:txBody>
                    <a:bodyPr/>
                    <a:lstStyle/>
                    <a:p>
                      <a:r>
                        <a:rPr sz="1800">
                          <a:solidFill>
                            <a:srgbClr val="182F3B"/>
                          </a:solidFill>
                          <a:latin typeface="Arial"/>
                          <a:ea typeface="Arial"/>
                          <a:cs typeface="Arial"/>
                        </a:rPr>
                        <a:t>Error estándar</a:t>
                      </a:r>
                    </a:p>
                  </a:txBody>
                  <a:tcPr marL="114300" marR="114300" marT="95250" marB="95250">
                    <a:solidFill>
                      <a:srgbClr val="F0F3F2"/>
                    </a:solidFill>
                  </a:tcPr>
                </a:tc>
                <a:tc>
                  <a:txBody>
                    <a:bodyPr/>
                    <a:lstStyle/>
                    <a:p>
                      <a:r>
                        <a:rPr sz="1800">
                          <a:solidFill>
                            <a:srgbClr val="182F3B"/>
                          </a:solidFill>
                          <a:latin typeface="Arial"/>
                          <a:ea typeface="Arial"/>
                          <a:cs typeface="Arial"/>
                        </a:rPr>
                        <a:t>0,008875</a:t>
                      </a:r>
                    </a:p>
                  </a:txBody>
                  <a:tcPr marL="114300" marR="114300" marT="95250" marB="95250">
                    <a:solidFill>
                      <a:srgbClr val="F0F3F2"/>
                    </a:solidFill>
                  </a:tcPr>
                </a:tc>
                <a:tc>
                  <a:txBody>
                    <a:bodyPr/>
                    <a:lstStyle/>
                    <a:p>
                      <a:r>
                        <a:rPr sz="1800">
                          <a:solidFill>
                            <a:srgbClr val="182F3B"/>
                          </a:solidFill>
                          <a:latin typeface="Arial"/>
                          <a:ea typeface="Arial"/>
                          <a:cs typeface="Arial"/>
                        </a:rPr>
                        <a:t>0,008844</a:t>
                      </a:r>
                    </a:p>
                  </a:txBody>
                  <a:tcPr marL="114300" marR="114300" marT="95250" marB="95250">
                    <a:solidFill>
                      <a:srgbClr val="F0F3F2"/>
                    </a:solidFill>
                  </a:tcPr>
                </a:tc>
              </a:tr>
              <a:tr h="714375">
                <a:tc>
                  <a:txBody>
                    <a:bodyPr/>
                    <a:lstStyle/>
                    <a:p>
                      <a:r>
                        <a:rPr sz="1800">
                          <a:solidFill>
                            <a:srgbClr val="182F3B"/>
                          </a:solidFill>
                          <a:latin typeface="Arial"/>
                          <a:ea typeface="Arial"/>
                          <a:cs typeface="Arial"/>
                        </a:rPr>
                        <a:t>Límite inferior 95%</a:t>
                      </a:r>
                    </a:p>
                  </a:txBody>
                  <a:tcPr marL="114300" marR="114300" marT="95250" marB="95250">
                    <a:solidFill>
                      <a:srgbClr val="FFFFFF"/>
                    </a:solidFill>
                  </a:tcPr>
                </a:tc>
                <a:tc>
                  <a:txBody>
                    <a:bodyPr/>
                    <a:lstStyle/>
                    <a:p>
                      <a:r>
                        <a:rPr sz="1800">
                          <a:solidFill>
                            <a:srgbClr val="182F3B"/>
                          </a:solidFill>
                          <a:latin typeface="Arial"/>
                          <a:ea typeface="Arial"/>
                          <a:cs typeface="Arial"/>
                        </a:rPr>
                        <a:t>0,000665</a:t>
                      </a:r>
                    </a:p>
                  </a:txBody>
                  <a:tcPr marL="114300" marR="114300" marT="95250" marB="95250">
                    <a:solidFill>
                      <a:srgbClr val="FFFFFF"/>
                    </a:solidFill>
                  </a:tcPr>
                </a:tc>
                <a:tc>
                  <a:txBody>
                    <a:bodyPr/>
                    <a:lstStyle/>
                    <a:p>
                      <a:r>
                        <a:rPr sz="1800">
                          <a:solidFill>
                            <a:srgbClr val="182F3B"/>
                          </a:solidFill>
                          <a:latin typeface="Arial"/>
                          <a:ea typeface="Arial"/>
                          <a:cs typeface="Arial"/>
                        </a:rPr>
                        <a:t>0,000550</a:t>
                      </a:r>
                    </a:p>
                  </a:txBody>
                  <a:tcPr marL="114300" marR="114300" marT="95250" marB="95250">
                    <a:solidFill>
                      <a:srgbClr val="FFFFFF"/>
                    </a:solidFill>
                  </a:tcPr>
                </a:tc>
              </a:tr>
              <a:tr h="714375">
                <a:tc>
                  <a:txBody>
                    <a:bodyPr/>
                    <a:lstStyle/>
                    <a:p>
                      <a:r>
                        <a:rPr sz="1800">
                          <a:solidFill>
                            <a:srgbClr val="182F3B"/>
                          </a:solidFill>
                          <a:latin typeface="Arial"/>
                          <a:ea typeface="Arial"/>
                          <a:cs typeface="Arial"/>
                        </a:rPr>
                        <a:t>Límite superior 95%</a:t>
                      </a:r>
                    </a:p>
                  </a:txBody>
                  <a:tcPr marL="114300" marR="114300" marT="95250" marB="95250">
                    <a:solidFill>
                      <a:srgbClr val="F0F3F2"/>
                    </a:solidFill>
                  </a:tcPr>
                </a:tc>
                <a:tc>
                  <a:txBody>
                    <a:bodyPr/>
                    <a:lstStyle/>
                    <a:p>
                      <a:r>
                        <a:rPr sz="1800">
                          <a:solidFill>
                            <a:srgbClr val="182F3B"/>
                          </a:solidFill>
                          <a:latin typeface="Arial"/>
                          <a:ea typeface="Arial"/>
                          <a:cs typeface="Arial"/>
                        </a:rPr>
                        <a:t>0,035455</a:t>
                      </a:r>
                    </a:p>
                  </a:txBody>
                  <a:tcPr marL="114300" marR="114300" marT="95250" marB="95250">
                    <a:solidFill>
                      <a:srgbClr val="F0F3F2"/>
                    </a:solidFill>
                  </a:tcPr>
                </a:tc>
                <a:tc>
                  <a:txBody>
                    <a:bodyPr/>
                    <a:lstStyle/>
                    <a:p>
                      <a:r>
                        <a:rPr sz="1800">
                          <a:solidFill>
                            <a:srgbClr val="182F3B"/>
                          </a:solidFill>
                          <a:latin typeface="Arial"/>
                          <a:ea typeface="Arial"/>
                          <a:cs typeface="Arial"/>
                        </a:rPr>
                        <a:t>0,035416</a:t>
                      </a:r>
                    </a:p>
                  </a:txBody>
                  <a:tcPr marL="114300" marR="114300" marT="95250" marB="95250">
                    <a:solidFill>
                      <a:srgbClr val="F0F3F2"/>
                    </a:solidFill>
                  </a:tcPr>
                </a:tc>
              </a:tr>
            </a:tbl>
          </a:graphicData>
        </a:graphic>
      </p:graphicFrame>
      <p:sp>
        <p:nvSpPr>
          <p:cNvPr id="4" name="text-hcw7no-72-520">
            <a:extLst xmlns:a="http://schemas.openxmlformats.org/drawingml/2006/main">
              <a:ext uri="{FF2B5EF4-FFF2-40B4-BE49-F238E27FC236}">
                <a16:creationId xmlns:a16="http://schemas.microsoft.com/office/drawing/2014/main" id="{4A40D9DA-2E98-4D57-B3A8-F9C42512FBE5}"/>
              </a:ext>
            </a:extLst>
          </p:cNvPr>
          <p:cNvSpPr>
            <a:spLocks xmlns:a="http://schemas.openxmlformats.org/drawingml/2006/main" noGrp="1"/>
          </p:cNvSpPr>
          <p:nvPr/>
        </p:nvSpPr>
        <p:spPr>
          <a:xfrm xmlns:a="http://schemas.openxmlformats.org/drawingml/2006/main">
            <a:off x="685800" y="49530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1">
                <a:solidFill>
                  <a:srgbClr val="087E8B"/>
                </a:solidFill>
                <a:latin typeface="Arial"/>
                <a:ea typeface="Arial"/>
                <a:cs typeface="Arial"/>
              </a:defRPr>
            </a:pPr>
            <a:r>
              <a:rPr sz="2625" b="1">
                <a:solidFill>
                  <a:srgbClr val="087E8B"/>
                </a:solidFill>
                <a:latin typeface="Arial"/>
                <a:ea typeface="Arial"/>
                <a:cs typeface="Arial"/>
              </a:rPr>
              <a:t>Razón de errores estándar: 0,996</a:t>
            </a:r>
          </a:p>
        </p:txBody>
      </p:sp>
      <p:sp>
        <p:nvSpPr>
          <p:cNvPr id="5" name="text-hcw7no-72-597">
            <a:extLst xmlns:a="http://schemas.openxmlformats.org/drawingml/2006/main">
              <a:ext uri="{FF2B5EF4-FFF2-40B4-BE49-F238E27FC236}">
                <a16:creationId xmlns:a16="http://schemas.microsoft.com/office/drawing/2014/main" id="{396E4536-E7BF-4F96-9D21-440447B16F7B}"/>
              </a:ext>
            </a:extLst>
          </p:cNvPr>
          <p:cNvSpPr>
            <a:spLocks xmlns:a="http://schemas.openxmlformats.org/drawingml/2006/main" noGrp="1"/>
          </p:cNvSpPr>
          <p:nvPr/>
        </p:nvSpPr>
        <p:spPr>
          <a:xfrm xmlns:a="http://schemas.openxmlformats.org/drawingml/2006/main">
            <a:off x="685800" y="56864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16674"/>
                </a:solidFill>
                <a:latin typeface="Arial"/>
                <a:ea typeface="Arial"/>
                <a:cs typeface="Arial"/>
              </a:defRPr>
            </a:pPr>
            <a:r>
              <a:rPr sz="2025" b="0">
                <a:solidFill>
                  <a:srgbClr val="516674"/>
                </a:solidFill>
                <a:latin typeface="Arial"/>
                <a:ea typeface="Arial"/>
                <a:cs typeface="Arial"/>
              </a:rPr>
              <a:t>La similitud depende de los datos, del estimador y de los supuestos.</a:t>
            </a:r>
          </a:p>
        </p:txBody>
      </p:sp>
    </p:spTree>
    <p:extLst>
      <p:ext uri="{BB962C8B-B14F-4D97-AF65-F5344CB8AC3E}">
        <p14:creationId xmlns:p14="http://schemas.microsoft.com/office/powerpoint/2010/main" val="1776207836"/>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ffxf6c-72-44">
            <a:extLst xmlns:a="http://schemas.openxmlformats.org/drawingml/2006/main">
              <a:ext uri="{FF2B5EF4-FFF2-40B4-BE49-F238E27FC236}">
                <a16:creationId xmlns:a16="http://schemas.microsoft.com/office/drawing/2014/main" id="{6D6C6A5B-16D4-4E5A-9046-B08F7BB2AD70}"/>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Estabilidad del bootstrap</a:t>
            </a:r>
          </a:p>
        </p:txBody>
      </p:sp>
      <p:sp>
        <p:nvSpPr>
          <p:cNvPr id="2" name="text-ffxf6c-1190-670">
            <a:extLst xmlns:a="http://schemas.openxmlformats.org/drawingml/2006/main">
              <a:ext uri="{FF2B5EF4-FFF2-40B4-BE49-F238E27FC236}">
                <a16:creationId xmlns:a16="http://schemas.microsoft.com/office/drawing/2014/main" id="{D4896FE5-3B36-4BB9-A776-8DDB45748D3A}"/>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10</a:t>
            </a:r>
          </a:p>
        </p:txBody>
      </p:sp>
      <p:graphicFrame>
        <p:nvGraphicFramePr>
          <p:cNvPr id="8" name=""/>
          <p:cNvGraphicFramePr/>
          <p:nvPr/>
        </p:nvGraphicFramePr>
        <p:xfrm>
          <a:off xmlns:a="http://schemas.openxmlformats.org/drawingml/2006/main" x="685800" y="1609725"/>
          <a:ext xmlns:a="http://schemas.openxmlformats.org/drawingml/2006/main" cx="10820400" cy="3048000"/>
        </p:xfrm>
        <a:graphic xmlns:a="http://schemas.openxmlformats.org/drawingml/2006/main">
          <a:graphicData uri="http://schemas.openxmlformats.org/drawingml/2006/table">
            <a:tbl>
              <a:tblPr/>
              <a:tblGrid>
                <a:gridCol w="2903034"/>
                <a:gridCol w="2639122"/>
                <a:gridCol w="2639122"/>
                <a:gridCol w="2639122"/>
              </a:tblGrid>
              <a:tr h="609600">
                <a:tc>
                  <a:txBody>
                    <a:bodyPr/>
                    <a:lstStyle/>
                    <a:p>
                      <a:r>
                        <a:rPr sz="1800" b="1">
                          <a:solidFill>
                            <a:srgbClr val="FFFFFF"/>
                          </a:solidFill>
                          <a:latin typeface="Arial"/>
                          <a:ea typeface="Arial"/>
                          <a:cs typeface="Arial"/>
                        </a:rPr>
                        <a:t>Réplicas B</a:t>
                      </a:r>
                    </a:p>
                  </a:txBody>
                  <a:tcPr marL="114300" marR="114300" marT="95250" marB="95250">
                    <a:solidFill>
                      <a:srgbClr val="182F3B"/>
                    </a:solidFill>
                  </a:tcPr>
                </a:tc>
                <a:tc>
                  <a:txBody>
                    <a:bodyPr/>
                    <a:lstStyle/>
                    <a:p>
                      <a:r>
                        <a:rPr sz="1800" b="1">
                          <a:solidFill>
                            <a:srgbClr val="FFFFFF"/>
                          </a:solidFill>
                          <a:latin typeface="Arial"/>
                          <a:ea typeface="Arial"/>
                          <a:cs typeface="Arial"/>
                        </a:rPr>
                        <a:t>EE de Δ</a:t>
                      </a:r>
                    </a:p>
                  </a:txBody>
                  <a:tcPr marL="114300" marR="114300" marT="95250" marB="95250">
                    <a:solidFill>
                      <a:srgbClr val="182F3B"/>
                    </a:solidFill>
                  </a:tcPr>
                </a:tc>
                <a:tc>
                  <a:txBody>
                    <a:bodyPr/>
                    <a:lstStyle/>
                    <a:p>
                      <a:r>
                        <a:rPr sz="1800" b="1">
                          <a:solidFill>
                            <a:srgbClr val="FFFFFF"/>
                          </a:solidFill>
                          <a:latin typeface="Arial"/>
                          <a:ea typeface="Arial"/>
                          <a:cs typeface="Arial"/>
                        </a:rPr>
                        <a:t>IC inferior</a:t>
                      </a:r>
                    </a:p>
                  </a:txBody>
                  <a:tcPr marL="114300" marR="114300" marT="95250" marB="95250">
                    <a:solidFill>
                      <a:srgbClr val="182F3B"/>
                    </a:solidFill>
                  </a:tcPr>
                </a:tc>
                <a:tc>
                  <a:txBody>
                    <a:bodyPr/>
                    <a:lstStyle/>
                    <a:p>
                      <a:r>
                        <a:rPr sz="1800" b="1">
                          <a:solidFill>
                            <a:srgbClr val="FFFFFF"/>
                          </a:solidFill>
                          <a:latin typeface="Arial"/>
                          <a:ea typeface="Arial"/>
                          <a:cs typeface="Arial"/>
                        </a:rPr>
                        <a:t>IC superior</a:t>
                      </a:r>
                    </a:p>
                  </a:txBody>
                  <a:tcPr marL="114300" marR="114300" marT="95250" marB="95250">
                    <a:solidFill>
                      <a:srgbClr val="182F3B"/>
                    </a:solidFill>
                  </a:tcPr>
                </a:tc>
              </a:tr>
              <a:tr h="609600">
                <a:tc>
                  <a:txBody>
                    <a:bodyPr/>
                    <a:lstStyle/>
                    <a:p>
                      <a:r>
                        <a:rPr sz="1800">
                          <a:solidFill>
                            <a:srgbClr val="182F3B"/>
                          </a:solidFill>
                          <a:latin typeface="Arial"/>
                          <a:ea typeface="Arial"/>
                          <a:cs typeface="Arial"/>
                        </a:rPr>
                        <a:t>2.500</a:t>
                      </a:r>
                    </a:p>
                  </a:txBody>
                  <a:tcPr marL="114300" marR="114300" marT="95250" marB="95250">
                    <a:solidFill>
                      <a:srgbClr val="F0F3F2"/>
                    </a:solidFill>
                  </a:tcPr>
                </a:tc>
                <a:tc>
                  <a:txBody>
                    <a:bodyPr/>
                    <a:lstStyle/>
                    <a:p>
                      <a:r>
                        <a:rPr sz="1800">
                          <a:solidFill>
                            <a:srgbClr val="182F3B"/>
                          </a:solidFill>
                          <a:latin typeface="Arial"/>
                          <a:ea typeface="Arial"/>
                          <a:cs typeface="Arial"/>
                        </a:rPr>
                        <a:t>0,008914</a:t>
                      </a:r>
                    </a:p>
                  </a:txBody>
                  <a:tcPr marL="114300" marR="114300" marT="95250" marB="95250">
                    <a:solidFill>
                      <a:srgbClr val="F0F3F2"/>
                    </a:solidFill>
                  </a:tcPr>
                </a:tc>
                <a:tc>
                  <a:txBody>
                    <a:bodyPr/>
                    <a:lstStyle/>
                    <a:p>
                      <a:r>
                        <a:rPr sz="1800">
                          <a:solidFill>
                            <a:srgbClr val="182F3B"/>
                          </a:solidFill>
                          <a:latin typeface="Arial"/>
                          <a:ea typeface="Arial"/>
                          <a:cs typeface="Arial"/>
                        </a:rPr>
                        <a:t>-0,000063</a:t>
                      </a:r>
                    </a:p>
                  </a:txBody>
                  <a:tcPr marL="114300" marR="114300" marT="95250" marB="95250">
                    <a:solidFill>
                      <a:srgbClr val="F0F3F2"/>
                    </a:solidFill>
                  </a:tcPr>
                </a:tc>
                <a:tc>
                  <a:txBody>
                    <a:bodyPr/>
                    <a:lstStyle/>
                    <a:p>
                      <a:r>
                        <a:rPr sz="1800">
                          <a:solidFill>
                            <a:srgbClr val="182F3B"/>
                          </a:solidFill>
                          <a:latin typeface="Arial"/>
                          <a:ea typeface="Arial"/>
                          <a:cs typeface="Arial"/>
                        </a:rPr>
                        <a:t>0,035203</a:t>
                      </a:r>
                    </a:p>
                  </a:txBody>
                  <a:tcPr marL="114300" marR="114300" marT="95250" marB="95250">
                    <a:solidFill>
                      <a:srgbClr val="F0F3F2"/>
                    </a:solidFill>
                  </a:tcPr>
                </a:tc>
              </a:tr>
              <a:tr h="609600">
                <a:tc>
                  <a:txBody>
                    <a:bodyPr/>
                    <a:lstStyle/>
                    <a:p>
                      <a:r>
                        <a:rPr sz="1800">
                          <a:solidFill>
                            <a:srgbClr val="182F3B"/>
                          </a:solidFill>
                          <a:latin typeface="Arial"/>
                          <a:ea typeface="Arial"/>
                          <a:cs typeface="Arial"/>
                        </a:rPr>
                        <a:t>5.000</a:t>
                      </a:r>
                    </a:p>
                  </a:txBody>
                  <a:tcPr marL="114300" marR="114300" marT="95250" marB="95250">
                    <a:solidFill>
                      <a:srgbClr val="FFFFFF"/>
                    </a:solidFill>
                  </a:tcPr>
                </a:tc>
                <a:tc>
                  <a:txBody>
                    <a:bodyPr/>
                    <a:lstStyle/>
                    <a:p>
                      <a:r>
                        <a:rPr sz="1800">
                          <a:solidFill>
                            <a:srgbClr val="182F3B"/>
                          </a:solidFill>
                          <a:latin typeface="Arial"/>
                          <a:ea typeface="Arial"/>
                          <a:cs typeface="Arial"/>
                        </a:rPr>
                        <a:t>0,008798</a:t>
                      </a:r>
                    </a:p>
                  </a:txBody>
                  <a:tcPr marL="114300" marR="114300" marT="95250" marB="95250">
                    <a:solidFill>
                      <a:srgbClr val="FFFFFF"/>
                    </a:solidFill>
                  </a:tcPr>
                </a:tc>
                <a:tc>
                  <a:txBody>
                    <a:bodyPr/>
                    <a:lstStyle/>
                    <a:p>
                      <a:r>
                        <a:rPr sz="1800">
                          <a:solidFill>
                            <a:srgbClr val="182F3B"/>
                          </a:solidFill>
                          <a:latin typeface="Arial"/>
                          <a:ea typeface="Arial"/>
                          <a:cs typeface="Arial"/>
                        </a:rPr>
                        <a:t>0,000661</a:t>
                      </a:r>
                    </a:p>
                  </a:txBody>
                  <a:tcPr marL="114300" marR="114300" marT="95250" marB="95250">
                    <a:solidFill>
                      <a:srgbClr val="FFFFFF"/>
                    </a:solidFill>
                  </a:tcPr>
                </a:tc>
                <a:tc>
                  <a:txBody>
                    <a:bodyPr/>
                    <a:lstStyle/>
                    <a:p>
                      <a:r>
                        <a:rPr sz="1800">
                          <a:solidFill>
                            <a:srgbClr val="182F3B"/>
                          </a:solidFill>
                          <a:latin typeface="Arial"/>
                          <a:ea typeface="Arial"/>
                          <a:cs typeface="Arial"/>
                        </a:rPr>
                        <a:t>0,035351</a:t>
                      </a:r>
                    </a:p>
                  </a:txBody>
                  <a:tcPr marL="114300" marR="114300" marT="95250" marB="95250">
                    <a:solidFill>
                      <a:srgbClr val="FFFFFF"/>
                    </a:solidFill>
                  </a:tcPr>
                </a:tc>
              </a:tr>
              <a:tr h="609600">
                <a:tc>
                  <a:txBody>
                    <a:bodyPr/>
                    <a:lstStyle/>
                    <a:p>
                      <a:r>
                        <a:rPr sz="1800">
                          <a:solidFill>
                            <a:srgbClr val="182F3B"/>
                          </a:solidFill>
                          <a:latin typeface="Arial"/>
                          <a:ea typeface="Arial"/>
                          <a:cs typeface="Arial"/>
                        </a:rPr>
                        <a:t>10.000</a:t>
                      </a:r>
                    </a:p>
                  </a:txBody>
                  <a:tcPr marL="114300" marR="114300" marT="95250" marB="95250">
                    <a:solidFill>
                      <a:srgbClr val="F0F3F2"/>
                    </a:solidFill>
                  </a:tcPr>
                </a:tc>
                <a:tc>
                  <a:txBody>
                    <a:bodyPr/>
                    <a:lstStyle/>
                    <a:p>
                      <a:r>
                        <a:rPr sz="1800">
                          <a:solidFill>
                            <a:srgbClr val="182F3B"/>
                          </a:solidFill>
                          <a:latin typeface="Arial"/>
                          <a:ea typeface="Arial"/>
                          <a:cs typeface="Arial"/>
                        </a:rPr>
                        <a:t>0,008860</a:t>
                      </a:r>
                    </a:p>
                  </a:txBody>
                  <a:tcPr marL="114300" marR="114300" marT="95250" marB="95250">
                    <a:solidFill>
                      <a:srgbClr val="F0F3F2"/>
                    </a:solidFill>
                  </a:tcPr>
                </a:tc>
                <a:tc>
                  <a:txBody>
                    <a:bodyPr/>
                    <a:lstStyle/>
                    <a:p>
                      <a:r>
                        <a:rPr sz="1800">
                          <a:solidFill>
                            <a:srgbClr val="182F3B"/>
                          </a:solidFill>
                          <a:latin typeface="Arial"/>
                          <a:ea typeface="Arial"/>
                          <a:cs typeface="Arial"/>
                        </a:rPr>
                        <a:t>0,000446</a:t>
                      </a:r>
                    </a:p>
                  </a:txBody>
                  <a:tcPr marL="114300" marR="114300" marT="95250" marB="95250">
                    <a:solidFill>
                      <a:srgbClr val="F0F3F2"/>
                    </a:solidFill>
                  </a:tcPr>
                </a:tc>
                <a:tc>
                  <a:txBody>
                    <a:bodyPr/>
                    <a:lstStyle/>
                    <a:p>
                      <a:r>
                        <a:rPr sz="1800">
                          <a:solidFill>
                            <a:srgbClr val="182F3B"/>
                          </a:solidFill>
                          <a:latin typeface="Arial"/>
                          <a:ea typeface="Arial"/>
                          <a:cs typeface="Arial"/>
                        </a:rPr>
                        <a:t>0,035433</a:t>
                      </a:r>
                    </a:p>
                  </a:txBody>
                  <a:tcPr marL="114300" marR="114300" marT="95250" marB="95250">
                    <a:solidFill>
                      <a:srgbClr val="F0F3F2"/>
                    </a:solidFill>
                  </a:tcPr>
                </a:tc>
              </a:tr>
              <a:tr h="609600">
                <a:tc>
                  <a:txBody>
                    <a:bodyPr/>
                    <a:lstStyle/>
                    <a:p>
                      <a:r>
                        <a:rPr sz="1800">
                          <a:solidFill>
                            <a:srgbClr val="182F3B"/>
                          </a:solidFill>
                          <a:latin typeface="Arial"/>
                          <a:ea typeface="Arial"/>
                          <a:cs typeface="Arial"/>
                        </a:rPr>
                        <a:t>20.000</a:t>
                      </a:r>
                    </a:p>
                  </a:txBody>
                  <a:tcPr marL="114300" marR="114300" marT="95250" marB="95250">
                    <a:solidFill>
                      <a:srgbClr val="FFFFFF"/>
                    </a:solidFill>
                  </a:tcPr>
                </a:tc>
                <a:tc>
                  <a:txBody>
                    <a:bodyPr/>
                    <a:lstStyle/>
                    <a:p>
                      <a:r>
                        <a:rPr sz="1800">
                          <a:solidFill>
                            <a:srgbClr val="182F3B"/>
                          </a:solidFill>
                          <a:latin typeface="Arial"/>
                          <a:ea typeface="Arial"/>
                          <a:cs typeface="Arial"/>
                        </a:rPr>
                        <a:t>0,008844</a:t>
                      </a:r>
                    </a:p>
                  </a:txBody>
                  <a:tcPr marL="114300" marR="114300" marT="95250" marB="95250">
                    <a:solidFill>
                      <a:srgbClr val="FFFFFF"/>
                    </a:solidFill>
                  </a:tcPr>
                </a:tc>
                <a:tc>
                  <a:txBody>
                    <a:bodyPr/>
                    <a:lstStyle/>
                    <a:p>
                      <a:r>
                        <a:rPr sz="1800">
                          <a:solidFill>
                            <a:srgbClr val="182F3B"/>
                          </a:solidFill>
                          <a:latin typeface="Arial"/>
                          <a:ea typeface="Arial"/>
                          <a:cs typeface="Arial"/>
                        </a:rPr>
                        <a:t>0,000550</a:t>
                      </a:r>
                    </a:p>
                  </a:txBody>
                  <a:tcPr marL="114300" marR="114300" marT="95250" marB="95250">
                    <a:solidFill>
                      <a:srgbClr val="FFFFFF"/>
                    </a:solidFill>
                  </a:tcPr>
                </a:tc>
                <a:tc>
                  <a:txBody>
                    <a:bodyPr/>
                    <a:lstStyle/>
                    <a:p>
                      <a:r>
                        <a:rPr sz="1800">
                          <a:solidFill>
                            <a:srgbClr val="182F3B"/>
                          </a:solidFill>
                          <a:latin typeface="Arial"/>
                          <a:ea typeface="Arial"/>
                          <a:cs typeface="Arial"/>
                        </a:rPr>
                        <a:t>0,035416</a:t>
                      </a:r>
                    </a:p>
                  </a:txBody>
                  <a:tcPr marL="114300" marR="114300" marT="95250" marB="95250">
                    <a:solidFill>
                      <a:srgbClr val="FFFFFF"/>
                    </a:solidFill>
                  </a:tcPr>
                </a:tc>
              </a:tr>
            </a:tbl>
          </a:graphicData>
        </a:graphic>
      </p:graphicFrame>
      <p:sp>
        <p:nvSpPr>
          <p:cNvPr id="4" name="text-ffxf6c-72-535">
            <a:extLst xmlns:a="http://schemas.openxmlformats.org/drawingml/2006/main">
              <a:ext uri="{FF2B5EF4-FFF2-40B4-BE49-F238E27FC236}">
                <a16:creationId xmlns:a16="http://schemas.microsoft.com/office/drawing/2014/main" id="{5B320DF6-3022-431C-AD19-4DD0B48E1B4A}"/>
              </a:ext>
            </a:extLst>
          </p:cNvPr>
          <p:cNvSpPr>
            <a:spLocks xmlns:a="http://schemas.openxmlformats.org/drawingml/2006/main" noGrp="1"/>
          </p:cNvSpPr>
          <p:nvPr/>
        </p:nvSpPr>
        <p:spPr>
          <a:xfrm xmlns:a="http://schemas.openxmlformats.org/drawingml/2006/main">
            <a:off x="685800" y="50958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Más réplicas reducen el error de simulación.</a:t>
            </a:r>
          </a:p>
        </p:txBody>
      </p:sp>
      <p:sp>
        <p:nvSpPr>
          <p:cNvPr id="5" name="text-ffxf6c-72-600">
            <a:extLst xmlns:a="http://schemas.openxmlformats.org/drawingml/2006/main">
              <a:ext uri="{FF2B5EF4-FFF2-40B4-BE49-F238E27FC236}">
                <a16:creationId xmlns:a16="http://schemas.microsoft.com/office/drawing/2014/main" id="{01E0EDBB-0732-47A2-B928-5E4E6639805D}"/>
              </a:ext>
            </a:extLst>
          </p:cNvPr>
          <p:cNvSpPr>
            <a:spLocks xmlns:a="http://schemas.openxmlformats.org/drawingml/2006/main" noGrp="1"/>
          </p:cNvSpPr>
          <p:nvPr/>
        </p:nvSpPr>
        <p:spPr>
          <a:xfrm xmlns:a="http://schemas.openxmlformats.org/drawingml/2006/main">
            <a:off x="685800" y="571500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16674"/>
                </a:solidFill>
                <a:latin typeface="Arial"/>
                <a:ea typeface="Arial"/>
                <a:cs typeface="Arial"/>
              </a:defRPr>
            </a:pPr>
            <a:r>
              <a:rPr sz="2025" b="0">
                <a:solidFill>
                  <a:srgbClr val="516674"/>
                </a:solidFill>
                <a:latin typeface="Arial"/>
                <a:ea typeface="Arial"/>
                <a:cs typeface="Arial"/>
              </a:rPr>
              <a:t>El tamaño de la muestra original permanece fijo.</a:t>
            </a:r>
          </a:p>
        </p:txBody>
      </p:sp>
    </p:spTree>
    <p:extLst>
      <p:ext uri="{BB962C8B-B14F-4D97-AF65-F5344CB8AC3E}">
        <p14:creationId xmlns:p14="http://schemas.microsoft.com/office/powerpoint/2010/main" val="845460343"/>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5" name="text-aain9s-72-44">
            <a:extLst xmlns:a="http://schemas.openxmlformats.org/drawingml/2006/main">
              <a:ext uri="{FF2B5EF4-FFF2-40B4-BE49-F238E27FC236}">
                <a16:creationId xmlns:a16="http://schemas.microsoft.com/office/drawing/2014/main" id="{362A31F3-D363-460C-8799-36637C3F3897}"/>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Modelo de Monte Carlo</a:t>
            </a:r>
          </a:p>
        </p:txBody>
      </p:sp>
      <p:sp>
        <p:nvSpPr>
          <p:cNvPr id="2" name="text-aain9s-1190-670">
            <a:extLst xmlns:a="http://schemas.openxmlformats.org/drawingml/2006/main">
              <a:ext uri="{FF2B5EF4-FFF2-40B4-BE49-F238E27FC236}">
                <a16:creationId xmlns:a16="http://schemas.microsoft.com/office/drawing/2014/main" id="{A644AD33-4B1B-4C06-88C0-B4141CDF6059}"/>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11</a:t>
            </a:r>
          </a:p>
        </p:txBody>
      </p:sp>
      <p:graphicFrame>
        <p:nvGraphicFramePr>
          <p:cNvPr id="7" name="Chart"/>
          <p:cNvGraphicFramePr/>
          <p:nvPr/>
        </p:nvGraphicFramePr>
        <p:xfrm>
          <a:off xmlns:a="http://schemas.openxmlformats.org/drawingml/2006/main" x="800100" y="1476375"/>
          <a:ext xmlns:a="http://schemas.openxmlformats.org/drawingml/2006/main" cx="10477500" cy="3905250"/>
        </p:xfrm>
        <a:graphic xmlns:a="http://schemas.openxmlformats.org/drawingml/2006/main">
          <a:graphicData uri="http://schemas.openxmlformats.org/drawingml/2006/chart">
            <c:chart xmlns:r="http://schemas.openxmlformats.org/officeDocument/2006/relationships" xmlns:c="http://schemas.openxmlformats.org/drawingml/2006/chart" r:id="Ra12776b0954f416f"/>
          </a:graphicData>
        </a:graphic>
      </p:graphicFrame>
      <p:sp>
        <p:nvSpPr>
          <p:cNvPr id="4" name="text-aain9s-72-599">
            <a:extLst xmlns:a="http://schemas.openxmlformats.org/drawingml/2006/main">
              <a:ext uri="{FF2B5EF4-FFF2-40B4-BE49-F238E27FC236}">
                <a16:creationId xmlns:a16="http://schemas.microsoft.com/office/drawing/2014/main" id="{4B2B0665-CD87-434D-B23C-494AC959A569}"/>
              </a:ext>
            </a:extLst>
          </p:cNvPr>
          <p:cNvSpPr>
            <a:spLocks xmlns:a="http://schemas.openxmlformats.org/drawingml/2006/main" noGrp="1"/>
          </p:cNvSpPr>
          <p:nvPr/>
        </p:nvSpPr>
        <p:spPr>
          <a:xfrm xmlns:a="http://schemas.openxmlformats.org/drawingml/2006/main">
            <a:off x="685800" y="5705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087E8B"/>
                </a:solidFill>
                <a:latin typeface="Arial"/>
                <a:ea typeface="Arial"/>
                <a:cs typeface="Arial"/>
              </a:defRPr>
            </a:pPr>
            <a:r>
              <a:rPr sz="2175" b="1">
                <a:solidFill>
                  <a:srgbClr val="087E8B"/>
                </a:solidFill>
                <a:latin typeface="Arial"/>
                <a:ea typeface="Arial"/>
                <a:cs typeface="Arial"/>
              </a:rPr>
              <a:t>Conteos por muestra: Multinomial(ng, p1, …, p5)</a:t>
            </a:r>
          </a:p>
        </p:txBody>
      </p:sp>
    </p:spTree>
    <p:extLst>
      <p:ext uri="{BB962C8B-B14F-4D97-AF65-F5344CB8AC3E}">
        <p14:creationId xmlns:p14="http://schemas.microsoft.com/office/powerpoint/2010/main" val="89800637"/>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text-r23u2d-72-44">
            <a:extLst xmlns:a="http://schemas.openxmlformats.org/drawingml/2006/main">
              <a:ext uri="{FF2B5EF4-FFF2-40B4-BE49-F238E27FC236}">
                <a16:creationId xmlns:a16="http://schemas.microsoft.com/office/drawing/2014/main" id="{60987705-6F0A-4E70-B170-714CB9BCF04D}"/>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Escenarios y métricas simuladas</a:t>
            </a:r>
          </a:p>
        </p:txBody>
      </p:sp>
      <p:sp>
        <p:nvSpPr>
          <p:cNvPr id="2" name="text-r23u2d-1190-670">
            <a:extLst xmlns:a="http://schemas.openxmlformats.org/drawingml/2006/main">
              <a:ext uri="{FF2B5EF4-FFF2-40B4-BE49-F238E27FC236}">
                <a16:creationId xmlns:a16="http://schemas.microsoft.com/office/drawing/2014/main" id="{B2276481-2D10-4710-91C6-2C4ABA7845DF}"/>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12</a:t>
            </a:r>
          </a:p>
        </p:txBody>
      </p:sp>
      <p:sp>
        <p:nvSpPr>
          <p:cNvPr id="3" name="text-r23u2d-72-160">
            <a:extLst xmlns:a="http://schemas.openxmlformats.org/drawingml/2006/main">
              <a:ext uri="{FF2B5EF4-FFF2-40B4-BE49-F238E27FC236}">
                <a16:creationId xmlns:a16="http://schemas.microsoft.com/office/drawing/2014/main" id="{5AB35819-45DF-4351-A422-CD17398C9A2B}"/>
              </a:ext>
            </a:extLst>
          </p:cNvPr>
          <p:cNvSpPr>
            <a:spLocks xmlns:a="http://schemas.openxmlformats.org/drawingml/2006/main" noGrp="1"/>
          </p:cNvSpPr>
          <p:nvPr/>
        </p:nvSpPr>
        <p:spPr>
          <a:xfrm xmlns:a="http://schemas.openxmlformats.org/drawingml/2006/main">
            <a:off x="685800" y="152400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182F3B"/>
                </a:solidFill>
                <a:latin typeface="Arial"/>
                <a:ea typeface="Arial"/>
                <a:cs typeface="Arial"/>
              </a:defRPr>
            </a:pPr>
            <a:r>
              <a:rPr sz="2400" b="1">
                <a:solidFill>
                  <a:srgbClr val="182F3B"/>
                </a:solidFill>
                <a:latin typeface="Arial"/>
                <a:ea typeface="Arial"/>
                <a:cs typeface="Arial"/>
              </a:rPr>
              <a:t>Tamaños: 50, 200, 1.000, 5.000 y originales.</a:t>
            </a:r>
          </a:p>
        </p:txBody>
      </p:sp>
      <p:sp>
        <p:nvSpPr>
          <p:cNvPr id="4" name="text-r23u2d-72-250">
            <a:extLst xmlns:a="http://schemas.openxmlformats.org/drawingml/2006/main">
              <a:ext uri="{FF2B5EF4-FFF2-40B4-BE49-F238E27FC236}">
                <a16:creationId xmlns:a16="http://schemas.microsoft.com/office/drawing/2014/main" id="{692457CA-E220-4FDD-852E-71747C3D8B54}"/>
              </a:ext>
            </a:extLst>
          </p:cNvPr>
          <p:cNvSpPr>
            <a:spLocks xmlns:a="http://schemas.openxmlformats.org/drawingml/2006/main" noGrp="1"/>
          </p:cNvSpPr>
          <p:nvPr/>
        </p:nvSpPr>
        <p:spPr>
          <a:xfrm xmlns:a="http://schemas.openxmlformats.org/drawingml/2006/main">
            <a:off x="685800" y="238125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20.000 realizaciones por escenario y condición.</a:t>
            </a:r>
          </a:p>
        </p:txBody>
      </p:sp>
      <p:sp>
        <p:nvSpPr>
          <p:cNvPr id="5" name="text-r23u2d-72-350">
            <a:extLst xmlns:a="http://schemas.openxmlformats.org/drawingml/2006/main">
              <a:ext uri="{FF2B5EF4-FFF2-40B4-BE49-F238E27FC236}">
                <a16:creationId xmlns:a16="http://schemas.microsoft.com/office/drawing/2014/main" id="{EC156D3C-EFA4-43B7-9F68-F072290614BF}"/>
              </a:ext>
            </a:extLst>
          </p:cNvPr>
          <p:cNvSpPr>
            <a:spLocks xmlns:a="http://schemas.openxmlformats.org/drawingml/2006/main" noGrp="1"/>
          </p:cNvSpPr>
          <p:nvPr/>
        </p:nvSpPr>
        <p:spPr>
          <a:xfrm xmlns:a="http://schemas.openxmlformats.org/drawingml/2006/main">
            <a:off x="685800" y="33337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Modelo ajustado: distribuciones observadas por distrito.</a:t>
            </a:r>
          </a:p>
        </p:txBody>
      </p:sp>
      <p:sp>
        <p:nvSpPr>
          <p:cNvPr id="6" name="text-r23u2d-72-430">
            <a:extLst xmlns:a="http://schemas.openxmlformats.org/drawingml/2006/main">
              <a:ext uri="{FF2B5EF4-FFF2-40B4-BE49-F238E27FC236}">
                <a16:creationId xmlns:a16="http://schemas.microsoft.com/office/drawing/2014/main" id="{318B093F-2355-4CEC-8196-C57F7DEA6DD6}"/>
              </a:ext>
            </a:extLst>
          </p:cNvPr>
          <p:cNvSpPr>
            <a:spLocks xmlns:a="http://schemas.openxmlformats.org/drawingml/2006/main" noGrp="1"/>
          </p:cNvSpPr>
          <p:nvPr/>
        </p:nvSpPr>
        <p:spPr>
          <a:xfrm xmlns:a="http://schemas.openxmlformats.org/drawingml/2006/main">
            <a:off x="685800" y="4095750"/>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Modelo nulo: ambos distritos comparten una distribución.</a:t>
            </a:r>
          </a:p>
        </p:txBody>
      </p:sp>
      <p:sp>
        <p:nvSpPr>
          <p:cNvPr id="7" name="text-r23u2d-72-535">
            <a:extLst xmlns:a="http://schemas.openxmlformats.org/drawingml/2006/main">
              <a:ext uri="{FF2B5EF4-FFF2-40B4-BE49-F238E27FC236}">
                <a16:creationId xmlns:a16="http://schemas.microsoft.com/office/drawing/2014/main" id="{9744BBE9-6A50-47AC-ABB0-4C5D809505C4}"/>
              </a:ext>
            </a:extLst>
          </p:cNvPr>
          <p:cNvSpPr>
            <a:spLocks xmlns:a="http://schemas.openxmlformats.org/drawingml/2006/main" noGrp="1"/>
          </p:cNvSpPr>
          <p:nvPr/>
        </p:nvSpPr>
        <p:spPr>
          <a:xfrm xmlns:a="http://schemas.openxmlformats.org/drawingml/2006/main">
            <a:off x="685800" y="50958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182F3B"/>
                </a:solidFill>
                <a:latin typeface="Arial"/>
                <a:ea typeface="Arial"/>
                <a:cs typeface="Arial"/>
              </a:defRPr>
            </a:pPr>
            <a:r>
              <a:rPr sz="2175" b="0">
                <a:solidFill>
                  <a:srgbClr val="182F3B"/>
                </a:solidFill>
                <a:latin typeface="Arial"/>
                <a:ea typeface="Arial"/>
                <a:cs typeface="Arial"/>
              </a:rPr>
              <a:t>Métricas: rechazo al 5% y error de estimación hasta 0,05 puntos.</a:t>
            </a:r>
          </a:p>
        </p:txBody>
      </p:sp>
    </p:spTree>
    <p:extLst>
      <p:ext uri="{BB962C8B-B14F-4D97-AF65-F5344CB8AC3E}">
        <p14:creationId xmlns:p14="http://schemas.microsoft.com/office/powerpoint/2010/main" val="2092734870"/>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huvym8-72-44">
            <a:extLst xmlns:a="http://schemas.openxmlformats.org/drawingml/2006/main">
              <a:ext uri="{FF2B5EF4-FFF2-40B4-BE49-F238E27FC236}">
                <a16:creationId xmlns:a16="http://schemas.microsoft.com/office/drawing/2014/main" id="{6C8AF641-E25B-4078-B7C0-525E35CB9341}"/>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Detección y falsos rechazos</a:t>
            </a:r>
          </a:p>
        </p:txBody>
      </p:sp>
      <p:sp>
        <p:nvSpPr>
          <p:cNvPr id="2" name="text-huvym8-1190-670">
            <a:extLst xmlns:a="http://schemas.openxmlformats.org/drawingml/2006/main">
              <a:ext uri="{FF2B5EF4-FFF2-40B4-BE49-F238E27FC236}">
                <a16:creationId xmlns:a16="http://schemas.microsoft.com/office/drawing/2014/main" id="{1A16580A-EF40-4134-AD98-96830435376C}"/>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13</a:t>
            </a:r>
          </a:p>
        </p:txBody>
      </p:sp>
      <p:graphicFrame>
        <p:nvGraphicFramePr>
          <p:cNvPr id="8" name="Chart"/>
          <p:cNvGraphicFramePr/>
          <p:nvPr/>
        </p:nvGraphicFramePr>
        <p:xfrm>
          <a:off xmlns:a="http://schemas.openxmlformats.org/drawingml/2006/main" x="800100" y="1476375"/>
          <a:ext xmlns:a="http://schemas.openxmlformats.org/drawingml/2006/main" cx="10477500" cy="3905250"/>
        </p:xfrm>
        <a:graphic xmlns:a="http://schemas.openxmlformats.org/drawingml/2006/main">
          <a:graphicData uri="http://schemas.openxmlformats.org/drawingml/2006/chart">
            <c:chart xmlns:r="http://schemas.openxmlformats.org/officeDocument/2006/relationships" xmlns:c="http://schemas.openxmlformats.org/drawingml/2006/chart" r:id="R685ef6cfe8a840ce"/>
          </a:graphicData>
        </a:graphic>
      </p:graphicFrame>
      <p:sp>
        <p:nvSpPr>
          <p:cNvPr id="4" name="text-huvym8-72-590">
            <a:extLst xmlns:a="http://schemas.openxmlformats.org/drawingml/2006/main">
              <a:ext uri="{FF2B5EF4-FFF2-40B4-BE49-F238E27FC236}">
                <a16:creationId xmlns:a16="http://schemas.microsoft.com/office/drawing/2014/main" id="{748DC745-6950-4164-A8C1-3EA45D48EA52}"/>
              </a:ext>
            </a:extLst>
          </p:cNvPr>
          <p:cNvSpPr>
            <a:spLocks xmlns:a="http://schemas.openxmlformats.org/drawingml/2006/main" noGrp="1"/>
          </p:cNvSpPr>
          <p:nvPr/>
        </p:nvSpPr>
        <p:spPr>
          <a:xfrm xmlns:a="http://schemas.openxmlformats.org/drawingml/2006/main">
            <a:off x="685800" y="561975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087E8B"/>
                </a:solidFill>
                <a:latin typeface="Arial"/>
                <a:ea typeface="Arial"/>
                <a:cs typeface="Arial"/>
              </a:defRPr>
            </a:pPr>
            <a:r>
              <a:rPr sz="2325" b="1">
                <a:solidFill>
                  <a:srgbClr val="087E8B"/>
                </a:solidFill>
                <a:latin typeface="Arial"/>
                <a:ea typeface="Arial"/>
                <a:cs typeface="Arial"/>
              </a:rPr>
              <a:t>Potencia con tamaños originales: 52,78%</a:t>
            </a:r>
          </a:p>
        </p:txBody>
      </p:sp>
      <p:sp>
        <p:nvSpPr>
          <p:cNvPr id="5" name="text-huvym8-72-644">
            <a:extLst xmlns:a="http://schemas.openxmlformats.org/drawingml/2006/main">
              <a:ext uri="{FF2B5EF4-FFF2-40B4-BE49-F238E27FC236}">
                <a16:creationId xmlns:a16="http://schemas.microsoft.com/office/drawing/2014/main" id="{3CD0089F-EB4D-48D2-8E7A-A4F90A6B715C}"/>
              </a:ext>
            </a:extLst>
          </p:cNvPr>
          <p:cNvSpPr>
            <a:spLocks xmlns:a="http://schemas.openxmlformats.org/drawingml/2006/main" noGrp="1"/>
          </p:cNvSpPr>
          <p:nvPr/>
        </p:nvSpPr>
        <p:spPr>
          <a:xfrm xmlns:a="http://schemas.openxmlformats.org/drawingml/2006/main">
            <a:off x="685800" y="61341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16674"/>
                </a:solidFill>
                <a:latin typeface="Arial"/>
                <a:ea typeface="Arial"/>
                <a:cs typeface="Arial"/>
              </a:defRPr>
            </a:pPr>
            <a:r>
              <a:rPr sz="1650" b="0">
                <a:solidFill>
                  <a:srgbClr val="516674"/>
                </a:solidFill>
                <a:latin typeface="Arial"/>
                <a:ea typeface="Arial"/>
                <a:cs typeface="Arial"/>
              </a:rPr>
              <a:t>IC Monte Carlo 95%: [52,08%; 53,47%]. Tamaños: 43.418 y 41.515.</a:t>
            </a:r>
          </a:p>
        </p:txBody>
      </p:sp>
    </p:spTree>
    <p:extLst>
      <p:ext uri="{BB962C8B-B14F-4D97-AF65-F5344CB8AC3E}">
        <p14:creationId xmlns:p14="http://schemas.microsoft.com/office/powerpoint/2010/main" val="1428926552"/>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45klds-72-44">
            <a:extLst xmlns:a="http://schemas.openxmlformats.org/drawingml/2006/main">
              <a:ext uri="{FF2B5EF4-FFF2-40B4-BE49-F238E27FC236}">
                <a16:creationId xmlns:a16="http://schemas.microsoft.com/office/drawing/2014/main" id="{4024BCCD-F444-45A5-81C3-1851A7E0B625}"/>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Precisión de la diferencia estimada</a:t>
            </a:r>
          </a:p>
        </p:txBody>
      </p:sp>
      <p:sp>
        <p:nvSpPr>
          <p:cNvPr id="2" name="text-45klds-1190-670">
            <a:extLst xmlns:a="http://schemas.openxmlformats.org/drawingml/2006/main">
              <a:ext uri="{FF2B5EF4-FFF2-40B4-BE49-F238E27FC236}">
                <a16:creationId xmlns:a16="http://schemas.microsoft.com/office/drawing/2014/main" id="{C2689446-40B8-482E-94A0-B81B20DA1FF0}"/>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14</a:t>
            </a:r>
          </a:p>
        </p:txBody>
      </p:sp>
      <p:graphicFrame>
        <p:nvGraphicFramePr>
          <p:cNvPr id="8" name="Chart"/>
          <p:cNvGraphicFramePr/>
          <p:nvPr/>
        </p:nvGraphicFramePr>
        <p:xfrm>
          <a:off xmlns:a="http://schemas.openxmlformats.org/drawingml/2006/main" x="800100" y="1476375"/>
          <a:ext xmlns:a="http://schemas.openxmlformats.org/drawingml/2006/main" cx="10477500" cy="3905250"/>
        </p:xfrm>
        <a:graphic xmlns:a="http://schemas.openxmlformats.org/drawingml/2006/main">
          <a:graphicData uri="http://schemas.openxmlformats.org/drawingml/2006/chart">
            <c:chart xmlns:r="http://schemas.openxmlformats.org/officeDocument/2006/relationships" xmlns:c="http://schemas.openxmlformats.org/drawingml/2006/chart" r:id="R08a0380c37004289"/>
          </a:graphicData>
        </a:graphic>
      </p:graphicFrame>
      <p:sp>
        <p:nvSpPr>
          <p:cNvPr id="4" name="text-45klds-72-589">
            <a:extLst xmlns:a="http://schemas.openxmlformats.org/drawingml/2006/main">
              <a:ext uri="{FF2B5EF4-FFF2-40B4-BE49-F238E27FC236}">
                <a16:creationId xmlns:a16="http://schemas.microsoft.com/office/drawing/2014/main" id="{8D5334EA-60A1-40BC-BC8D-822B1A29F3CC}"/>
              </a:ext>
            </a:extLst>
          </p:cNvPr>
          <p:cNvSpPr>
            <a:spLocks xmlns:a="http://schemas.openxmlformats.org/drawingml/2006/main" noGrp="1"/>
          </p:cNvSpPr>
          <p:nvPr/>
        </p:nvSpPr>
        <p:spPr>
          <a:xfrm xmlns:a="http://schemas.openxmlformats.org/drawingml/2006/main">
            <a:off x="685800" y="561022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087E8B"/>
                </a:solidFill>
                <a:latin typeface="Arial"/>
                <a:ea typeface="Arial"/>
                <a:cs typeface="Arial"/>
              </a:defRPr>
            </a:pPr>
            <a:r>
              <a:rPr sz="2250" b="1">
                <a:solidFill>
                  <a:srgbClr val="087E8B"/>
                </a:solidFill>
                <a:latin typeface="Arial"/>
                <a:ea typeface="Arial"/>
                <a:cs typeface="Arial"/>
              </a:rPr>
              <a:t>La muestra crece y la estimación se concentra alrededor de Δ.</a:t>
            </a:r>
          </a:p>
        </p:txBody>
      </p:sp>
      <p:sp>
        <p:nvSpPr>
          <p:cNvPr id="5" name="text-45klds-72-645">
            <a:extLst xmlns:a="http://schemas.openxmlformats.org/drawingml/2006/main">
              <a:ext uri="{FF2B5EF4-FFF2-40B4-BE49-F238E27FC236}">
                <a16:creationId xmlns:a16="http://schemas.microsoft.com/office/drawing/2014/main" id="{221F8DD0-AD28-471E-B065-AFE412D740EE}"/>
              </a:ext>
            </a:extLst>
          </p:cNvPr>
          <p:cNvSpPr>
            <a:spLocks xmlns:a="http://schemas.openxmlformats.org/drawingml/2006/main" noGrp="1"/>
          </p:cNvSpPr>
          <p:nvPr/>
        </p:nvSpPr>
        <p:spPr>
          <a:xfrm xmlns:a="http://schemas.openxmlformats.org/drawingml/2006/main">
            <a:off x="685800" y="61436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516674"/>
                </a:solidFill>
                <a:latin typeface="Arial"/>
                <a:ea typeface="Arial"/>
                <a:cs typeface="Arial"/>
              </a:defRPr>
            </a:pPr>
            <a:r>
              <a:rPr sz="1650" b="0">
                <a:solidFill>
                  <a:srgbClr val="516674"/>
                </a:solidFill>
                <a:latin typeface="Arial"/>
                <a:ea typeface="Arial"/>
                <a:cs typeface="Arial"/>
              </a:rPr>
              <a:t>20.000/20.000 simulaciones cumplen; límite inferior Wilson 95%: 99,98%.</a:t>
            </a:r>
          </a:p>
        </p:txBody>
      </p:sp>
    </p:spTree>
    <p:extLst>
      <p:ext uri="{BB962C8B-B14F-4D97-AF65-F5344CB8AC3E}">
        <p14:creationId xmlns:p14="http://schemas.microsoft.com/office/powerpoint/2010/main" val="58641237"/>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6" name="text-7np2ei-72-44">
            <a:extLst xmlns:a="http://schemas.openxmlformats.org/drawingml/2006/main">
              <a:ext uri="{FF2B5EF4-FFF2-40B4-BE49-F238E27FC236}">
                <a16:creationId xmlns:a16="http://schemas.microsoft.com/office/drawing/2014/main" id="{4C6F71AA-23FE-4678-A320-8586B3EE0D4E}"/>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Precisión numérica de Monte Carlo</a:t>
            </a:r>
          </a:p>
        </p:txBody>
      </p:sp>
      <p:sp>
        <p:nvSpPr>
          <p:cNvPr id="2" name="text-7np2ei-1190-670">
            <a:extLst xmlns:a="http://schemas.openxmlformats.org/drawingml/2006/main">
              <a:ext uri="{FF2B5EF4-FFF2-40B4-BE49-F238E27FC236}">
                <a16:creationId xmlns:a16="http://schemas.microsoft.com/office/drawing/2014/main" id="{A2A63CBF-8EB4-4908-BDF3-A69F5BCC3599}"/>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15</a:t>
            </a:r>
          </a:p>
        </p:txBody>
      </p:sp>
      <p:graphicFrame>
        <p:nvGraphicFramePr>
          <p:cNvPr id="8" name=""/>
          <p:cNvGraphicFramePr/>
          <p:nvPr/>
        </p:nvGraphicFramePr>
        <p:xfrm>
          <a:off xmlns:a="http://schemas.openxmlformats.org/drawingml/2006/main" x="685800" y="1581150"/>
          <a:ext xmlns:a="http://schemas.openxmlformats.org/drawingml/2006/main" cx="10820400" cy="2857500"/>
        </p:xfrm>
        <a:graphic xmlns:a="http://schemas.openxmlformats.org/drawingml/2006/main">
          <a:graphicData uri="http://schemas.openxmlformats.org/drawingml/2006/table">
            <a:tbl>
              <a:tblPr/>
              <a:tblGrid>
                <a:gridCol w="3132221"/>
                <a:gridCol w="3986463"/>
                <a:gridCol w="3701716"/>
              </a:tblGrid>
              <a:tr h="571500">
                <a:tc>
                  <a:txBody>
                    <a:bodyPr/>
                    <a:lstStyle/>
                    <a:p>
                      <a:r>
                        <a:rPr sz="1800" b="1">
                          <a:solidFill>
                            <a:srgbClr val="FFFFFF"/>
                          </a:solidFill>
                          <a:latin typeface="Arial"/>
                          <a:ea typeface="Arial"/>
                          <a:cs typeface="Arial"/>
                        </a:rPr>
                        <a:t>Realizaciones R</a:t>
                      </a:r>
                    </a:p>
                  </a:txBody>
                  <a:tcPr marL="114300" marR="114300" marT="95250" marB="95250">
                    <a:solidFill>
                      <a:srgbClr val="182F3B"/>
                    </a:solidFill>
                  </a:tcPr>
                </a:tc>
                <a:tc>
                  <a:txBody>
                    <a:bodyPr/>
                    <a:lstStyle/>
                    <a:p>
                      <a:r>
                        <a:rPr sz="1800" b="1">
                          <a:solidFill>
                            <a:srgbClr val="FFFFFF"/>
                          </a:solidFill>
                          <a:latin typeface="Arial"/>
                          <a:ea typeface="Arial"/>
                          <a:cs typeface="Arial"/>
                        </a:rPr>
                        <a:t>Potencia n = 1.000</a:t>
                      </a:r>
                    </a:p>
                  </a:txBody>
                  <a:tcPr marL="114300" marR="114300" marT="95250" marB="95250">
                    <a:solidFill>
                      <a:srgbClr val="182F3B"/>
                    </a:solidFill>
                  </a:tcPr>
                </a:tc>
                <a:tc>
                  <a:txBody>
                    <a:bodyPr/>
                    <a:lstStyle/>
                    <a:p>
                      <a:r>
                        <a:rPr sz="1800" b="1">
                          <a:solidFill>
                            <a:srgbClr val="FFFFFF"/>
                          </a:solidFill>
                          <a:latin typeface="Arial"/>
                          <a:ea typeface="Arial"/>
                          <a:cs typeface="Arial"/>
                        </a:rPr>
                        <a:t>EE Monte Carlo</a:t>
                      </a:r>
                    </a:p>
                  </a:txBody>
                  <a:tcPr marL="114300" marR="114300" marT="95250" marB="95250">
                    <a:solidFill>
                      <a:srgbClr val="182F3B"/>
                    </a:solidFill>
                  </a:tcPr>
                </a:tc>
              </a:tr>
              <a:tr h="571500">
                <a:tc>
                  <a:txBody>
                    <a:bodyPr/>
                    <a:lstStyle/>
                    <a:p>
                      <a:r>
                        <a:rPr sz="1800">
                          <a:solidFill>
                            <a:srgbClr val="182F3B"/>
                          </a:solidFill>
                          <a:latin typeface="Arial"/>
                          <a:ea typeface="Arial"/>
                          <a:cs typeface="Arial"/>
                        </a:rPr>
                        <a:t>1.000</a:t>
                      </a:r>
                    </a:p>
                  </a:txBody>
                  <a:tcPr marL="114300" marR="114300" marT="95250" marB="95250">
                    <a:solidFill>
                      <a:srgbClr val="F0F3F2"/>
                    </a:solidFill>
                  </a:tcPr>
                </a:tc>
                <a:tc>
                  <a:txBody>
                    <a:bodyPr/>
                    <a:lstStyle/>
                    <a:p>
                      <a:r>
                        <a:rPr sz="1800">
                          <a:solidFill>
                            <a:srgbClr val="182F3B"/>
                          </a:solidFill>
                          <a:latin typeface="Arial"/>
                          <a:ea typeface="Arial"/>
                          <a:cs typeface="Arial"/>
                        </a:rPr>
                        <a:t>5,20%</a:t>
                      </a:r>
                    </a:p>
                  </a:txBody>
                  <a:tcPr marL="114300" marR="114300" marT="95250" marB="95250">
                    <a:solidFill>
                      <a:srgbClr val="F0F3F2"/>
                    </a:solidFill>
                  </a:tcPr>
                </a:tc>
                <a:tc>
                  <a:txBody>
                    <a:bodyPr/>
                    <a:lstStyle/>
                    <a:p>
                      <a:r>
                        <a:rPr sz="1800">
                          <a:solidFill>
                            <a:srgbClr val="182F3B"/>
                          </a:solidFill>
                          <a:latin typeface="Arial"/>
                          <a:ea typeface="Arial"/>
                          <a:cs typeface="Arial"/>
                        </a:rPr>
                        <a:t>0,00702</a:t>
                      </a:r>
                    </a:p>
                  </a:txBody>
                  <a:tcPr marL="114300" marR="114300" marT="95250" marB="95250">
                    <a:solidFill>
                      <a:srgbClr val="F0F3F2"/>
                    </a:solidFill>
                  </a:tcPr>
                </a:tc>
              </a:tr>
              <a:tr h="571500">
                <a:tc>
                  <a:txBody>
                    <a:bodyPr/>
                    <a:lstStyle/>
                    <a:p>
                      <a:r>
                        <a:rPr sz="1800">
                          <a:solidFill>
                            <a:srgbClr val="182F3B"/>
                          </a:solidFill>
                          <a:latin typeface="Arial"/>
                          <a:ea typeface="Arial"/>
                          <a:cs typeface="Arial"/>
                        </a:rPr>
                        <a:t>5.000</a:t>
                      </a:r>
                    </a:p>
                  </a:txBody>
                  <a:tcPr marL="114300" marR="114300" marT="95250" marB="95250">
                    <a:solidFill>
                      <a:srgbClr val="FFFFFF"/>
                    </a:solidFill>
                  </a:tcPr>
                </a:tc>
                <a:tc>
                  <a:txBody>
                    <a:bodyPr/>
                    <a:lstStyle/>
                    <a:p>
                      <a:r>
                        <a:rPr sz="1800">
                          <a:solidFill>
                            <a:srgbClr val="182F3B"/>
                          </a:solidFill>
                          <a:latin typeface="Arial"/>
                          <a:ea typeface="Arial"/>
                          <a:cs typeface="Arial"/>
                        </a:rPr>
                        <a:t>6,24%</a:t>
                      </a:r>
                    </a:p>
                  </a:txBody>
                  <a:tcPr marL="114300" marR="114300" marT="95250" marB="95250">
                    <a:solidFill>
                      <a:srgbClr val="FFFFFF"/>
                    </a:solidFill>
                  </a:tcPr>
                </a:tc>
                <a:tc>
                  <a:txBody>
                    <a:bodyPr/>
                    <a:lstStyle/>
                    <a:p>
                      <a:r>
                        <a:rPr sz="1800">
                          <a:solidFill>
                            <a:srgbClr val="182F3B"/>
                          </a:solidFill>
                          <a:latin typeface="Arial"/>
                          <a:ea typeface="Arial"/>
                          <a:cs typeface="Arial"/>
                        </a:rPr>
                        <a:t>0,00342</a:t>
                      </a:r>
                    </a:p>
                  </a:txBody>
                  <a:tcPr marL="114300" marR="114300" marT="95250" marB="95250">
                    <a:solidFill>
                      <a:srgbClr val="FFFFFF"/>
                    </a:solidFill>
                  </a:tcPr>
                </a:tc>
              </a:tr>
              <a:tr h="571500">
                <a:tc>
                  <a:txBody>
                    <a:bodyPr/>
                    <a:lstStyle/>
                    <a:p>
                      <a:r>
                        <a:rPr sz="1800">
                          <a:solidFill>
                            <a:srgbClr val="182F3B"/>
                          </a:solidFill>
                          <a:latin typeface="Arial"/>
                          <a:ea typeface="Arial"/>
                          <a:cs typeface="Arial"/>
                        </a:rPr>
                        <a:t>10.000</a:t>
                      </a:r>
                    </a:p>
                  </a:txBody>
                  <a:tcPr marL="114300" marR="114300" marT="95250" marB="95250">
                    <a:solidFill>
                      <a:srgbClr val="F0F3F2"/>
                    </a:solidFill>
                  </a:tcPr>
                </a:tc>
                <a:tc>
                  <a:txBody>
                    <a:bodyPr/>
                    <a:lstStyle/>
                    <a:p>
                      <a:r>
                        <a:rPr sz="1800">
                          <a:solidFill>
                            <a:srgbClr val="182F3B"/>
                          </a:solidFill>
                          <a:latin typeface="Arial"/>
                          <a:ea typeface="Arial"/>
                          <a:cs typeface="Arial"/>
                        </a:rPr>
                        <a:t>5,96%</a:t>
                      </a:r>
                    </a:p>
                  </a:txBody>
                  <a:tcPr marL="114300" marR="114300" marT="95250" marB="95250">
                    <a:solidFill>
                      <a:srgbClr val="F0F3F2"/>
                    </a:solidFill>
                  </a:tcPr>
                </a:tc>
                <a:tc>
                  <a:txBody>
                    <a:bodyPr/>
                    <a:lstStyle/>
                    <a:p>
                      <a:r>
                        <a:rPr sz="1800">
                          <a:solidFill>
                            <a:srgbClr val="182F3B"/>
                          </a:solidFill>
                          <a:latin typeface="Arial"/>
                          <a:ea typeface="Arial"/>
                          <a:cs typeface="Arial"/>
                        </a:rPr>
                        <a:t>0,00237</a:t>
                      </a:r>
                    </a:p>
                  </a:txBody>
                  <a:tcPr marL="114300" marR="114300" marT="95250" marB="95250">
                    <a:solidFill>
                      <a:srgbClr val="F0F3F2"/>
                    </a:solidFill>
                  </a:tcPr>
                </a:tc>
              </a:tr>
              <a:tr h="571500">
                <a:tc>
                  <a:txBody>
                    <a:bodyPr/>
                    <a:lstStyle/>
                    <a:p>
                      <a:r>
                        <a:rPr sz="1800">
                          <a:solidFill>
                            <a:srgbClr val="182F3B"/>
                          </a:solidFill>
                          <a:latin typeface="Arial"/>
                          <a:ea typeface="Arial"/>
                          <a:cs typeface="Arial"/>
                        </a:rPr>
                        <a:t>20.000</a:t>
                      </a:r>
                    </a:p>
                  </a:txBody>
                  <a:tcPr marL="114300" marR="114300" marT="95250" marB="95250">
                    <a:solidFill>
                      <a:srgbClr val="FFFFFF"/>
                    </a:solidFill>
                  </a:tcPr>
                </a:tc>
                <a:tc>
                  <a:txBody>
                    <a:bodyPr/>
                    <a:lstStyle/>
                    <a:p>
                      <a:r>
                        <a:rPr sz="1800">
                          <a:solidFill>
                            <a:srgbClr val="182F3B"/>
                          </a:solidFill>
                          <a:latin typeface="Arial"/>
                          <a:ea typeface="Arial"/>
                          <a:cs typeface="Arial"/>
                        </a:rPr>
                        <a:t>6,04%</a:t>
                      </a:r>
                    </a:p>
                  </a:txBody>
                  <a:tcPr marL="114300" marR="114300" marT="95250" marB="95250">
                    <a:solidFill>
                      <a:srgbClr val="FFFFFF"/>
                    </a:solidFill>
                  </a:tcPr>
                </a:tc>
                <a:tc>
                  <a:txBody>
                    <a:bodyPr/>
                    <a:lstStyle/>
                    <a:p>
                      <a:r>
                        <a:rPr sz="1800">
                          <a:solidFill>
                            <a:srgbClr val="182F3B"/>
                          </a:solidFill>
                          <a:latin typeface="Arial"/>
                          <a:ea typeface="Arial"/>
                          <a:cs typeface="Arial"/>
                        </a:rPr>
                        <a:t>0,00168</a:t>
                      </a:r>
                    </a:p>
                  </a:txBody>
                  <a:tcPr marL="114300" marR="114300" marT="95250" marB="95250">
                    <a:solidFill>
                      <a:srgbClr val="FFFFFF"/>
                    </a:solidFill>
                  </a:tcPr>
                </a:tc>
              </a:tr>
            </a:tbl>
          </a:graphicData>
        </a:graphic>
      </p:graphicFrame>
      <p:sp>
        <p:nvSpPr>
          <p:cNvPr id="4" name="text-7np2ei-72-520">
            <a:extLst xmlns:a="http://schemas.openxmlformats.org/drawingml/2006/main">
              <a:ext uri="{FF2B5EF4-FFF2-40B4-BE49-F238E27FC236}">
                <a16:creationId xmlns:a16="http://schemas.microsoft.com/office/drawing/2014/main" id="{2E3F338D-7B00-4D3D-9A9D-D09E70C58241}"/>
              </a:ext>
            </a:extLst>
          </p:cNvPr>
          <p:cNvSpPr>
            <a:spLocks xmlns:a="http://schemas.openxmlformats.org/drawingml/2006/main" noGrp="1"/>
          </p:cNvSpPr>
          <p:nvPr/>
        </p:nvSpPr>
        <p:spPr>
          <a:xfrm xmlns:a="http://schemas.openxmlformats.org/drawingml/2006/main">
            <a:off x="685800" y="49530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00" b="1">
                <a:solidFill>
                  <a:srgbClr val="087E8B"/>
                </a:solidFill>
                <a:latin typeface="Arial"/>
                <a:ea typeface="Arial"/>
                <a:cs typeface="Arial"/>
              </a:defRPr>
            </a:pPr>
            <a:r>
              <a:rPr sz="2400" b="1">
                <a:solidFill>
                  <a:srgbClr val="087E8B"/>
                </a:solidFill>
                <a:latin typeface="Arial"/>
                <a:ea typeface="Arial"/>
                <a:cs typeface="Arial"/>
              </a:rPr>
              <a:t>Margen máximo aproximado del 95%: 0,69 puntos porcentuales.</a:t>
            </a:r>
          </a:p>
        </p:txBody>
      </p:sp>
      <p:sp>
        <p:nvSpPr>
          <p:cNvPr id="5" name="text-7np2ei-72-617">
            <a:extLst xmlns:a="http://schemas.openxmlformats.org/drawingml/2006/main">
              <a:ext uri="{FF2B5EF4-FFF2-40B4-BE49-F238E27FC236}">
                <a16:creationId xmlns:a16="http://schemas.microsoft.com/office/drawing/2014/main" id="{A1010B73-8284-4200-B530-DE0789D25C0A}"/>
              </a:ext>
            </a:extLst>
          </p:cNvPr>
          <p:cNvSpPr>
            <a:spLocks xmlns:a="http://schemas.openxmlformats.org/drawingml/2006/main" noGrp="1"/>
          </p:cNvSpPr>
          <p:nvPr/>
        </p:nvSpPr>
        <p:spPr>
          <a:xfrm xmlns:a="http://schemas.openxmlformats.org/drawingml/2006/main">
            <a:off x="685800" y="58769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516674"/>
                </a:solidFill>
                <a:latin typeface="Arial"/>
                <a:ea typeface="Arial"/>
                <a:cs typeface="Arial"/>
              </a:defRPr>
            </a:pPr>
            <a:r>
              <a:rPr sz="2025" b="0">
                <a:solidFill>
                  <a:srgbClr val="516674"/>
                </a:solidFill>
                <a:latin typeface="Arial"/>
                <a:ea typeface="Arial"/>
                <a:cs typeface="Arial"/>
              </a:rPr>
              <a:t>R controla error numérico. n controla precisión estadística.</a:t>
            </a:r>
          </a:p>
        </p:txBody>
      </p:sp>
    </p:spTree>
    <p:extLst>
      <p:ext uri="{BB962C8B-B14F-4D97-AF65-F5344CB8AC3E}">
        <p14:creationId xmlns:p14="http://schemas.microsoft.com/office/powerpoint/2010/main" val="1518795800"/>
      </p:ext>
    </p:extLst>
  </p:cSld>
</p:sld>
</file>

<file path=ppt/slides/slide16.xml><?xml version="1.0" encoding="utf-8"?>
<p:sld xmlns:p="http://schemas.openxmlformats.org/presentationml/2006/main">
  <p:cSld>
    <p:bg>
      <p:bgPr>
        <a:solidFill xmlns:a="http://schemas.openxmlformats.org/drawingml/2006/main">
          <a:srgbClr val="182F3B"/>
        </a:solidFill>
      </p:bgPr>
    </p:bg>
    <p:spTree>
      <p:nvGrpSpPr>
        <p:cNvPr id="1" name=""/>
        <p:cNvGrpSpPr/>
        <p:nvPr/>
      </p:nvGrpSpPr>
      <p:grpSpPr>
        <a:xfrm xmlns:a="http://schemas.openxmlformats.org/drawingml/2006/main"/>
      </p:grpSpPr>
      <p:sp>
        <p:nvSpPr>
          <p:cNvPr id="7" name="text-arfwhb-72-44">
            <a:extLst xmlns:a="http://schemas.openxmlformats.org/drawingml/2006/main">
              <a:ext uri="{FF2B5EF4-FFF2-40B4-BE49-F238E27FC236}">
                <a16:creationId xmlns:a16="http://schemas.microsoft.com/office/drawing/2014/main" id="{67DA1101-4C2F-491D-BB75-CB3CD537D91F}"/>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Conclusiones y alcance</a:t>
            </a:r>
          </a:p>
        </p:txBody>
      </p:sp>
      <p:sp>
        <p:nvSpPr>
          <p:cNvPr id="2" name="text-arfwhb-1190-670">
            <a:extLst xmlns:a="http://schemas.openxmlformats.org/drawingml/2006/main">
              <a:ext uri="{FF2B5EF4-FFF2-40B4-BE49-F238E27FC236}">
                <a16:creationId xmlns:a16="http://schemas.microsoft.com/office/drawing/2014/main" id="{D72A2D8F-0B1E-419B-AB85-68B0951ACDB5}"/>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BDC9CD"/>
                </a:solidFill>
                <a:latin typeface="Arial"/>
                <a:ea typeface="Arial"/>
                <a:cs typeface="Arial"/>
              </a:defRPr>
            </a:pPr>
            <a:r>
              <a:rPr sz="1350" b="0">
                <a:solidFill>
                  <a:srgbClr val="BDC9CD"/>
                </a:solidFill>
                <a:latin typeface="Arial"/>
                <a:ea typeface="Arial"/>
                <a:cs typeface="Arial"/>
              </a:rPr>
              <a:t>16</a:t>
            </a:r>
          </a:p>
        </p:txBody>
      </p:sp>
      <p:sp>
        <p:nvSpPr>
          <p:cNvPr id="3" name="text-arfwhb-72-170">
            <a:extLst xmlns:a="http://schemas.openxmlformats.org/drawingml/2006/main">
              <a:ext uri="{FF2B5EF4-FFF2-40B4-BE49-F238E27FC236}">
                <a16:creationId xmlns:a16="http://schemas.microsoft.com/office/drawing/2014/main" id="{26C0C7FB-A637-46B0-B08D-1D38636A59E2}"/>
              </a:ext>
            </a:extLst>
          </p:cNvPr>
          <p:cNvSpPr>
            <a:spLocks xmlns:a="http://schemas.openxmlformats.org/drawingml/2006/main" noGrp="1"/>
          </p:cNvSpPr>
          <p:nvPr/>
        </p:nvSpPr>
        <p:spPr>
          <a:xfrm xmlns:a="http://schemas.openxmlformats.org/drawingml/2006/main">
            <a:off x="685800" y="16192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100" b="1">
                <a:solidFill>
                  <a:srgbClr val="B7DDDC"/>
                </a:solidFill>
                <a:latin typeface="Arial"/>
                <a:ea typeface="Arial"/>
                <a:cs typeface="Arial"/>
              </a:defRPr>
            </a:pPr>
            <a:r>
              <a:rPr sz="5100" b="1">
                <a:solidFill>
                  <a:srgbClr val="B7DDDC"/>
                </a:solidFill>
                <a:latin typeface="Arial"/>
                <a:ea typeface="Arial"/>
                <a:cs typeface="Arial"/>
              </a:rPr>
              <a:t>0,0181 puntos</a:t>
            </a:r>
          </a:p>
        </p:txBody>
      </p:sp>
      <p:sp>
        <p:nvSpPr>
          <p:cNvPr id="4" name="text-arfwhb-72-323">
            <a:extLst xmlns:a="http://schemas.openxmlformats.org/drawingml/2006/main">
              <a:ext uri="{FF2B5EF4-FFF2-40B4-BE49-F238E27FC236}">
                <a16:creationId xmlns:a16="http://schemas.microsoft.com/office/drawing/2014/main" id="{CC2144F6-93BB-4DAA-8646-0BC918B73544}"/>
              </a:ext>
            </a:extLst>
          </p:cNvPr>
          <p:cNvSpPr>
            <a:spLocks xmlns:a="http://schemas.openxmlformats.org/drawingml/2006/main" noGrp="1"/>
          </p:cNvSpPr>
          <p:nvPr/>
        </p:nvSpPr>
        <p:spPr>
          <a:xfrm xmlns:a="http://schemas.openxmlformats.org/drawingml/2006/main">
            <a:off x="685800" y="3076575"/>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Bootstrap y estimación clásica describen una incertidumbre similar.</a:t>
            </a:r>
          </a:p>
        </p:txBody>
      </p:sp>
      <p:sp>
        <p:nvSpPr>
          <p:cNvPr id="5" name="text-arfwhb-72-430">
            <a:extLst xmlns:a="http://schemas.openxmlformats.org/drawingml/2006/main">
              <a:ext uri="{FF2B5EF4-FFF2-40B4-BE49-F238E27FC236}">
                <a16:creationId xmlns:a16="http://schemas.microsoft.com/office/drawing/2014/main" id="{CA057882-96BD-4C17-A69A-3097833CC7B2}"/>
              </a:ext>
            </a:extLst>
          </p:cNvPr>
          <p:cNvSpPr>
            <a:spLocks xmlns:a="http://schemas.openxmlformats.org/drawingml/2006/main" noGrp="1"/>
          </p:cNvSpPr>
          <p:nvPr/>
        </p:nvSpPr>
        <p:spPr>
          <a:xfrm xmlns:a="http://schemas.openxmlformats.org/drawingml/2006/main">
            <a:off x="685800" y="4095750"/>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El tamaño muestral aumenta precisión y capacidad de detección.</a:t>
            </a:r>
          </a:p>
        </p:txBody>
      </p:sp>
      <p:sp>
        <p:nvSpPr>
          <p:cNvPr id="6" name="text-arfwhb-72-554">
            <a:extLst xmlns:a="http://schemas.openxmlformats.org/drawingml/2006/main">
              <a:ext uri="{FF2B5EF4-FFF2-40B4-BE49-F238E27FC236}">
                <a16:creationId xmlns:a16="http://schemas.microsoft.com/office/drawing/2014/main" id="{3E764655-3328-4CB0-AEFC-41EFA3AA59FF}"/>
              </a:ext>
            </a:extLst>
          </p:cNvPr>
          <p:cNvSpPr>
            <a:spLocks xmlns:a="http://schemas.openxmlformats.org/drawingml/2006/main" noGrp="1"/>
          </p:cNvSpPr>
          <p:nvPr/>
        </p:nvSpPr>
        <p:spPr>
          <a:xfrm xmlns:a="http://schemas.openxmlformats.org/drawingml/2006/main">
            <a:off x="685800" y="5276850"/>
            <a:ext cx="10382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CCD8DB"/>
                </a:solidFill>
                <a:latin typeface="Arial"/>
                <a:ea typeface="Arial"/>
                <a:cs typeface="Arial"/>
              </a:defRPr>
            </a:pPr>
            <a:r>
              <a:rPr sz="2025" b="0">
                <a:solidFill>
                  <a:srgbClr val="CCD8DB"/>
                </a:solidFill>
                <a:latin typeface="Arial"/>
                <a:ea typeface="Arial"/>
                <a:cs typeface="Arial"/>
              </a:rPr>
              <a:t>Alcance: anuncios de esta fuente. Dependencia, selección y escala ordinal limitan la generalización.</a:t>
            </a:r>
          </a:p>
        </p:txBody>
      </p:sp>
    </p:spTree>
    <p:extLst>
      <p:ext uri="{BB962C8B-B14F-4D97-AF65-F5344CB8AC3E}">
        <p14:creationId xmlns:p14="http://schemas.microsoft.com/office/powerpoint/2010/main" val="1930384239"/>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text-cbgshk-72-44">
            <a:extLst xmlns:a="http://schemas.openxmlformats.org/drawingml/2006/main">
              <a:ext uri="{FF2B5EF4-FFF2-40B4-BE49-F238E27FC236}">
                <a16:creationId xmlns:a16="http://schemas.microsoft.com/office/drawing/2014/main" id="{1A9070B2-1F0C-4C78-BA05-962ADF3157AF}"/>
              </a:ext>
            </a:extLst>
          </p:cNvPr>
          <p:cNvSpPr>
            <a:spLocks xmlns:a="http://schemas.openxmlformats.org/drawingml/2006/main" noGrp="1"/>
          </p:cNvSpPr>
          <p:nvPr/>
        </p:nvSpPr>
        <p:spPr>
          <a:xfrm xmlns:a="http://schemas.openxmlformats.org/drawingml/2006/main">
            <a:off x="685800" y="4191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300" b="1">
                <a:solidFill>
                  <a:srgbClr val="182F3B"/>
                </a:solidFill>
                <a:latin typeface="Arial"/>
                <a:ea typeface="Arial"/>
                <a:cs typeface="Arial"/>
              </a:defRPr>
            </a:pPr>
            <a:r>
              <a:rPr sz="3300" b="1">
                <a:solidFill>
                  <a:srgbClr val="182F3B"/>
                </a:solidFill>
                <a:latin typeface="Arial"/>
                <a:ea typeface="Arial"/>
                <a:cs typeface="Arial"/>
              </a:rPr>
              <a:t>Referencias y uso de IA</a:t>
            </a:r>
          </a:p>
        </p:txBody>
      </p:sp>
      <p:sp>
        <p:nvSpPr>
          <p:cNvPr id="2" name="text-cbgshk-1190-670">
            <a:extLst xmlns:a="http://schemas.openxmlformats.org/drawingml/2006/main">
              <a:ext uri="{FF2B5EF4-FFF2-40B4-BE49-F238E27FC236}">
                <a16:creationId xmlns:a16="http://schemas.microsoft.com/office/drawing/2014/main" id="{A2025B18-93B7-4FE2-93E9-D4705D40FD70}"/>
              </a:ext>
            </a:extLst>
          </p:cNvPr>
          <p:cNvSpPr>
            <a:spLocks xmlns:a="http://schemas.openxmlformats.org/drawingml/2006/main" noGrp="1"/>
          </p:cNvSpPr>
          <p:nvPr/>
        </p:nvSpPr>
        <p:spPr>
          <a:xfrm xmlns:a="http://schemas.openxmlformats.org/drawingml/2006/main">
            <a:off x="11334750" y="63817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350" b="0">
                <a:solidFill>
                  <a:srgbClr val="516674"/>
                </a:solidFill>
                <a:latin typeface="Arial"/>
                <a:ea typeface="Arial"/>
                <a:cs typeface="Arial"/>
              </a:defRPr>
            </a:pPr>
            <a:r>
              <a:rPr sz="1350" b="0">
                <a:solidFill>
                  <a:srgbClr val="516674"/>
                </a:solidFill>
                <a:latin typeface="Arial"/>
                <a:ea typeface="Arial"/>
                <a:cs typeface="Arial"/>
              </a:rPr>
              <a:t>17</a:t>
            </a:r>
          </a:p>
        </p:txBody>
      </p:sp>
      <p:sp>
        <p:nvSpPr>
          <p:cNvPr id="3" name="text-cbgshk-72-163">
            <a:extLst xmlns:a="http://schemas.openxmlformats.org/drawingml/2006/main">
              <a:ext uri="{FF2B5EF4-FFF2-40B4-BE49-F238E27FC236}">
                <a16:creationId xmlns:a16="http://schemas.microsoft.com/office/drawing/2014/main" id="{A28BCAA3-3EC2-42E9-B40F-122ED1BA6695}"/>
              </a:ext>
            </a:extLst>
          </p:cNvPr>
          <p:cNvSpPr>
            <a:spLocks xmlns:a="http://schemas.openxmlformats.org/drawingml/2006/main" noGrp="1"/>
          </p:cNvSpPr>
          <p:nvPr/>
        </p:nvSpPr>
        <p:spPr>
          <a:xfrm xmlns:a="http://schemas.openxmlformats.org/drawingml/2006/main">
            <a:off x="685800" y="1552575"/>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2F3B"/>
                </a:solidFill>
                <a:latin typeface="Arial"/>
                <a:ea typeface="Arial"/>
                <a:cs typeface="Arial"/>
              </a:defRPr>
            </a:pPr>
            <a:r>
              <a:rPr sz="2100" b="0">
                <a:solidFill>
                  <a:srgbClr val="182F3B"/>
                </a:solidFill>
                <a:latin typeface="Arial"/>
                <a:ea typeface="Arial"/>
                <a:cs typeface="Arial"/>
              </a:rPr>
              <a:t>Efron (1979). Bootstrap Methods: Another Look at the Jackknife.</a:t>
            </a:r>
          </a:p>
        </p:txBody>
      </p:sp>
      <p:sp>
        <p:nvSpPr>
          <p:cNvPr id="4" name="text-cbgshk-72-245">
            <a:extLst xmlns:a="http://schemas.openxmlformats.org/drawingml/2006/main">
              <a:ext uri="{FF2B5EF4-FFF2-40B4-BE49-F238E27FC236}">
                <a16:creationId xmlns:a16="http://schemas.microsoft.com/office/drawing/2014/main" id="{255CF50C-006F-494E-832B-CA3F6ED67237}"/>
              </a:ext>
            </a:extLst>
          </p:cNvPr>
          <p:cNvSpPr>
            <a:spLocks xmlns:a="http://schemas.openxmlformats.org/drawingml/2006/main" noGrp="1"/>
          </p:cNvSpPr>
          <p:nvPr/>
        </p:nvSpPr>
        <p:spPr>
          <a:xfrm xmlns:a="http://schemas.openxmlformats.org/drawingml/2006/main">
            <a:off x="685800" y="2333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2F3B"/>
                </a:solidFill>
                <a:latin typeface="Arial"/>
                <a:ea typeface="Arial"/>
                <a:cs typeface="Arial"/>
              </a:defRPr>
            </a:pPr>
            <a:r>
              <a:rPr sz="2100" b="0">
                <a:solidFill>
                  <a:srgbClr val="182F3B"/>
                </a:solidFill>
                <a:latin typeface="Arial"/>
                <a:ea typeface="Arial"/>
                <a:cs typeface="Arial"/>
              </a:rPr>
              <a:t>Shalizi (2018). Simulation for Inference I — The Bootstrap.</a:t>
            </a:r>
          </a:p>
        </p:txBody>
      </p:sp>
      <p:sp>
        <p:nvSpPr>
          <p:cNvPr id="5" name="text-cbgshk-72-325">
            <a:extLst xmlns:a="http://schemas.openxmlformats.org/drawingml/2006/main">
              <a:ext uri="{FF2B5EF4-FFF2-40B4-BE49-F238E27FC236}">
                <a16:creationId xmlns:a16="http://schemas.microsoft.com/office/drawing/2014/main" id="{2C056501-3672-4E07-BB77-3D10F11701DA}"/>
              </a:ext>
            </a:extLst>
          </p:cNvPr>
          <p:cNvSpPr>
            <a:spLocks xmlns:a="http://schemas.openxmlformats.org/drawingml/2006/main" noGrp="1"/>
          </p:cNvSpPr>
          <p:nvPr/>
        </p:nvSpPr>
        <p:spPr>
          <a:xfrm xmlns:a="http://schemas.openxmlformats.org/drawingml/2006/main">
            <a:off x="685800" y="3095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2F3B"/>
                </a:solidFill>
                <a:latin typeface="Arial"/>
                <a:ea typeface="Arial"/>
                <a:cs typeface="Arial"/>
              </a:defRPr>
            </a:pPr>
            <a:r>
              <a:rPr sz="2100" b="0">
                <a:solidFill>
                  <a:srgbClr val="182F3B"/>
                </a:solidFill>
                <a:latin typeface="Arial"/>
                <a:ea typeface="Arial"/>
                <a:cs typeface="Arial"/>
              </a:rPr>
              <a:t>NIST. Monte Carlo Tool.    NumPy. Generator.multinomial.</a:t>
            </a:r>
          </a:p>
        </p:txBody>
      </p:sp>
      <p:sp>
        <p:nvSpPr>
          <p:cNvPr id="6" name="text-cbgshk-72-405">
            <a:extLst xmlns:a="http://schemas.openxmlformats.org/drawingml/2006/main">
              <a:ext uri="{FF2B5EF4-FFF2-40B4-BE49-F238E27FC236}">
                <a16:creationId xmlns:a16="http://schemas.microsoft.com/office/drawing/2014/main" id="{10282915-112F-4B65-84D5-6AC83221C8AE}"/>
              </a:ext>
            </a:extLst>
          </p:cNvPr>
          <p:cNvSpPr>
            <a:spLocks xmlns:a="http://schemas.openxmlformats.org/drawingml/2006/main" noGrp="1"/>
          </p:cNvSpPr>
          <p:nvPr/>
        </p:nvSpPr>
        <p:spPr>
          <a:xfrm xmlns:a="http://schemas.openxmlformats.org/drawingml/2006/main">
            <a:off x="685800" y="38576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82F3B"/>
                </a:solidFill>
                <a:latin typeface="Arial"/>
                <a:ea typeface="Arial"/>
                <a:cs typeface="Arial"/>
              </a:defRPr>
            </a:pPr>
            <a:r>
              <a:rPr sz="2100" b="0">
                <a:solidFill>
                  <a:srgbClr val="182F3B"/>
                </a:solidFill>
                <a:latin typeface="Arial"/>
                <a:ea typeface="Arial"/>
                <a:cs typeface="Arial"/>
              </a:rPr>
              <a:t>Airbnb Open Data (NYC), Kaggle, versión 1.</a:t>
            </a:r>
          </a:p>
        </p:txBody>
      </p:sp>
      <p:sp>
        <p:nvSpPr>
          <p:cNvPr id="7" name="text-cbgshk-72-515">
            <a:extLst xmlns:a="http://schemas.openxmlformats.org/drawingml/2006/main">
              <a:ext uri="{FF2B5EF4-FFF2-40B4-BE49-F238E27FC236}">
                <a16:creationId xmlns:a16="http://schemas.microsoft.com/office/drawing/2014/main" id="{42B5CD3D-8D6F-4B86-95BA-1C5865232E11}"/>
              </a:ext>
            </a:extLst>
          </p:cNvPr>
          <p:cNvSpPr>
            <a:spLocks xmlns:a="http://schemas.openxmlformats.org/drawingml/2006/main" noGrp="1"/>
          </p:cNvSpPr>
          <p:nvPr/>
        </p:nvSpPr>
        <p:spPr>
          <a:xfrm xmlns:a="http://schemas.openxmlformats.org/drawingml/2006/main">
            <a:off x="685800" y="4905375"/>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1">
                <a:solidFill>
                  <a:srgbClr val="087E8B"/>
                </a:solidFill>
                <a:latin typeface="Arial"/>
                <a:ea typeface="Arial"/>
                <a:cs typeface="Arial"/>
              </a:defRPr>
            </a:pPr>
            <a:r>
              <a:rPr sz="2100" b="1">
                <a:solidFill>
                  <a:srgbClr val="087E8B"/>
                </a:solidFill>
                <a:latin typeface="Arial"/>
                <a:ea typeface="Arial"/>
                <a:cs typeface="Arial"/>
              </a:rPr>
              <a:t>ChatGPT/Codex apoyó el análisis, el código y la redacción inicial.</a:t>
            </a:r>
          </a:p>
        </p:txBody>
      </p:sp>
      <p:sp>
        <p:nvSpPr>
          <p:cNvPr id="8" name="text-cbgshk-72-596">
            <a:extLst xmlns:a="http://schemas.openxmlformats.org/drawingml/2006/main">
              <a:ext uri="{FF2B5EF4-FFF2-40B4-BE49-F238E27FC236}">
                <a16:creationId xmlns:a16="http://schemas.microsoft.com/office/drawing/2014/main" id="{86FCEE6B-4EE6-46FA-8149-1F156DECF872}"/>
              </a:ext>
            </a:extLst>
          </p:cNvPr>
          <p:cNvSpPr>
            <a:spLocks xmlns:a="http://schemas.openxmlformats.org/drawingml/2006/main" noGrp="1"/>
          </p:cNvSpPr>
          <p:nvPr/>
        </p:nvSpPr>
        <p:spPr>
          <a:xfrm xmlns:a="http://schemas.openxmlformats.org/drawingml/2006/main">
            <a:off x="685800" y="5676900"/>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516674"/>
                </a:solidFill>
                <a:latin typeface="Arial"/>
                <a:ea typeface="Arial"/>
                <a:cs typeface="Arial"/>
              </a:defRPr>
            </a:pPr>
            <a:r>
              <a:rPr sz="1950" b="0">
                <a:solidFill>
                  <a:srgbClr val="516674"/>
                </a:solidFill>
                <a:latin typeface="Arial"/>
                <a:ea typeface="Arial"/>
                <a:cs typeface="Arial"/>
              </a:rPr>
              <a:t>Cada integrante debe revisar y comprender el contenido.</a:t>
            </a:r>
          </a:p>
        </p:txBody>
      </p:sp>
    </p:spTree>
    <p:extLst>
      <p:ext uri="{BB962C8B-B14F-4D97-AF65-F5344CB8AC3E}">
        <p14:creationId xmlns:p14="http://schemas.microsoft.com/office/powerpoint/2010/main" val="15390987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2026-10-05T03:49:31.8930000Z</dcterms:created>
  <dcterms:modified xsi:type="dcterms:W3CDTF">2026-10-05T03:49:31.8930000Z</dcterms:modified>
</coreProperties>
</file>