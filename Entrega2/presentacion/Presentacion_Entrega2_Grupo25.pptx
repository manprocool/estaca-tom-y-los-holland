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4.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5.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6.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b2a3cac833b4a7c" /><Relationship Type="http://schemas.openxmlformats.org/officeDocument/2006/relationships/extended-properties" Target="/docProps/app.xml" Id="R19662d1e40f74197" /><Relationship Type="http://schemas.openxmlformats.org/officeDocument/2006/relationships/officeDocument" Target="/ppt/presentation.xml" Id="Rb222b5ae9b1e4997" /></Relationships>
</file>

<file path=ppt/presentation.xml><?xml version="1.0" encoding="utf-8"?>
<p:presentation xmlns:p="http://schemas.openxmlformats.org/presentationml/2006/main">
  <p:sldMasterIdLst>
    <p:sldMasterId xmlns:r="http://schemas.openxmlformats.org/officeDocument/2006/relationships" id="2147483648" r:id="Re2136a1a08684433"/>
  </p:sldMasterIdLst>
  <p:notesMasterIdLst>
    <p:notesMasterId xmlns:r="http://schemas.openxmlformats.org/officeDocument/2006/relationships" r:id="Rc8752b2c589b4592"/>
  </p:notesMasterIdLst>
  <p:sldIdLst>
    <p:sldId xmlns:r="http://schemas.openxmlformats.org/officeDocument/2006/relationships" id="256" r:id="R7d80ec16417b48d7"/>
    <p:sldId xmlns:r="http://schemas.openxmlformats.org/officeDocument/2006/relationships" id="257" r:id="R378dc8f4c825486a"/>
    <p:sldId xmlns:r="http://schemas.openxmlformats.org/officeDocument/2006/relationships" id="258" r:id="R7b918231deac4b8a"/>
    <p:sldId xmlns:r="http://schemas.openxmlformats.org/officeDocument/2006/relationships" id="259" r:id="Rd7482218487c42ac"/>
    <p:sldId xmlns:r="http://schemas.openxmlformats.org/officeDocument/2006/relationships" id="260" r:id="R05a90b3f8b0342b6"/>
    <p:sldId xmlns:r="http://schemas.openxmlformats.org/officeDocument/2006/relationships" id="261" r:id="Ra6744c3e54a4462c"/>
    <p:sldId xmlns:r="http://schemas.openxmlformats.org/officeDocument/2006/relationships" id="262" r:id="Red42abb30fbd45d5"/>
    <p:sldId xmlns:r="http://schemas.openxmlformats.org/officeDocument/2006/relationships" id="263" r:id="Rc8d185e43e8f4591"/>
    <p:sldId xmlns:r="http://schemas.openxmlformats.org/officeDocument/2006/relationships" id="264" r:id="Re5a64c8e50914476"/>
    <p:sldId xmlns:r="http://schemas.openxmlformats.org/officeDocument/2006/relationships" id="265" r:id="R8191dcb0537a45ee"/>
    <p:sldId xmlns:r="http://schemas.openxmlformats.org/officeDocument/2006/relationships" id="266" r:id="R69de88020829401a"/>
    <p:sldId xmlns:r="http://schemas.openxmlformats.org/officeDocument/2006/relationships" id="267" r:id="R9b80e020a6e94486"/>
    <p:sldId xmlns:r="http://schemas.openxmlformats.org/officeDocument/2006/relationships" id="268" r:id="R26cde9c9048e429f"/>
  </p:sldIdLst>
  <p:sldSz cx="9144000" cy="5143500"/>
  <p:notesSz cx="6858000" cy="9144000"/>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c9c4ff16847f428a" /><Relationship Type="http://schemas.openxmlformats.org/officeDocument/2006/relationships/slideMaster" Target="/ppt/slideMasters/slideMaster1.xml" Id="Re2136a1a08684433" /><Relationship Type="http://schemas.openxmlformats.org/officeDocument/2006/relationships/notesMaster" Target="/ppt/notesMasters/notesMaster1.xml" Id="Rc8752b2c589b4592" /><Relationship Type="http://schemas.openxmlformats.org/officeDocument/2006/relationships/presProps" Target="/ppt/presProps.xml" Id="R97ca6836fab445c3" /><Relationship Type="http://schemas.openxmlformats.org/officeDocument/2006/relationships/viewProps" Target="/ppt/viewProps.xml" Id="R972f20c2992f41f5" /><Relationship Type="http://schemas.openxmlformats.org/officeDocument/2006/relationships/tableStyles" Target="/ppt/tableStyles.xml" Id="Rc536d24caf494615" /><Relationship Type="http://schemas.openxmlformats.org/officeDocument/2006/relationships/slide" Target="/ppt/slides/slide1.xml" Id="R7d80ec16417b48d7" /><Relationship Type="http://schemas.openxmlformats.org/officeDocument/2006/relationships/slide" Target="/ppt/slides/slide2.xml" Id="R378dc8f4c825486a" /><Relationship Type="http://schemas.openxmlformats.org/officeDocument/2006/relationships/slide" Target="/ppt/slides/slide3.xml" Id="R7b918231deac4b8a" /><Relationship Type="http://schemas.openxmlformats.org/officeDocument/2006/relationships/slide" Target="/ppt/slides/slide4.xml" Id="Rd7482218487c42ac" /><Relationship Type="http://schemas.openxmlformats.org/officeDocument/2006/relationships/slide" Target="/ppt/slides/slide5.xml" Id="R05a90b3f8b0342b6" /><Relationship Type="http://schemas.openxmlformats.org/officeDocument/2006/relationships/slide" Target="/ppt/slides/slide6.xml" Id="Ra6744c3e54a4462c" /><Relationship Type="http://schemas.openxmlformats.org/officeDocument/2006/relationships/slide" Target="/ppt/slides/slide7.xml" Id="Red42abb30fbd45d5" /><Relationship Type="http://schemas.openxmlformats.org/officeDocument/2006/relationships/slide" Target="/ppt/slides/slide8.xml" Id="Rc8d185e43e8f4591" /><Relationship Type="http://schemas.openxmlformats.org/officeDocument/2006/relationships/slide" Target="/ppt/slides/slide9.xml" Id="Re5a64c8e50914476" /><Relationship Type="http://schemas.openxmlformats.org/officeDocument/2006/relationships/slide" Target="/ppt/slides/slide10.xml" Id="R8191dcb0537a45ee" /><Relationship Type="http://schemas.openxmlformats.org/officeDocument/2006/relationships/slide" Target="/ppt/slides/slide11.xml" Id="R69de88020829401a" /><Relationship Type="http://schemas.openxmlformats.org/officeDocument/2006/relationships/slide" Target="/ppt/slides/slide12.xml" Id="R9b80e020a6e94486" /><Relationship Type="http://schemas.openxmlformats.org/officeDocument/2006/relationships/slide" Target="/ppt/slides/slide13.xml" Id="R26cde9c9048e429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6f2eb414168446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Grupo17 Airbnb">
  <a:themeElements>
    <a:clrScheme name="Grupo17 Airbnb">
      <a:dk1>
        <a:srgbClr val="1F2A37"/>
      </a:dk1>
      <a:lt1>
        <a:srgbClr val="FFFFFF"/>
      </a:lt1>
      <a:dk2>
        <a:srgbClr val="493C73"/>
      </a:dk2>
      <a:lt2>
        <a:srgbClr val="EEF2F6"/>
      </a:lt2>
      <a:accent1>
        <a:srgbClr val="087E8B"/>
      </a:accent1>
      <a:accent2>
        <a:srgbClr val="C85A43"/>
      </a:accent2>
      <a:accent3>
        <a:srgbClr val="493C73"/>
      </a:accent3>
      <a:accent4>
        <a:srgbClr val="6B7A8C"/>
      </a:accent4>
      <a:accent5>
        <a:srgbClr val="2E7D5B"/>
      </a:accent5>
      <a:accent6>
        <a:srgbClr val="D9A441"/>
      </a:accent6>
      <a:hlink>
        <a:srgbClr val="087E8B"/>
      </a:hlink>
      <a:folHlink>
        <a:srgbClr val="493C73"/>
      </a:folHlink>
    </a:clrScheme>
    <a:fontScheme name="Grupo17 Airbnb">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Grupo17 Airbnb">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ce55448c2ed407f" /><Relationship Type="http://schemas.openxmlformats.org/officeDocument/2006/relationships/notesMaster" Target="/ppt/notesMasters/notesMaster1.xml" Id="Rca1f6cf9672c423c" /></Relationships>
</file>

<file path=ppt/notesSlides/_rels/notesSlide2.xml.rels>&#65279;<?xml version="1.0" encoding="utf-8"?><Relationships xmlns="http://schemas.openxmlformats.org/package/2006/relationships"><Relationship Type="http://schemas.openxmlformats.org/officeDocument/2006/relationships/slide" Target="/ppt/slides/slide2.xml" Id="Rac7c4cfb3422497f" /><Relationship Type="http://schemas.openxmlformats.org/officeDocument/2006/relationships/notesMaster" Target="/ppt/notesMasters/notesMaster1.xml" Id="R79b18bca98f54e22" /></Relationships>
</file>

<file path=ppt/notesSlides/_rels/notesSlide3.xml.rels>&#65279;<?xml version="1.0" encoding="utf-8"?><Relationships xmlns="http://schemas.openxmlformats.org/package/2006/relationships"><Relationship Type="http://schemas.openxmlformats.org/officeDocument/2006/relationships/slide" Target="/ppt/slides/slide3.xml" Id="Rbb9d0df749a4458f" /><Relationship Type="http://schemas.openxmlformats.org/officeDocument/2006/relationships/notesMaster" Target="/ppt/notesMasters/notesMaster1.xml" Id="R19da956a210d4779" /></Relationships>
</file>

<file path=ppt/notesSlides/_rels/notesSlide4.xml.rels>&#65279;<?xml version="1.0" encoding="utf-8"?><Relationships xmlns="http://schemas.openxmlformats.org/package/2006/relationships"><Relationship Type="http://schemas.openxmlformats.org/officeDocument/2006/relationships/slide" Target="/ppt/slides/slide4.xml" Id="R7efbaa6ecdcb4dab" /><Relationship Type="http://schemas.openxmlformats.org/officeDocument/2006/relationships/notesMaster" Target="/ppt/notesMasters/notesMaster1.xml" Id="R779be6684da447ba" /></Relationships>
</file>

<file path=ppt/notesSlides/_rels/notesSlide5.xml.rels>&#65279;<?xml version="1.0" encoding="utf-8"?><Relationships xmlns="http://schemas.openxmlformats.org/package/2006/relationships"><Relationship Type="http://schemas.openxmlformats.org/officeDocument/2006/relationships/slide" Target="/ppt/slides/slide5.xml" Id="R32506157fb0a43d0" /><Relationship Type="http://schemas.openxmlformats.org/officeDocument/2006/relationships/notesMaster" Target="/ppt/notesMasters/notesMaster1.xml" Id="R8245517245974c63" /></Relationships>
</file>

<file path=ppt/notesSlides/_rels/notesSlide6.xml.rels>&#65279;<?xml version="1.0" encoding="utf-8"?><Relationships xmlns="http://schemas.openxmlformats.org/package/2006/relationships"><Relationship Type="http://schemas.openxmlformats.org/officeDocument/2006/relationships/slide" Target="/ppt/slides/slide6.xml" Id="R26120b9b00534ff3" /><Relationship Type="http://schemas.openxmlformats.org/officeDocument/2006/relationships/notesMaster" Target="/ppt/notesMasters/notesMaster1.xml" Id="R660a819599164f19" /></Relationships>
</file>

<file path=ppt/notesSlides/_rels/notesSlide7.xml.rels>&#65279;<?xml version="1.0" encoding="utf-8"?><Relationships xmlns="http://schemas.openxmlformats.org/package/2006/relationships"><Relationship Type="http://schemas.openxmlformats.org/officeDocument/2006/relationships/slide" Target="/ppt/slides/slide7.xml" Id="Rb5fbf7368b5340d5" /><Relationship Type="http://schemas.openxmlformats.org/officeDocument/2006/relationships/notesMaster" Target="/ppt/notesMasters/notesMaster1.xml" Id="R1fa88059366a43fb" /></Relationships>
</file>

<file path=ppt/notesSlides/_rels/notesSlide8.xml.rels>&#65279;<?xml version="1.0" encoding="utf-8"?><Relationships xmlns="http://schemas.openxmlformats.org/package/2006/relationships"><Relationship Type="http://schemas.openxmlformats.org/officeDocument/2006/relationships/slide" Target="/ppt/slides/slide8.xml" Id="Re1fa2e1870cd4425" /><Relationship Type="http://schemas.openxmlformats.org/officeDocument/2006/relationships/notesMaster" Target="/ppt/notesMasters/notesMaster1.xml" Id="R0c5e2c6c82e54739" /></Relationships>
</file>

<file path=ppt/notesSlides/_rels/notesSlide9.xml.rels>&#65279;<?xml version="1.0" encoding="utf-8"?><Relationships xmlns="http://schemas.openxmlformats.org/package/2006/relationships"><Relationship Type="http://schemas.openxmlformats.org/officeDocument/2006/relationships/slide" Target="/ppt/slides/slide9.xml" Id="R5e2677a73c7247d6" /><Relationship Type="http://schemas.openxmlformats.org/officeDocument/2006/relationships/notesMaster" Target="/ppt/notesMasters/notesMaster1.xml" Id="R4a52d42465cf45c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fe5c1d820f24b55" /><Relationship Type="http://schemas.openxmlformats.org/officeDocument/2006/relationships/notesMaster" Target="/ppt/notesMasters/notesMaster1.xml" Id="Rc95cdde57a1d493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8fbcf40a1764a08" /><Relationship Type="http://schemas.openxmlformats.org/officeDocument/2006/relationships/notesMaster" Target="/ppt/notesMasters/notesMaster1.xml" Id="R0631e428dbfd492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dc7b957085e4db2" /><Relationship Type="http://schemas.openxmlformats.org/officeDocument/2006/relationships/notesMaster" Target="/ppt/notesMasters/notesMaster1.xml" Id="R0fce7766a3a44e5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e920e31802b4020" /><Relationship Type="http://schemas.openxmlformats.org/officeDocument/2006/relationships/notesMaster" Target="/ppt/notesMasters/notesMaster1.xml" Id="Rd1c007430daf48e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[José Flores · ~0:30]</a:t>
            </a:r>
            <a:endParaRPr/>
          </a:p>
          <a:p xmlns:a="http://schemas.openxmlformats.org/drawingml/2006/main">
            <a:r>
              <a:t>Buenas tardes. Somos el Grupo 25. Trabajamos con Airbnb Open Data de Nueva York (versión 1 del dataset de Kaggle, el mismo de la Entrega 1). Nuestra pregunta es cuánto difieren las calificaciones medias de Manhattan y Brooklyn y con qué precisión podemos estimarlo. Seguiremos el orden del enunciado: estimación puntual, bootstrap implementado por nosotros y simulación Monte Carlo.</a:t>
            </a:r>
            <a:endParaRPr/>
          </a:p>
          <a:p xmlns:a="http://schemas.openxmlformats.org/drawingml/2006/main">
            <a:r>
              <a:t>Todo lo que mostramos sale del notebook Entrega2_Grupo25_Airbnb.ipynb.</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[José Flores · ~1:00]</a:t>
            </a:r>
            <a:endParaRPr/>
          </a:p>
          <a:p xmlns:a="http://schemas.openxmlformats.org/drawingml/2006/main">
            <a:r>
              <a:t>En la Entrega 1 comparamos las calificaciones entre los cinco distritos. Para esta entrega elegimos dos parámetros poblacionales: la media de calificación de los anuncios de Manhattan (μM) y la de Brooklyn (μB). Su diferencia Δ es un contraste derivado y se mide en puntos de la escala 1 a 5.</a:t>
            </a:r>
            <a:endParaRPr/>
          </a:p>
          <a:p xmlns:a="http://schemas.openxmlformats.org/drawingml/2006/main">
            <a:r>
              <a:t>Elegimos estos dos distritos porque son los de mayor presencia en la muestra, no porque tengan el máximo y el mínimo promedio. De hecho, en el gráfico se ve que Staten Island tiene el promedio más alto. Este contraste no reemplaza la comparación de los cinco distritos.</a:t>
            </a:r>
            <a:endParaRPr/>
          </a:p>
          <a:p xmlns:a="http://schemas.openxmlformats.org/drawingml/2006/main">
            <a:r>
              <a:t>Pregunta probable: ¿por qué estos distritos? → mayor tamaño de muestra; la elección no usa los promedios observados.</a:t>
            </a:r>
            <a:endParaRPr/>
          </a:p>
          <a:p xmlns:a="http://schemas.openxmlformats.org/drawingml/2006/main">
            <a:r>
              <a:t>Antecedente formal: H0 establece igualdad de las cinco medias y H1 que alguna difiere. ANOVA F=11,3048 y p&lt;0,001. La V de Cramér=0,0200 proviene de otro análisis, distrito × categoría de puntuación. Igualdad de medias e independencia son hipótesis distintas. Fuente: notebook Entrega1_Grupo_EDA_Airbnb.ipynb, sección 6; cifras recalculadas en el notebook actualizado.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[José Flores · ~1:00]</a:t>
            </a:r>
            <a:endParaRPr/>
          </a:p>
          <a:p xmlns:a="http://schemas.openxmlformats.org/drawingml/2006/main">
            <a:r>
              <a:t>Partimos del CSV original y reproducimos la limpieza de la Entrega 1: de 102.599 filas quedan 102.058 tras eliminar 541 duplicados. Para el análisis usamos 43.418 calificaciones válidas en Manhattan y 41.515 en Brooklyn; faltan 140 y 116 respectivamente y no las imputamos.</a:t>
            </a:r>
            <a:endParaRPr/>
          </a:p>
          <a:p xmlns:a="http://schemas.openxmlformats.org/drawingml/2006/main">
            <a:r>
              <a:t>La unidad es el anuncio y cada uno pesa lo mismo. Suponemos independencia, y tratamos la escala ordinal como numérica al calcular medias; lo decimos explícitamente como limitación. La inferencia es para anuncios comparables a esta fuente, no una afirmación sobre todo Nueva York.</a:t>
            </a:r>
            <a:endParaRPr/>
          </a:p>
          <a:p xmlns:a="http://schemas.openxmlformats.org/drawingml/2006/main">
            <a:r>
              <a:t>Preguntas probables: ¿unidad de observación? → un anuncio. ¿Causalidad? → no, es asociación.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[Sebastian Alcaide · ~1:00]</a:t>
            </a:r>
            <a:endParaRPr/>
          </a:p>
          <a:p xmlns:a="http://schemas.openxmlformats.org/drawingml/2006/main">
            <a:r>
              <a:t>El estimador de cada media es el promedio muestral, y el de la diferencia es la resta de ambos promedios. El error estándar de la media es s/√n y el de la diferencia combina las varianzas de ambos grupos (Welch), sin suponer varianzas iguales.</a:t>
            </a:r>
            <a:endParaRPr/>
          </a:p>
          <a:p xmlns:a="http://schemas.openxmlformats.org/drawingml/2006/main">
            <a:r>
              <a:t>Parámetro vs estimador: el parámetro es una constante poblacional; el estimador es una función de la muestra y cambia entre muestras; su valor calculado es la estimación puntual.</a:t>
            </a:r>
            <a:endParaRPr/>
          </a:p>
          <a:p xmlns:a="http://schemas.openxmlformats.org/drawingml/2006/main">
            <a:r>
              <a:t>Propiedades: insesgado cuando los datos tienen esperanza μg, y consistente bajo los supuestos de muestreo; eficiente en el sentido de mínima varianza entre estimadores lineales insesgados de la media, no frente a todos los estimadores posibles. Ser insesgado bajo el modelo no corrige sesgos de selección.</a:t>
            </a:r>
            <a:endParaRPr/>
          </a:p>
          <a:p xmlns:a="http://schemas.openxmlformats.org/drawingml/2006/main">
            <a:r>
              <a:t>La independencia por sí sola no garantiza ausencia de sesgo respecto a la población objetivo. La fórmula de varianza y la propiedad de eficiencia requieren las condiciones expresadas en el notebook.</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[Sebastian Alcaide · ~0:45]</a:t>
            </a:r>
            <a:endParaRPr/>
          </a:p>
          <a:p xmlns:a="http://schemas.openxmlformats.org/drawingml/2006/main">
            <a:r>
              <a:t>Las medias observadas son 3,2765 en Manhattan y 3,2585 en Brooklyn; la diferencia estimada es 0,0181 puntos. Usamos intervalos t del 95% como apoyo, con grados de libertad de Welch para la diferencia. Como las puntuaciones no son normales, los tratamos como aproximaciones de muestra grande.</a:t>
            </a:r>
            <a:endParaRPr/>
          </a:p>
          <a:p xmlns:a="http://schemas.openxmlformats.org/drawingml/2006/main">
            <a:r>
              <a:t>El IC de la diferencia es [0,0007; 0,0355]: excluye el cero, pero por muy poco. Por eso evitamos conclusiones fuertes basadas solo en cruzar un umbral de significancia y nos centramos en la magnitud y la precisión.</a:t>
            </a:r>
            <a:endParaRPr/>
          </a:p>
          <a:p xmlns:a="http://schemas.openxmlformats.org/drawingml/2006/main">
            <a:r>
              <a:t>Pregunta probable: ¿qué significa el IC 95%? → cobertura del procedimiento en muestreo repetido bajo sus supuestos; no es una probabilidad del 95% sobre el parámetro fijo.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[Sebastian Alcaide · ~1:15]</a:t>
            </a:r>
            <a:endParaRPr/>
          </a:p>
          <a:p xmlns:a="http://schemas.openxmlformats.org/drawingml/2006/main">
            <a:r>
              <a:t>El bootstrap lo introdujo Efron en 1979. La idea es usar la distribución empírica de los datos como si fuera la población para aproximar la distribución muestral de un estadístico, útil cuando es difícil derivar su incertidumbre analíticamente.</a:t>
            </a:r>
            <a:endParaRPr/>
          </a:p>
          <a:p xmlns:a="http://schemas.openxmlformats.org/drawingml/2006/main">
            <a:r>
              <a:t>Pasos: (1) calculamos las medias observadas; (2) en cada distrito sorteamos con reemplazo tantos anuncios como los originales, de forma independiente entre distritos; (3) calculamos las dos medias y su diferencia en la remuestra; (4) repetimos 20.000 veces; (5) la desviación estándar de las réplicas es el error estándar bootstrap y los percentiles 2,5 y 97,5 dan el IC percentil.</a:t>
            </a:r>
            <a:endParaRPr/>
          </a:p>
          <a:p xmlns:a="http://schemas.openxmlformats.org/drawingml/2006/main">
            <a:r>
              <a:t>Implementación: la función bootstrap_medias del notebook genera índices aleatorios con NumPy, selecciona observaciones con reemplazo y calcula los estadísticos; NumPy aporta solo el generador aleatorio.</a:t>
            </a:r>
            <a:endParaRPr/>
          </a:p>
          <a:p xmlns:a="http://schemas.openxmlformats.org/drawingml/2006/main">
            <a:r>
              <a:t>Preguntas probables: ¿por qué con reemplazo? → cada observación representa masa de la distribución empírica; sin reemplazo, seleccionar todos solo reordena y la media queda igual. ¿Bootstrap y Monte Carlo son lo mismo? → ambos simulan, pero el bootstrap remuestrea los datos observados para aproximar la distribución del estimador; Monte Carlo evalúa probabilidades bajo un modelo explícito.</a:t>
            </a:r>
            <a:endParaRPr/>
          </a:p>
          <a:p xmlns:a="http://schemas.openxmlformats.org/drawingml/2006/main">
            <a:r>
              <a:t>Relevancia moderna: remuestrear permite estimar la incertidumbre de medianas, cuantiles o coeficientes de regresión sin derivar su distribución analítica. La dependencia necesita remuestreo adaptado, por ejemplo grupos o bloques. Referencias: Efron (1979), https://doi.org/10.1214/aos/1176344552; Shalizi (2018), https://stat.cmu.edu/~cshalizi/dst/18/lectures/18/lecture-18.html.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[Sebastian Alcaide · ~1:00]</a:t>
            </a:r>
            <a:endParaRPr/>
          </a:p>
          <a:p xmlns:a="http://schemas.openxmlformats.org/drawingml/2006/main">
            <a:r>
              <a:t>A la izquierda, las 20.000 medias remuestreadas de cada distrito: dos campanas centradas cerca de 3,2765 y 3,2585. A la derecha, la distribución de la diferencia Δ*, centrada en 0,018. Las barras oscuras marcan el 95% central: de 0,0006 a 0,0354.</a:t>
            </a:r>
            <a:endParaRPr/>
          </a:p>
          <a:p xmlns:a="http://schemas.openxmlformats.org/drawingml/2006/main">
            <a:r>
              <a:t>El EE bootstrap de la diferencia es 0,00884. El promedio de las réplicas difiere de la estimación original en 0,00004: para la media el sesgo bootstrap teórico es cero, esa diferencia viene del número finito de réplicas y no prueba sesgo del estimador.</a:t>
            </a:r>
            <a:endParaRPr/>
          </a:p>
          <a:p xmlns:a="http://schemas.openxmlformats.org/drawingml/2006/main">
            <a:r>
              <a:t>Advertencia: que las dos campanas de la izquierda se solapen no significa igualdad de medias; para el contraste usamos la distribución de la diferencia, a la derecha.</a:t>
            </a:r>
            <a:endParaRPr/>
          </a:p>
          <a:p xmlns:a="http://schemas.openxmlformats.org/drawingml/2006/main">
            <a:r>
              <a:t>(Los gráficos son polígonos de frecuencia construidos con 30 intervalos del resumen que guarda el notebook; las figuras originales están en 02_bootstrap_distribuciones.png.)</a:t>
            </a:r>
            <a:endParaRPr/>
          </a:p>
          <a:p xmlns:a="http://schemas.openxmlformats.org/drawingml/2006/main">
            <a:r>
              <a:t>Las curvas de medias usan intervalos comunes calculados desde las 20.000 réplicas del notebook. El eje numérico conserva el orden de los centros de cada intervalo. El histograma de Δ tiene 30 barras y color oscuro para centros dentro del IC percentil. El punto de corte se aproxima visualmente por centros de intervalos, mientras que las cifras del IC proceden de los percentiles completos.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[Sebastian Alcaide · ~0:45]</a:t>
            </a:r>
            <a:endParaRPr/>
          </a:p>
          <a:p xmlns:a="http://schemas.openxmlformats.org/drawingml/2006/main">
            <a:r>
              <a:t>Comparamos el mismo estimador, el mismo subconjunto y la misma unidad. Los errores estándar son 0,008875 (clásico) y 0,008844 (bootstrap), con razón 0,996, y los intervalos casi coinciden. No hay diferencias relevantes entre enfoques, lo esperable con una media y tamaños tan grandes.</a:t>
            </a:r>
            <a:endParaRPr/>
          </a:p>
          <a:p xmlns:a="http://schemas.openxmlformats.org/drawingml/2006/main">
            <a:r>
              <a:t>Sobre el número de réplicas: mostramos prefijos de la misma secuencia con B = 500, 2.500, 5.000, 10.000 y 20.000; con pocas réplicas el límite inferior puede cruzar cero, y con 20.000 el EE simulado queda a 0,35% de la fórmula exacta condicional Var* = (n−1)/n · s²/n.</a:t>
            </a:r>
            <a:endParaRPr/>
          </a:p>
          <a:p xmlns:a="http://schemas.openxmlformats.org/drawingml/2006/main">
            <a:r>
              <a:t>Ventaja: distribución visible y extensibilidad. Límites: B finito, dependencia no modelada, datos ausentes, cobertura aproximada del IC percentil.</a:t>
            </a:r>
            <a:endParaRPr/>
          </a:p>
          <a:p xmlns:a="http://schemas.openxmlformats.org/drawingml/2006/main">
            <a:r>
              <a:t>Transición → «Ya vimos que ambos métodos coinciden. Ahora simulamos qué pasaría si cambiara el tamaño de la muestra.»</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[Pedro Ortiz · ~1:15]</a:t>
            </a:r>
            <a:endParaRPr/>
          </a:p>
          <a:p xmlns:a="http://schemas.openxmlformats.org/drawingml/2006/main">
            <a:r>
              <a:t>Monte Carlo aproxima cantidades difíciles de calcular mediante muchas realizaciones aleatorias de un modelo. Nuestra situación de interés: ¿qué pasa con la estimación y la capacidad de detectar la diferencia cuando cambia el tamaño de muestra?</a:t>
            </a:r>
            <a:endParaRPr/>
          </a:p>
          <a:p xmlns:a="http://schemas.openxmlformats.org/drawingml/2006/main">
            <a:r>
              <a:t>Modelo: cada puntuación toma uno de cinco valores con probabilidades iguales a las frecuencias observadas en cada distrito (gráfico). Para ng anuncios independientes, los conteos por puntuación son multinomiales; es una forma exacta y eficiente de simular los sorteos y recuperar la media y la varianza de cada muestra.</a:t>
            </a:r>
            <a:endParaRPr/>
          </a:p>
          <a:p xmlns:a="http://schemas.openxmlformats.org/drawingml/2006/main">
            <a:r>
              <a:t>Dos modelos: ajustado (cada distrito con su distribución, diferencia 0,0181) y nulo (ambos con la distribución conjunta, diferencia 0, que sirve de control de falsos rechazos). En cada realización aplicamos la prueba de Welch bilateral al 5%.</a:t>
            </a:r>
            <a:endParaRPr/>
          </a:p>
          <a:p xmlns:a="http://schemas.openxmlformats.org/drawingml/2006/main">
            <a:r>
              <a:t>Advertencia: con tamaños originales, el modelo ajustado coincide con el objetivo del bootstrap por filas; el aporte nuevo de Monte Carlo es variar los tamaños y construir el escenario nulo. Las probabilidades se fijan; no se incluye incertidumbre sobre ellas.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[Pedro Ortiz · ~1:15]</a:t>
            </a:r>
            <a:endParaRPr/>
          </a:p>
          <a:p xmlns:a="http://schemas.openxmlformats.org/drawingml/2006/main">
            <a:r>
              <a:t>Cada escenario usa R=20.000 realizaciones. Potencia con tamaños originales: 52,83%, intervalo Wilson [52,14%; 53,52%]. Oralmente: aproximadamente 53%. Con 200 anuncios por distrito, 5,34%. Falsos rechazos: 4,97–5,40%. Las probabilidades observadas se fijan con los mismos datos, de modo que esta potencia describe el modelo y no una validación externa. Los intervalos de Wilson miden error de simulación. Una misma semilla no garantiza resultados idénticos en todas las versiones y plataformas: https://numpy.org/doc/stable/reference/random/compatibility.html. Las versiones de esta entrega están en requirements.txt. Fuente: resultados/resumen_resultados.json, ejecución del notebook del grupo 25.</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[Miguel Primera · ~1:15]</a:t>
            </a:r>
            <a:endParaRPr/>
          </a:p>
          <a:p xmlns:a="http://schemas.openxmlformats.org/drawingml/2006/main">
            <a:r>
              <a:t>El evento es |delta estimada − delta del modelo| ≤0,05 puntos. En el escenario original hubo 20.000 éxitos entre 20.000 simulaciones, con límite Wilson inferior 99,98%. Un resultado de 100% en un número finito de simulaciones no prueba certeza poblacional. n controla la variabilidad estadística; R controla el error numérico. La tabla se actualiza desde convergencia_monte_carlo.csv y muestra prefijos de una misma secuencia, por lo que sus filas no son experimentos independientes. Referencia Wilson: https://www.itl.nist.gov/div898/handbook/prc/section2/prc241.htm.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[Miguel Primera · ~1:00]</a:t>
            </a:r>
            <a:endParaRPr/>
          </a:p>
          <a:p xmlns:a="http://schemas.openxmlformats.org/drawingml/2006/main">
            <a:r>
              <a:t>1) Estimamos una diferencia de 0,0181 puntos entre Manhattan y Brooklyn. Los intervalos clásico y bootstrap son casi idénticos: la incertidumbre es la misma por ambos caminos.</a:t>
            </a:r>
            <a:endParaRPr/>
          </a:p>
          <a:p xmlns:a="http://schemas.openxmlformats.org/drawingml/2006/main">
            <a:r>
              <a:t>2) Monte Carlo muestra cómo el tamaño muestral cambia lo que podemos detectar: con 200 anuncios por distrito la prueba apenas rechaza más que el nivel nominal; con los tamaños originales la potencia es de aproximadamente 53% y el evento de error ≤0,05 ocurrió en todas las 20.000 simulaciones. Todo condicionado al modelo ajustado.</a:t>
            </a:r>
            <a:endParaRPr/>
          </a:p>
          <a:p xmlns:a="http://schemas.openxmlformats.org/drawingml/2006/main">
            <a:r>
              <a:t>3) La diferencia es pequeña en la escala 1–5. Los umbrales de 0,05, 0,10 y 0,20 que usamos en el notebook son referencias exploratorias, no estándares validados de importancia práctica ni una prueba formal de equivalencia.</a:t>
            </a:r>
            <a:endParaRPr/>
          </a:p>
          <a:p xmlns:a="http://schemas.openxmlformats.org/drawingml/2006/main">
            <a:r>
              <a:t>4) Es una asociación en anuncios de esta fuente; el distrito no se asignó aleatoriamente. Igualdad de medias tampoco implica independencia entre variables.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[Miguel Primera · ~1:00]</a:t>
            </a:r>
            <a:endParaRPr/>
          </a:p>
          <a:p xmlns:a="http://schemas.openxmlformats.org/drawingml/2006/main">
            <a:r>
              <a:t>Límites: no conocemos el mecanismo de inclusión del dataset ni el de las calificaciones faltantes. Como diagnóstico, si las 140 calificaciones faltantes de Manhattan y las 116 de Brooklyn tomaran valores extremos de 1 o 5, la diferencia descriptiva de todos los anuncios con distrito conocido quedaría entre 0,0059 y 0,0299 puntos; son cotas deterministas, no un IC, y no corrigen anuncios ausentes de la fuente.</a:t>
            </a:r>
            <a:endParaRPr/>
          </a:p>
          <a:p xmlns:a="http://schemas.openxmlformats.org/drawingml/2006/main">
            <a:r>
              <a:t>También: independencia supuesta, escala ordinal tratada como numérica, solo dos de cinco distritos, y Monte Carlo fija las probabilidades empíricas.</a:t>
            </a:r>
            <a:endParaRPr/>
          </a:p>
          <a:p xmlns:a="http://schemas.openxmlformats.org/drawingml/2006/main">
            <a:r>
              <a:t>Uso de IA: el enunciado pide declarar herramientas y tareas. El notebook declara ChatGPT/Codex; esta presentación se elaboró con Claude. [Ajustar esta línea si el grupo usó otras herramientas.] Cada integrante debe poder explicar cada cifra.</a:t>
            </a:r>
            <a:endParaRPr/>
          </a:p>
          <a:p xmlns:a="http://schemas.openxmlformats.org/drawingml/2006/main">
            <a:r>
              <a:t>Cierre: «Muchas gracias. Quedamos atentos a sus preguntas.»</a:t>
            </a:r>
            <a:endParaRPr/>
          </a:p>
          <a:p xmlns:a="http://schemas.openxmlformats.org/drawingml/2006/main">
            <a:r>
              <a:t>Actualización final: el notebook, las tablas y los gráficos corresponden a la ejecución con Python 3.12.14, NumPy 2.3.5, pandas 2.2.3, SciPy 1.17.0 y Matplotlib 3.10.8. La declaración de IA distingue el aporte inicial de Claude y la actualización de ChatGPT/Codex. Cotas de faltantes: límites deterministas del conjunto ampliado, no intervalos de confianza.</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49c42432f7c4c0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cc16796fcc7401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2f71d2d3547469e"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CONTENIDO">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783D2A6-536D-4D8D-B250-4330883E47F3}"/>
              </a:ext>
            </a:extLst>
          </p:cNvPr>
          <p:cNvSpPr>
            <a:spLocks xmlns:a="http://schemas.openxmlformats.org/drawingml/2006/main" noGrp="1"/>
          </p:cNvSpPr>
          <p:nvPr/>
        </p:nvSpPr>
        <p:spPr>
          <a:xfrm xmlns:a="http://schemas.openxmlformats.org/drawingml/2006/main">
            <a:off x="457200" y="4754880"/>
            <a:ext cx="54864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chemeClr val="accent4"/>
                </a:solidFill>
              </a:rPr>
              <a:t>Grupo 25 · INF280 · Simulación e inferencia</a:t>
            </a:r>
            <a:endParaRPr sz="1000"/>
          </a:p>
        </p:txBody>
      </p:sp>
      <p:sp>
        <p:nvSpPr>
          <p:cNvPr id="3" name="Text 1">
            <a:extLst xmlns:a="http://schemas.openxmlformats.org/drawingml/2006/main">
              <a:ext uri="{FF2B5EF4-FFF2-40B4-BE49-F238E27FC236}">
                <a16:creationId xmlns:a16="http://schemas.microsoft.com/office/drawing/2014/main" id="{06C28E2F-9394-41E2-AEFD-5BF5FB5A4443}"/>
              </a:ext>
            </a:extLst>
          </p:cNvPr>
          <p:cNvSpPr>
            <a:spLocks xmlns:a="http://schemas.openxmlformats.org/drawingml/2006/main" noGrp="1"/>
          </p:cNvSpPr>
          <p:nvPr>
            <p:ph type="title" idx="101" hasCustomPrompt="1"/>
          </p:nvPr>
        </p:nvSpPr>
        <p:spPr>
          <a:xfrm xmlns:a="http://schemas.openxmlformats.org/drawingml/2006/main">
            <a:off x="457200" y="274320"/>
            <a:ext cx="8229600" cy="68580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lvl1pPr marL="0" indent="0" algn="l">
              <a:buNone/>
              <a:defRPr sz="3000" b="1">
                <a:solidFill>
                  <a:schemeClr val="tx1"/>
                </a:solidFill>
              </a:defRPr>
            </a:lvl1pPr>
          </a:lstStyle>
          <a:p xmlns:a="http://schemas.openxmlformats.org/drawingml/2006/main">
            <a:pPr marL="0" indent="0" algn="l">
              <a:buNone/>
            </a:pPr>
            <a:endParaRPr sz="3000"/>
          </a:p>
        </p:txBody>
      </p:sp>
      <p:sp>
        <p:nvSpPr>
          <p:cNvPr id="25" name="Slide Number Placeholder 0">
            <a:extLst xmlns:a="http://schemas.openxmlformats.org/drawingml/2006/main">
              <a:ext uri="{FF2B5EF4-FFF2-40B4-BE49-F238E27FC236}">
                <a16:creationId xmlns:a16="http://schemas.microsoft.com/office/drawing/2014/main" id="{84789A1A-7A2D-4789-AB48-8B994C4D65A3}"/>
              </a:ext>
            </a:extLst>
          </p:cNvPr>
          <p:cNvSpPr>
            <a:spLocks xmlns:a="http://schemas.openxmlformats.org/drawingml/2006/main" noGrp="1"/>
          </p:cNvSpPr>
          <p:nvPr>
            <p:ph type="sldNum" idx="4294967295"/>
          </p:nvPr>
        </p:nvSpPr>
        <p:spPr>
          <a:xfrm xmlns:a="http://schemas.openxmlformats.org/drawingml/2006/main">
            <a:off x="8229600" y="4754880"/>
            <a:ext cx="457200" cy="228600"/>
          </a:xfrm>
          <a:prstGeom xmlns:a="http://schemas.openxmlformats.org/drawingml/2006/main" prst="rect">
            <a:avLst/>
          </a:prstGeom>
        </p:spPr>
        <p:txBody>
          <a:bodyPr xmlns:a="http://schemas.openxmlformats.org/drawingml/2006/main"/>
          <a:lstStyle xmlns:a="http://schemas.openxmlformats.org/drawingml/2006/main">
            <a:lvl1pPr>
              <a:buNone/>
              <a:defRPr sz="1000">
                <a:solidFill>
                  <a:schemeClr val="accent4"/>
                </a:solidFill>
              </a:defRPr>
            </a:lvl1pPr>
          </a:lstStyle>
          <a:p xmlns:a="http://schemas.openxmlformats.org/drawingml/2006/main">
            <a:pPr algn="r">
              <a:buNone/>
            </a:pPr>
            <a:fld id="{F7021451-1387-4CA6-816F-3879F97B5CBC}" type="slidenum">
              <a:rPr b="0"/>
              <a:t>1002</a:t>
            </a:fld>
            <a:endParaRPr/>
          </a:p>
        </p:txBody>
      </p:sp>
    </p:spTree>
  </p:cSld>
</p:sldLayout>
</file>

<file path=ppt/slideLayouts/slideLayout3.xml><?xml version="1.0" encoding="utf-8"?>
<p:sldLayout xmlns:p="http://schemas.openxmlformats.org/presentationml/2006/main" preserve="1">
  <p:cSld name="OSCURO">
    <p:bg>
      <p:bgPr>
        <a:solidFill xmlns:a="http://schemas.openxmlformats.org/drawingml/2006/main">
          <a:srgbClr val="1F2A37"/>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15D6D56-3BEC-4D98-B6E0-29C2558D9721}"/>
              </a:ext>
            </a:extLst>
          </p:cNvPr>
          <p:cNvSpPr>
            <a:spLocks xmlns:a="http://schemas.openxmlformats.org/drawingml/2006/main" noGrp="1"/>
          </p:cNvSpPr>
          <p:nvPr/>
        </p:nvSpPr>
        <p:spPr>
          <a:xfrm xmlns:a="http://schemas.openxmlformats.org/drawingml/2006/main">
            <a:off x="457200" y="4754880"/>
            <a:ext cx="54864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AEB8C4"/>
                </a:solidFill>
              </a:rPr>
              <a:t>Grupo 25 · INF280 · Simulación e inferencia</a:t>
            </a:r>
            <a:endParaRPr sz="1000"/>
          </a:p>
        </p:txBody>
      </p:sp>
      <p:sp>
        <p:nvSpPr>
          <p:cNvPr id="3" name="Text 1">
            <a:extLst xmlns:a="http://schemas.openxmlformats.org/drawingml/2006/main">
              <a:ext uri="{FF2B5EF4-FFF2-40B4-BE49-F238E27FC236}">
                <a16:creationId xmlns:a16="http://schemas.microsoft.com/office/drawing/2014/main" id="{7C4C33B6-3F03-47FF-AEF1-87D0E938195B}"/>
              </a:ext>
            </a:extLst>
          </p:cNvPr>
          <p:cNvSpPr>
            <a:spLocks xmlns:a="http://schemas.openxmlformats.org/drawingml/2006/main" noGrp="1"/>
          </p:cNvSpPr>
          <p:nvPr>
            <p:ph type="title" idx="101" hasCustomPrompt="1"/>
          </p:nvPr>
        </p:nvSpPr>
        <p:spPr>
          <a:xfrm xmlns:a="http://schemas.openxmlformats.org/drawingml/2006/main">
            <a:off x="457200" y="274320"/>
            <a:ext cx="8229600" cy="68580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lvl1pPr marL="0" indent="0" algn="l">
              <a:buNone/>
              <a:defRPr sz="3000" b="1">
                <a:solidFill>
                  <a:schemeClr val="bg1"/>
                </a:solidFill>
              </a:defRPr>
            </a:lvl1pPr>
          </a:lstStyle>
          <a:p xmlns:a="http://schemas.openxmlformats.org/drawingml/2006/main">
            <a:pPr marL="0" indent="0" algn="l">
              <a:buNone/>
            </a:pPr>
            <a:endParaRPr sz="3000"/>
          </a:p>
        </p:txBody>
      </p:sp>
      <p:sp>
        <p:nvSpPr>
          <p:cNvPr id="25" name="Slide Number Placeholder 0">
            <a:extLst xmlns:a="http://schemas.openxmlformats.org/drawingml/2006/main">
              <a:ext uri="{FF2B5EF4-FFF2-40B4-BE49-F238E27FC236}">
                <a16:creationId xmlns:a16="http://schemas.microsoft.com/office/drawing/2014/main" id="{9B28FD29-3106-49D0-A80B-CDC0AB2270F2}"/>
              </a:ext>
            </a:extLst>
          </p:cNvPr>
          <p:cNvSpPr>
            <a:spLocks xmlns:a="http://schemas.openxmlformats.org/drawingml/2006/main" noGrp="1"/>
          </p:cNvSpPr>
          <p:nvPr>
            <p:ph type="sldNum" idx="4294967295"/>
          </p:nvPr>
        </p:nvSpPr>
        <p:spPr>
          <a:xfrm xmlns:a="http://schemas.openxmlformats.org/drawingml/2006/main">
            <a:off x="8229600" y="4754880"/>
            <a:ext cx="457200" cy="22860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AEB8C4"/>
                </a:solidFill>
              </a:defRPr>
            </a:lvl1pPr>
          </a:lstStyle>
          <a:p xmlns:a="http://schemas.openxmlformats.org/drawingml/2006/main">
            <a:pPr algn="r">
              <a:buNone/>
            </a:pPr>
            <a:fld id="{F7021451-1387-4CA6-816F-3879F97B5CBC}" type="slidenum">
              <a:rPr b="0"/>
              <a:t>1003</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ca31883d00e4ea3" /><Relationship Type="http://schemas.openxmlformats.org/officeDocument/2006/relationships/slideLayout" Target="/ppt/slideLayouts/slideLayout1.xml" Id="Re41a255d3c6d417a" /><Relationship Type="http://schemas.openxmlformats.org/officeDocument/2006/relationships/slideLayout" Target="/ppt/slideLayouts/slideLayout2.xml" Id="Rb8ca9febdc644c05" /><Relationship Type="http://schemas.openxmlformats.org/officeDocument/2006/relationships/slideLayout" Target="/ppt/slideLayouts/slideLayout3.xml" Id="R90c70326645e4d1c"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
        <p:nvSpPr>
          <p:cNvPr id="25" name="Slide Number Placeholder 0">
            <a:extLst xmlns:a="http://schemas.openxmlformats.org/drawingml/2006/main">
              <a:ext uri="{FF2B5EF4-FFF2-40B4-BE49-F238E27FC236}">
                <a16:creationId xmlns:a16="http://schemas.microsoft.com/office/drawing/2014/main" id="{A2649F01-5D9F-429A-9F75-D55DE7E3C94C}"/>
              </a:ext>
            </a:extLst>
          </p:cNvPr>
          <p:cNvSpPr>
            <a:spLocks xmlns:a="http://schemas.openxmlformats.org/drawingml/2006/main" noGrp="1"/>
          </p:cNvSpPr>
          <p:nvPr>
            <p:ph type="sldNum" idx="4294967295"/>
          </p:nvPr>
        </p:nvSpPr>
        <p:spPr>
          <a:xfrm xmlns:a="http://schemas.openxmlformats.org/drawingml/2006/main">
            <a:off x="8229600" y="4754880"/>
            <a:ext cx="457200" cy="228600"/>
          </a:xfrm>
          <a:prstGeom xmlns:a="http://schemas.openxmlformats.org/drawingml/2006/main" prst="rect">
            <a:avLst/>
          </a:prstGeom>
        </p:spPr>
        <p:txBody>
          <a:bodyPr xmlns:a="http://schemas.openxmlformats.org/drawingml/2006/main"/>
          <a:lstStyle xmlns:a="http://schemas.openxmlformats.org/drawingml/2006/main">
            <a:lvl1pPr>
              <a:buNone/>
              <a:defRPr sz="1000">
                <a:solidFill>
                  <a:schemeClr val="accent4"/>
                </a:solidFill>
              </a:defRPr>
            </a:lvl1pPr>
          </a:lstStyle>
          <a:p xmlns:a="http://schemas.openxmlformats.org/drawingml/2006/main">
            <a:pPr algn="r">
              <a:buNone/>
            </a:pPr>
            <a:fld id="{F7021451-1387-4CA6-816F-3879F97B5CBC}" type="slidenum">
              <a:rPr b="0"/>
              <a:t>null</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41a255d3c6d417a"/>
    <p:sldLayoutId xmlns:r="http://schemas.openxmlformats.org/officeDocument/2006/relationships" id="2147483650" r:id="Rb8ca9febdc644c05"/>
    <p:sldLayoutId xmlns:r="http://schemas.openxmlformats.org/officeDocument/2006/relationships" id="2147483651" r:id="R90c70326645e4d1c"/>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Grupo17 Airbnb">
  <a:themeElements>
    <a:clrScheme name="Grupo17 Airbnb">
      <a:dk1>
        <a:srgbClr val="1F2A37"/>
      </a:dk1>
      <a:lt1>
        <a:srgbClr val="FFFFFF"/>
      </a:lt1>
      <a:dk2>
        <a:srgbClr val="493C73"/>
      </a:dk2>
      <a:lt2>
        <a:srgbClr val="EEF2F6"/>
      </a:lt2>
      <a:accent1>
        <a:srgbClr val="087E8B"/>
      </a:accent1>
      <a:accent2>
        <a:srgbClr val="C85A43"/>
      </a:accent2>
      <a:accent3>
        <a:srgbClr val="493C73"/>
      </a:accent3>
      <a:accent4>
        <a:srgbClr val="6B7A8C"/>
      </a:accent4>
      <a:accent5>
        <a:srgbClr val="2E7D5B"/>
      </a:accent5>
      <a:accent6>
        <a:srgbClr val="D9A441"/>
      </a:accent6>
      <a:hlink>
        <a:srgbClr val="087E8B"/>
      </a:hlink>
      <a:folHlink>
        <a:srgbClr val="493C73"/>
      </a:folHlink>
    </a:clrScheme>
    <a:fontScheme name="Grupo17 Airbnb">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Grupo17 Airbnb">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3.xml" Id="R921927f10e5240b2" /><Relationship Type="http://schemas.openxmlformats.org/officeDocument/2006/relationships/notesSlide" Target="/ppt/notesSlides/notesSlide1.xml" Id="R47bcd8afbc9f4549"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f8309896e5bc4a06" /><Relationship Type="http://schemas.openxmlformats.org/officeDocument/2006/relationships/chart" Target="/ppt/slides/charts/chart1.xml" Id="R2cc364f585024bbc" /><Relationship Type="http://schemas.openxmlformats.org/officeDocument/2006/relationships/notesSlide" Target="/ppt/notesSlides/notesSlide2.xml" Id="R9aaab30165b04019"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49ca508bfdac467f" /><Relationship Type="http://schemas.openxmlformats.org/officeDocument/2006/relationships/notesSlide" Target="/ppt/notesSlides/notesSlide3.xml" Id="Rbf27b032357e460a"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035e7b92b2c247f4" /><Relationship Type="http://schemas.openxmlformats.org/officeDocument/2006/relationships/notesSlide" Target="/ppt/notesSlides/notesSlide4.xml" Id="Rf9a91f2fc5674a55"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504479197f6446c5" /><Relationship Type="http://schemas.openxmlformats.org/officeDocument/2006/relationships/notesSlide" Target="/ppt/notesSlides/notesSlide5.xml" Id="R1db353b2d18d4ac8"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739f3aa09f9845fd" /><Relationship Type="http://schemas.openxmlformats.org/officeDocument/2006/relationships/notesSlide" Target="/ppt/notesSlides/notesSlide6.xml" Id="Ra81e7d07dc6848a0"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1cfc17be16c449c0" /><Relationship Type="http://schemas.openxmlformats.org/officeDocument/2006/relationships/chart" Target="/ppt/slides/charts/chart2.xml" Id="R5babe73798714467" /><Relationship Type="http://schemas.openxmlformats.org/officeDocument/2006/relationships/chart" Target="/ppt/slides/charts/chart3.xml" Id="R0c9fef45704147cc" /><Relationship Type="http://schemas.openxmlformats.org/officeDocument/2006/relationships/notesSlide" Target="/ppt/notesSlides/notesSlide7.xml" Id="R546cc50980604b5b"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ac3372b2c2b74557" /><Relationship Type="http://schemas.openxmlformats.org/officeDocument/2006/relationships/notesSlide" Target="/ppt/notesSlides/notesSlide8.xml" Id="R6221fb5907ab45c7"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f0c0ccddc31d49cb" /><Relationship Type="http://schemas.openxmlformats.org/officeDocument/2006/relationships/chart" Target="/ppt/slides/charts/chart4.xml" Id="Refce37cb94ce467f" /><Relationship Type="http://schemas.openxmlformats.org/officeDocument/2006/relationships/notesSlide" Target="/ppt/notesSlides/notesSlide9.xml" Id="Re27866f40e5c4fb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7e44d5e5542c49de" /><Relationship Type="http://schemas.openxmlformats.org/officeDocument/2006/relationships/chart" Target="/ppt/slides/charts/chart5.xml" Id="R7e184006fc5b4ed9" /><Relationship Type="http://schemas.openxmlformats.org/officeDocument/2006/relationships/notesSlide" Target="/ppt/notesSlides/notesSlide10.xml" Id="R1817482a2a9b431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f82a361dcfaa4771" /><Relationship Type="http://schemas.openxmlformats.org/officeDocument/2006/relationships/chart" Target="/ppt/slides/charts/chart6.xml" Id="Rf5113b2cf09047db" /><Relationship Type="http://schemas.openxmlformats.org/officeDocument/2006/relationships/notesSlide" Target="/ppt/notesSlides/notesSlide11.xml" Id="R3bf8e1da4004412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3.xml" Id="Rb75cc9c62e0d47b4" /><Relationship Type="http://schemas.openxmlformats.org/officeDocument/2006/relationships/notesSlide" Target="/ppt/notesSlides/notesSlide12.xml" Id="Rd2d6f57845fa4ac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0e41808f594f4a65" /><Relationship Type="http://schemas.openxmlformats.org/officeDocument/2006/relationships/notesSlide" Target="/ppt/notesSlides/notesSlide13.xml" Id="R6d66a9969344430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00">
                <a:solidFill>
                  <a:srgbClr val="1F2A37"/>
                </a:solidFill>
                <a:latin typeface="Arial"/>
                <a:ea typeface="Arial"/>
                <a:cs typeface="Arial"/>
              </a:rPr>
              <a:t>Media por distrito (Entrega 1)</a:t>
            </a:r>
          </a:p>
        </c:rich>
      </c:tx>
      <c:overlay val="0"/>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title>
    <c:plotArea>
      <c:barChart>
        <c:barDir val="col"/>
        <c:grouping val="clustered"/>
        <c:varyColors val="0"/>
        <c:ser>
          <c:idx val="0"/>
          <c:order val="0"/>
          <c:tx>
            <c:v>Media</c:v>
          </c:tx>
          <c:spPr>
            <a:solidFill xmlns:a="http://schemas.openxmlformats.org/drawingml/2006/main">
              <a:srgbClr val="B8C1CC"/>
            </a:solidFill>
          </c:spPr>
          <c:dPt>
            <c:idx val="0"/>
            <c:invertIfNegative val="0"/>
            <c:spPr>
              <a:solidFill xmlns:a="http://schemas.openxmlformats.org/drawingml/2006/main">
                <a:srgbClr val="B8C1CC"/>
              </a:solidFill>
            </c:spPr>
          </c:dPt>
          <c:dPt>
            <c:idx val="1"/>
            <c:invertIfNegative val="0"/>
            <c:spPr>
              <a:solidFill xmlns:a="http://schemas.openxmlformats.org/drawingml/2006/main">
                <a:srgbClr val="C85A43"/>
              </a:solidFill>
            </c:spPr>
          </c:dPt>
          <c:dPt>
            <c:idx val="2"/>
            <c:invertIfNegative val="0"/>
            <c:spPr>
              <a:solidFill xmlns:a="http://schemas.openxmlformats.org/drawingml/2006/main">
                <a:srgbClr val="087E8B"/>
              </a:solidFill>
            </c:spPr>
          </c:dPt>
          <c:dPt>
            <c:idx val="3"/>
            <c:invertIfNegative val="0"/>
            <c:spPr>
              <a:solidFill xmlns:a="http://schemas.openxmlformats.org/drawingml/2006/main">
                <a:srgbClr val="B8C1CC"/>
              </a:solidFill>
            </c:spPr>
          </c:dPt>
          <c:dPt>
            <c:idx val="4"/>
            <c:invertIfNegative val="0"/>
            <c:spPr>
              <a:solidFill xmlns:a="http://schemas.openxmlformats.org/drawingml/2006/main">
                <a:srgbClr val="B8C1CC"/>
              </a:solidFill>
            </c:spPr>
          </c:dPt>
          <c:cat>
            <c:strRef>
              <c:f>'Chart Data'!$A$2:$A$6</c:f>
              <c:strCache>
                <c:ptCount val="5"/>
                <c:pt idx="0">
                  <c:v>Bronx</c:v>
                </c:pt>
                <c:pt idx="1">
                  <c:v>Brooklyn</c:v>
                </c:pt>
                <c:pt idx="2">
                  <c:v>Manhattan</c:v>
                </c:pt>
                <c:pt idx="3">
                  <c:v>Queens</c:v>
                </c:pt>
                <c:pt idx="4">
                  <c:v>Staten Island</c:v>
                </c:pt>
              </c:strCache>
            </c:strRef>
          </c:cat>
          <c:val>
            <c:numRef>
              <c:f>'Chart Data'!$B$2:$B$6</c:f>
              <c:numCache>
                <c:formatCode>0.000</c:formatCode>
                <c:ptCount val="5"/>
                <c:pt idx="0">
                  <c:v>3.33134105342</c:v>
                </c:pt>
                <c:pt idx="1">
                  <c:v>3.2584607973</c:v>
                </c:pt>
                <c:pt idx="2">
                  <c:v>3.27652125846</c:v>
                </c:pt>
                <c:pt idx="3">
                  <c:v>3.3304202447</c:v>
                </c:pt>
                <c:pt idx="4">
                  <c:v>3.40402969247</c:v>
                </c:pt>
              </c:numCache>
            </c:numRef>
          </c:val>
        </c:ser>
        <c:dLbls>
          <c:txPr>
            <a:bodyPr xmlns:a="http://schemas.openxmlformats.org/drawingml/2006/main" anchorCtr="1"/>
            <a:lstStyle xmlns:a="http://schemas.openxmlformats.org/drawingml/2006/main"/>
            <a:p xmlns:a="http://schemas.openxmlformats.org/drawingml/2006/main">
              <a:pPr>
                <a:defRPr sz="900">
                  <a:solidFill>
                    <a:srgbClr val="5D6D7E"/>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5D6D7E"/>
                </a:solidFill>
                <a:latin typeface="Arial"/>
                <a:ea typeface="Arial"/>
                <a:cs typeface="Arial"/>
              </a:defRPr>
            </a:pPr>
          </a:p>
        </c:txPr>
        <c:crossAx val="48672768"/>
      </c:catAx>
      <c:valAx>
        <c:axId val="48672768"/>
        <c:scaling>
          <c:orientation val="minMax"/>
          <c:max val="3.5"/>
          <c:min val="3"/>
        </c:scaling>
        <c:delete val="0"/>
        <c:axPos val="l"/>
        <c:majorGridlines>
          <c:spPr>
            <a:ln xmlns:a="http://schemas.openxmlformats.org/drawingml/2006/main" w="5715">
              <a:solidFill>
                <a:srgbClr val="E3E8EE"/>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D6D7E"/>
                </a:solidFill>
                <a:latin typeface="Arial"/>
                <a:ea typeface="Arial"/>
                <a:cs typeface="Arial"/>
              </a:defRPr>
            </a:pPr>
          </a:p>
        </c:txPr>
        <c:crossAx val="48650112"/>
        <c:crossBetween val="between"/>
        <c:majorUnit val="0.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00">
                <a:solidFill>
                  <a:srgbClr val="1F2A37"/>
                </a:solidFill>
                <a:latin typeface="Arial"/>
                <a:ea typeface="Arial"/>
                <a:cs typeface="Arial"/>
              </a:rPr>
              <a:t>Medias bootstrap (densidad)</a:t>
            </a:r>
          </a:p>
        </c:rich>
      </c:tx>
      <c:overlay val="0"/>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title>
    <c:plotArea>
      <c:scatterChart>
        <c:scatterStyle val="line"/>
        <c:ser>
          <c:idx val="0"/>
          <c:order val="0"/>
          <c:tx>
            <c:v>Manhattan</c:v>
          </c:tx>
          <c:spPr>
            <a:solidFill xmlns:a="http://schemas.openxmlformats.org/drawingml/2006/main">
              <a:srgbClr val="087E8B"/>
            </a:solidFill>
            <a:ln xmlns:a="http://schemas.openxmlformats.org/drawingml/2006/main" w="20003">
              <a:solidFill>
                <a:srgbClr val="087E8B"/>
              </a:solidFill>
            </a:ln>
          </c:spPr>
          <c:marker>
            <c:symbol val="none"/>
          </c:marker>
          <c:xVal>
            <c:numRef>
              <c:f>'Chart Data'!$A$2:$A$41</c:f>
              <c:numCache>
                <c:formatCode>General</c:formatCode>
                <c:ptCount val="40"/>
                <c:pt idx="0">
                  <c:v>3.23650401332</c:v>
                </c:pt>
                <c:pt idx="1">
                  <c:v>3.2381643343</c:v>
                </c:pt>
                <c:pt idx="2">
                  <c:v>3.23982465528</c:v>
                </c:pt>
                <c:pt idx="3">
                  <c:v>3.24148497627</c:v>
                </c:pt>
                <c:pt idx="4">
                  <c:v>3.24314529725</c:v>
                </c:pt>
                <c:pt idx="5">
                  <c:v>3.24480561823</c:v>
                </c:pt>
                <c:pt idx="6">
                  <c:v>3.24646593922</c:v>
                </c:pt>
                <c:pt idx="7">
                  <c:v>3.2481262602</c:v>
                </c:pt>
                <c:pt idx="8">
                  <c:v>3.24978658118</c:v>
                </c:pt>
                <c:pt idx="9">
                  <c:v>3.25144690217</c:v>
                </c:pt>
                <c:pt idx="10">
                  <c:v>3.25310722315</c:v>
                </c:pt>
                <c:pt idx="11">
                  <c:v>3.25476754413</c:v>
                </c:pt>
                <c:pt idx="12">
                  <c:v>3.25642786512</c:v>
                </c:pt>
                <c:pt idx="13">
                  <c:v>3.2580881861</c:v>
                </c:pt>
                <c:pt idx="14">
                  <c:v>3.25974850708</c:v>
                </c:pt>
                <c:pt idx="15">
                  <c:v>3.26140882807</c:v>
                </c:pt>
                <c:pt idx="16">
                  <c:v>3.26306914905</c:v>
                </c:pt>
                <c:pt idx="17">
                  <c:v>3.26472947003</c:v>
                </c:pt>
                <c:pt idx="18">
                  <c:v>3.26638979101</c:v>
                </c:pt>
                <c:pt idx="19">
                  <c:v>3.268050112</c:v>
                </c:pt>
                <c:pt idx="20">
                  <c:v>3.26971043298</c:v>
                </c:pt>
                <c:pt idx="21">
                  <c:v>3.27137075396</c:v>
                </c:pt>
                <c:pt idx="22">
                  <c:v>3.27303107495</c:v>
                </c:pt>
                <c:pt idx="23">
                  <c:v>3.27469139593</c:v>
                </c:pt>
                <c:pt idx="24">
                  <c:v>3.27635171691</c:v>
                </c:pt>
                <c:pt idx="25">
                  <c:v>3.2780120379</c:v>
                </c:pt>
                <c:pt idx="26">
                  <c:v>3.27967235888</c:v>
                </c:pt>
                <c:pt idx="27">
                  <c:v>3.28133267986</c:v>
                </c:pt>
                <c:pt idx="28">
                  <c:v>3.28299300085</c:v>
                </c:pt>
                <c:pt idx="29">
                  <c:v>3.28465332183</c:v>
                </c:pt>
                <c:pt idx="30">
                  <c:v>3.28631364281</c:v>
                </c:pt>
                <c:pt idx="31">
                  <c:v>3.2879739638</c:v>
                </c:pt>
                <c:pt idx="32">
                  <c:v>3.28963428478</c:v>
                </c:pt>
                <c:pt idx="33">
                  <c:v>3.29129460576</c:v>
                </c:pt>
                <c:pt idx="34">
                  <c:v>3.29295492675</c:v>
                </c:pt>
                <c:pt idx="35">
                  <c:v>3.29461524773</c:v>
                </c:pt>
                <c:pt idx="36">
                  <c:v>3.29627556871</c:v>
                </c:pt>
                <c:pt idx="37">
                  <c:v>3.2979358897</c:v>
                </c:pt>
                <c:pt idx="38">
                  <c:v>3.29959621068</c:v>
                </c:pt>
                <c:pt idx="39">
                  <c:v>3.30125653166</c:v>
                </c:pt>
              </c:numCache>
            </c:numRef>
          </c:xVal>
          <c:yVal>
            <c:numRef>
              <c:f>'Chart Data'!$B$2:$B$41</c:f>
              <c:numCache>
                <c:formatCode>0</c:formatCode>
                <c:ptCount val="40"/>
                <c:pt idx="0">
                  <c:v>0</c:v>
                </c:pt>
                <c:pt idx="1">
                  <c:v>0</c:v>
                </c:pt>
                <c:pt idx="2">
                  <c:v>0</c:v>
                </c:pt>
                <c:pt idx="3">
                  <c:v>0</c:v>
                </c:pt>
                <c:pt idx="4">
                  <c:v>0</c:v>
                </c:pt>
                <c:pt idx="5">
                  <c:v>0</c:v>
                </c:pt>
                <c:pt idx="6">
                  <c:v>0</c:v>
                </c:pt>
                <c:pt idx="7">
                  <c:v>0</c:v>
                </c:pt>
                <c:pt idx="8">
                  <c:v>0</c:v>
                </c:pt>
                <c:pt idx="9">
                  <c:v>0.0602293177086</c:v>
                </c:pt>
                <c:pt idx="10">
                  <c:v>0.0602293177086</c:v>
                </c:pt>
                <c:pt idx="11">
                  <c:v>0.150573294272</c:v>
                </c:pt>
                <c:pt idx="12">
                  <c:v>0.42160522396</c:v>
                </c:pt>
                <c:pt idx="13">
                  <c:v>1.0540130599</c:v>
                </c:pt>
                <c:pt idx="14">
                  <c:v>1.68642089584</c:v>
                </c:pt>
                <c:pt idx="15">
                  <c:v>3.04158054428</c:v>
                </c:pt>
                <c:pt idx="16">
                  <c:v>5.78201450003</c:v>
                </c:pt>
                <c:pt idx="17">
                  <c:v>11.5037996823</c:v>
                </c:pt>
                <c:pt idx="18">
                  <c:v>16.6534063464</c:v>
                </c:pt>
                <c:pt idx="19">
                  <c:v>24.0314977657</c:v>
                </c:pt>
                <c:pt idx="20">
                  <c:v>35.5051827892</c:v>
                </c:pt>
                <c:pt idx="21">
                  <c:v>46.4368039533</c:v>
                </c:pt>
                <c:pt idx="22">
                  <c:v>54.9291377502</c:v>
                </c:pt>
                <c:pt idx="23">
                  <c:v>60.5906936149</c:v>
                </c:pt>
                <c:pt idx="24">
                  <c:v>62.4879171227</c:v>
                </c:pt>
                <c:pt idx="25">
                  <c:v>63.4214715472</c:v>
                </c:pt>
                <c:pt idx="26">
                  <c:v>58.4525528362</c:v>
                </c:pt>
                <c:pt idx="27">
                  <c:v>45.47313487</c:v>
                </c:pt>
                <c:pt idx="28">
                  <c:v>37.613208909</c:v>
                </c:pt>
                <c:pt idx="29">
                  <c:v>26.6514730861</c:v>
                </c:pt>
                <c:pt idx="30">
                  <c:v>18.7313178074</c:v>
                </c:pt>
                <c:pt idx="31">
                  <c:v>12.1362075183</c:v>
                </c:pt>
                <c:pt idx="32">
                  <c:v>7.04683017191</c:v>
                </c:pt>
                <c:pt idx="33">
                  <c:v>4.45696951044</c:v>
                </c:pt>
                <c:pt idx="34">
                  <c:v>2.16825543751</c:v>
                </c:pt>
                <c:pt idx="35">
                  <c:v>0.963669083338</c:v>
                </c:pt>
                <c:pt idx="36">
                  <c:v>0.451719882815</c:v>
                </c:pt>
                <c:pt idx="37">
                  <c:v>0.21080261198</c:v>
                </c:pt>
                <c:pt idx="38">
                  <c:v>0.0903439765629</c:v>
                </c:pt>
                <c:pt idx="39">
                  <c:v>0.0301146588543</c:v>
                </c:pt>
              </c:numCache>
            </c:numRef>
          </c:yVal>
        </c:ser>
        <c:ser>
          <c:idx val="1"/>
          <c:order val="1"/>
          <c:tx>
            <c:v>Brooklyn</c:v>
          </c:tx>
          <c:spPr>
            <a:solidFill xmlns:a="http://schemas.openxmlformats.org/drawingml/2006/main">
              <a:srgbClr val="C85A43"/>
            </a:solidFill>
            <a:ln xmlns:a="http://schemas.openxmlformats.org/drawingml/2006/main" w="20003">
              <a:solidFill>
                <a:srgbClr val="C85A43"/>
              </a:solidFill>
            </a:ln>
          </c:spPr>
          <c:marker>
            <c:symbol val="none"/>
          </c:marker>
          <c:xVal>
            <c:numRef>
              <c:f>'Chart Data'!$C$2:$C$41</c:f>
              <c:numCache>
                <c:formatCode>General</c:formatCode>
                <c:ptCount val="40"/>
                <c:pt idx="0">
                  <c:v>3.23650401332</c:v>
                </c:pt>
                <c:pt idx="1">
                  <c:v>3.2381643343</c:v>
                </c:pt>
                <c:pt idx="2">
                  <c:v>3.23982465528</c:v>
                </c:pt>
                <c:pt idx="3">
                  <c:v>3.24148497627</c:v>
                </c:pt>
                <c:pt idx="4">
                  <c:v>3.24314529725</c:v>
                </c:pt>
                <c:pt idx="5">
                  <c:v>3.24480561823</c:v>
                </c:pt>
                <c:pt idx="6">
                  <c:v>3.24646593922</c:v>
                </c:pt>
                <c:pt idx="7">
                  <c:v>3.2481262602</c:v>
                </c:pt>
                <c:pt idx="8">
                  <c:v>3.24978658118</c:v>
                </c:pt>
                <c:pt idx="9">
                  <c:v>3.25144690217</c:v>
                </c:pt>
                <c:pt idx="10">
                  <c:v>3.25310722315</c:v>
                </c:pt>
                <c:pt idx="11">
                  <c:v>3.25476754413</c:v>
                </c:pt>
                <c:pt idx="12">
                  <c:v>3.25642786512</c:v>
                </c:pt>
                <c:pt idx="13">
                  <c:v>3.2580881861</c:v>
                </c:pt>
                <c:pt idx="14">
                  <c:v>3.25974850708</c:v>
                </c:pt>
                <c:pt idx="15">
                  <c:v>3.26140882807</c:v>
                </c:pt>
                <c:pt idx="16">
                  <c:v>3.26306914905</c:v>
                </c:pt>
                <c:pt idx="17">
                  <c:v>3.26472947003</c:v>
                </c:pt>
                <c:pt idx="18">
                  <c:v>3.26638979101</c:v>
                </c:pt>
                <c:pt idx="19">
                  <c:v>3.268050112</c:v>
                </c:pt>
                <c:pt idx="20">
                  <c:v>3.26971043298</c:v>
                </c:pt>
                <c:pt idx="21">
                  <c:v>3.27137075396</c:v>
                </c:pt>
                <c:pt idx="22">
                  <c:v>3.27303107495</c:v>
                </c:pt>
                <c:pt idx="23">
                  <c:v>3.27469139593</c:v>
                </c:pt>
                <c:pt idx="24">
                  <c:v>3.27635171691</c:v>
                </c:pt>
                <c:pt idx="25">
                  <c:v>3.2780120379</c:v>
                </c:pt>
                <c:pt idx="26">
                  <c:v>3.27967235888</c:v>
                </c:pt>
                <c:pt idx="27">
                  <c:v>3.28133267986</c:v>
                </c:pt>
                <c:pt idx="28">
                  <c:v>3.28299300085</c:v>
                </c:pt>
                <c:pt idx="29">
                  <c:v>3.28465332183</c:v>
                </c:pt>
                <c:pt idx="30">
                  <c:v>3.28631364281</c:v>
                </c:pt>
                <c:pt idx="31">
                  <c:v>3.2879739638</c:v>
                </c:pt>
                <c:pt idx="32">
                  <c:v>3.28963428478</c:v>
                </c:pt>
                <c:pt idx="33">
                  <c:v>3.29129460576</c:v>
                </c:pt>
                <c:pt idx="34">
                  <c:v>3.29295492675</c:v>
                </c:pt>
                <c:pt idx="35">
                  <c:v>3.29461524773</c:v>
                </c:pt>
                <c:pt idx="36">
                  <c:v>3.29627556871</c:v>
                </c:pt>
                <c:pt idx="37">
                  <c:v>3.2979358897</c:v>
                </c:pt>
                <c:pt idx="38">
                  <c:v>3.29959621068</c:v>
                </c:pt>
                <c:pt idx="39">
                  <c:v>3.30125653166</c:v>
                </c:pt>
              </c:numCache>
            </c:numRef>
          </c:xVal>
          <c:yVal>
            <c:numRef>
              <c:f>'Chart Data'!$D$2:$D$41</c:f>
              <c:numCache>
                <c:formatCode>0</c:formatCode>
                <c:ptCount val="40"/>
                <c:pt idx="0">
                  <c:v>0.21080261198</c:v>
                </c:pt>
                <c:pt idx="1">
                  <c:v>0.391490565106</c:v>
                </c:pt>
                <c:pt idx="2">
                  <c:v>0.602293177086</c:v>
                </c:pt>
                <c:pt idx="3">
                  <c:v>1.53584760157</c:v>
                </c:pt>
                <c:pt idx="4">
                  <c:v>3.34272713283</c:v>
                </c:pt>
                <c:pt idx="5">
                  <c:v>6.29396370055</c:v>
                </c:pt>
                <c:pt idx="6">
                  <c:v>11.0520797995</c:v>
                </c:pt>
                <c:pt idx="7">
                  <c:v>17.165355547</c:v>
                </c:pt>
                <c:pt idx="8">
                  <c:v>24.5735616251</c:v>
                </c:pt>
                <c:pt idx="9">
                  <c:v>35.5955267658</c:v>
                </c:pt>
                <c:pt idx="10">
                  <c:v>45.1117589637</c:v>
                </c:pt>
                <c:pt idx="11">
                  <c:v>52.0983598179</c:v>
                </c:pt>
                <c:pt idx="12">
                  <c:v>59.2656486253</c:v>
                </c:pt>
                <c:pt idx="13">
                  <c:v>59.7775978258</c:v>
                </c:pt>
                <c:pt idx="14">
                  <c:v>62.3072291695</c:v>
                </c:pt>
                <c:pt idx="15">
                  <c:v>56.9468198935</c:v>
                </c:pt>
                <c:pt idx="16">
                  <c:v>48.7556326851</c:v>
                </c:pt>
                <c:pt idx="17">
                  <c:v>38.0950434507</c:v>
                </c:pt>
                <c:pt idx="18">
                  <c:v>29.4521363595</c:v>
                </c:pt>
                <c:pt idx="19">
                  <c:v>20.7188852918</c:v>
                </c:pt>
                <c:pt idx="20">
                  <c:v>12.8890739896</c:v>
                </c:pt>
                <c:pt idx="21">
                  <c:v>7.7093526667</c:v>
                </c:pt>
                <c:pt idx="22">
                  <c:v>3.55352974481</c:v>
                </c:pt>
                <c:pt idx="23">
                  <c:v>2.37905804949</c:v>
                </c:pt>
                <c:pt idx="24">
                  <c:v>1.32504498959</c:v>
                </c:pt>
                <c:pt idx="25">
                  <c:v>0.782981130212</c:v>
                </c:pt>
                <c:pt idx="26">
                  <c:v>0.150573294272</c:v>
                </c:pt>
                <c:pt idx="27">
                  <c:v>0.120458635417</c:v>
                </c:pt>
                <c:pt idx="28">
                  <c:v>0.0602293177086</c:v>
                </c:pt>
                <c:pt idx="29">
                  <c:v>0.0301146588543</c:v>
                </c:pt>
                <c:pt idx="30">
                  <c:v>0</c:v>
                </c:pt>
                <c:pt idx="31">
                  <c:v>0</c:v>
                </c:pt>
                <c:pt idx="32">
                  <c:v>0</c:v>
                </c:pt>
                <c:pt idx="33">
                  <c:v>0</c:v>
                </c:pt>
                <c:pt idx="34">
                  <c:v>0</c:v>
                </c:pt>
                <c:pt idx="35">
                  <c:v>0</c:v>
                </c:pt>
                <c:pt idx="36">
                  <c:v>0</c:v>
                </c:pt>
                <c:pt idx="37">
                  <c:v>0</c:v>
                </c:pt>
                <c:pt idx="38">
                  <c:v>0</c:v>
                </c:pt>
                <c:pt idx="39">
                  <c:v>0</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75"/>
          <c:min val="0"/>
        </c:scaling>
        <c:delete val="0"/>
        <c:axPos val="l"/>
        <c:majorGridlines>
          <c:spPr>
            <a:ln xmlns:a="http://schemas.openxmlformats.org/drawingml/2006/main" w="5715">
              <a:solidFill>
                <a:srgbClr val="E3E8EE"/>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D6D7E"/>
                </a:solidFill>
                <a:latin typeface="Arial"/>
                <a:ea typeface="Arial"/>
                <a:cs typeface="Arial"/>
              </a:defRPr>
            </a:pPr>
          </a:p>
        </c:txPr>
        <c:crossAx val="48650112"/>
        <c:majorUnit val="25"/>
      </c:valAx>
      <c:valAx>
        <c:axId val="48650112"/>
        <c:scaling>
          <c:orientation val="minMax"/>
          <c:max val="3.3"/>
          <c:min val="3.23"/>
        </c:scaling>
        <c:delete val="0"/>
        <c:axPos val="b"/>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D6D7E"/>
                </a:solidFill>
                <a:latin typeface="Arial"/>
                <a:ea typeface="Arial"/>
                <a:cs typeface="Arial"/>
              </a:defRPr>
            </a:pPr>
          </a:p>
        </c:txPr>
        <c:crossAx val="48672768"/>
        <c:majorUnit val="0.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00">
              <a:solidFill>
                <a:srgbClr val="5D6D7E"/>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00">
                <a:solidFill>
                  <a:srgbClr val="1F2A37"/>
                </a:solidFill>
                <a:latin typeface="Arial"/>
                <a:ea typeface="Arial"/>
                <a:cs typeface="Arial"/>
              </a:rPr>
              <a:t>Diferencia bootstrap Δ* (densidad)</a:t>
            </a:r>
          </a:p>
        </c:rich>
      </c:tx>
      <c:overlay val="0"/>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title>
    <c:plotArea>
      <c:barChart>
        <c:barDir val="col"/>
        <c:grouping val="clustered"/>
        <c:varyColors val="0"/>
        <c:ser>
          <c:idx val="0"/>
          <c:order val="0"/>
          <c:tx>
            <c:v>Densidad</c:v>
          </c:tx>
          <c:spPr>
            <a:solidFill xmlns:a="http://schemas.openxmlformats.org/drawingml/2006/main">
              <a:srgbClr val="B9B1D1"/>
            </a:solidFill>
          </c:spPr>
          <c:dPt>
            <c:idx val="0"/>
            <c:invertIfNegative val="0"/>
            <c:spPr>
              <a:solidFill xmlns:a="http://schemas.openxmlformats.org/drawingml/2006/main">
                <a:srgbClr val="B9B1D1"/>
              </a:solidFill>
            </c:spPr>
          </c:dPt>
          <c:dPt>
            <c:idx val="1"/>
            <c:invertIfNegative val="0"/>
            <c:spPr>
              <a:solidFill xmlns:a="http://schemas.openxmlformats.org/drawingml/2006/main">
                <a:srgbClr val="B9B1D1"/>
              </a:solidFill>
            </c:spPr>
          </c:dPt>
          <c:dPt>
            <c:idx val="2"/>
            <c:invertIfNegative val="0"/>
            <c:spPr>
              <a:solidFill xmlns:a="http://schemas.openxmlformats.org/drawingml/2006/main">
                <a:srgbClr val="B9B1D1"/>
              </a:solidFill>
            </c:spPr>
          </c:dPt>
          <c:dPt>
            <c:idx val="3"/>
            <c:invertIfNegative val="0"/>
            <c:spPr>
              <a:solidFill xmlns:a="http://schemas.openxmlformats.org/drawingml/2006/main">
                <a:srgbClr val="B9B1D1"/>
              </a:solidFill>
            </c:spPr>
          </c:dPt>
          <c:dPt>
            <c:idx val="4"/>
            <c:invertIfNegative val="0"/>
            <c:spPr>
              <a:solidFill xmlns:a="http://schemas.openxmlformats.org/drawingml/2006/main">
                <a:srgbClr val="B9B1D1"/>
              </a:solidFill>
            </c:spPr>
          </c:dPt>
          <c:dPt>
            <c:idx val="5"/>
            <c:invertIfNegative val="0"/>
            <c:spPr>
              <a:solidFill xmlns:a="http://schemas.openxmlformats.org/drawingml/2006/main">
                <a:srgbClr val="B9B1D1"/>
              </a:solidFill>
            </c:spPr>
          </c:dPt>
          <c:dPt>
            <c:idx val="6"/>
            <c:invertIfNegative val="0"/>
            <c:spPr>
              <a:solidFill xmlns:a="http://schemas.openxmlformats.org/drawingml/2006/main">
                <a:srgbClr val="B9B1D1"/>
              </a:solidFill>
            </c:spPr>
          </c:dPt>
          <c:dPt>
            <c:idx val="7"/>
            <c:invertIfNegative val="0"/>
            <c:spPr>
              <a:solidFill xmlns:a="http://schemas.openxmlformats.org/drawingml/2006/main">
                <a:srgbClr val="493C73"/>
              </a:solidFill>
            </c:spPr>
          </c:dPt>
          <c:dPt>
            <c:idx val="8"/>
            <c:invertIfNegative val="0"/>
            <c:spPr>
              <a:solidFill xmlns:a="http://schemas.openxmlformats.org/drawingml/2006/main">
                <a:srgbClr val="493C73"/>
              </a:solidFill>
            </c:spPr>
          </c:dPt>
          <c:dPt>
            <c:idx val="9"/>
            <c:invertIfNegative val="0"/>
            <c:spPr>
              <a:solidFill xmlns:a="http://schemas.openxmlformats.org/drawingml/2006/main">
                <a:srgbClr val="493C73"/>
              </a:solidFill>
            </c:spPr>
          </c:dPt>
          <c:dPt>
            <c:idx val="10"/>
            <c:invertIfNegative val="0"/>
            <c:spPr>
              <a:solidFill xmlns:a="http://schemas.openxmlformats.org/drawingml/2006/main">
                <a:srgbClr val="493C73"/>
              </a:solidFill>
            </c:spPr>
          </c:dPt>
          <c:dPt>
            <c:idx val="11"/>
            <c:invertIfNegative val="0"/>
            <c:spPr>
              <a:solidFill xmlns:a="http://schemas.openxmlformats.org/drawingml/2006/main">
                <a:srgbClr val="493C73"/>
              </a:solidFill>
            </c:spPr>
          </c:dPt>
          <c:dPt>
            <c:idx val="12"/>
            <c:invertIfNegative val="0"/>
            <c:spPr>
              <a:solidFill xmlns:a="http://schemas.openxmlformats.org/drawingml/2006/main">
                <a:srgbClr val="493C73"/>
              </a:solidFill>
            </c:spPr>
          </c:dPt>
          <c:dPt>
            <c:idx val="13"/>
            <c:invertIfNegative val="0"/>
            <c:spPr>
              <a:solidFill xmlns:a="http://schemas.openxmlformats.org/drawingml/2006/main">
                <a:srgbClr val="493C73"/>
              </a:solidFill>
            </c:spPr>
          </c:dPt>
          <c:dPt>
            <c:idx val="14"/>
            <c:invertIfNegative val="0"/>
            <c:spPr>
              <a:solidFill xmlns:a="http://schemas.openxmlformats.org/drawingml/2006/main">
                <a:srgbClr val="493C73"/>
              </a:solidFill>
            </c:spPr>
          </c:dPt>
          <c:dPt>
            <c:idx val="15"/>
            <c:invertIfNegative val="0"/>
            <c:spPr>
              <a:solidFill xmlns:a="http://schemas.openxmlformats.org/drawingml/2006/main">
                <a:srgbClr val="493C73"/>
              </a:solidFill>
            </c:spPr>
          </c:dPt>
          <c:dPt>
            <c:idx val="16"/>
            <c:invertIfNegative val="0"/>
            <c:spPr>
              <a:solidFill xmlns:a="http://schemas.openxmlformats.org/drawingml/2006/main">
                <a:srgbClr val="493C73"/>
              </a:solidFill>
            </c:spPr>
          </c:dPt>
          <c:dPt>
            <c:idx val="17"/>
            <c:invertIfNegative val="0"/>
            <c:spPr>
              <a:solidFill xmlns:a="http://schemas.openxmlformats.org/drawingml/2006/main">
                <a:srgbClr val="493C73"/>
              </a:solidFill>
            </c:spPr>
          </c:dPt>
          <c:dPt>
            <c:idx val="18"/>
            <c:invertIfNegative val="0"/>
            <c:spPr>
              <a:solidFill xmlns:a="http://schemas.openxmlformats.org/drawingml/2006/main">
                <a:srgbClr val="493C73"/>
              </a:solidFill>
            </c:spPr>
          </c:dPt>
          <c:dPt>
            <c:idx val="19"/>
            <c:invertIfNegative val="0"/>
            <c:spPr>
              <a:solidFill xmlns:a="http://schemas.openxmlformats.org/drawingml/2006/main">
                <a:srgbClr val="493C73"/>
              </a:solidFill>
            </c:spPr>
          </c:dPt>
          <c:dPt>
            <c:idx val="20"/>
            <c:invertIfNegative val="0"/>
            <c:spPr>
              <a:solidFill xmlns:a="http://schemas.openxmlformats.org/drawingml/2006/main">
                <a:srgbClr val="493C73"/>
              </a:solidFill>
            </c:spPr>
          </c:dPt>
          <c:dPt>
            <c:idx val="21"/>
            <c:invertIfNegative val="0"/>
            <c:spPr>
              <a:solidFill xmlns:a="http://schemas.openxmlformats.org/drawingml/2006/main">
                <a:srgbClr val="493C73"/>
              </a:solidFill>
            </c:spPr>
          </c:dPt>
          <c:dPt>
            <c:idx val="22"/>
            <c:invertIfNegative val="0"/>
            <c:spPr>
              <a:solidFill xmlns:a="http://schemas.openxmlformats.org/drawingml/2006/main">
                <a:srgbClr val="B9B1D1"/>
              </a:solidFill>
            </c:spPr>
          </c:dPt>
          <c:dPt>
            <c:idx val="23"/>
            <c:invertIfNegative val="0"/>
            <c:spPr>
              <a:solidFill xmlns:a="http://schemas.openxmlformats.org/drawingml/2006/main">
                <a:srgbClr val="B9B1D1"/>
              </a:solidFill>
            </c:spPr>
          </c:dPt>
          <c:dPt>
            <c:idx val="24"/>
            <c:invertIfNegative val="0"/>
            <c:spPr>
              <a:solidFill xmlns:a="http://schemas.openxmlformats.org/drawingml/2006/main">
                <a:srgbClr val="B9B1D1"/>
              </a:solidFill>
            </c:spPr>
          </c:dPt>
          <c:dPt>
            <c:idx val="25"/>
            <c:invertIfNegative val="0"/>
            <c:spPr>
              <a:solidFill xmlns:a="http://schemas.openxmlformats.org/drawingml/2006/main">
                <a:srgbClr val="B9B1D1"/>
              </a:solidFill>
            </c:spPr>
          </c:dPt>
          <c:dPt>
            <c:idx val="26"/>
            <c:invertIfNegative val="0"/>
            <c:spPr>
              <a:solidFill xmlns:a="http://schemas.openxmlformats.org/drawingml/2006/main">
                <a:srgbClr val="B9B1D1"/>
              </a:solidFill>
            </c:spPr>
          </c:dPt>
          <c:dPt>
            <c:idx val="27"/>
            <c:invertIfNegative val="0"/>
            <c:spPr>
              <a:solidFill xmlns:a="http://schemas.openxmlformats.org/drawingml/2006/main">
                <a:srgbClr val="B9B1D1"/>
              </a:solidFill>
            </c:spPr>
          </c:dPt>
          <c:dPt>
            <c:idx val="28"/>
            <c:invertIfNegative val="0"/>
            <c:spPr>
              <a:solidFill xmlns:a="http://schemas.openxmlformats.org/drawingml/2006/main">
                <a:srgbClr val="B9B1D1"/>
              </a:solidFill>
            </c:spPr>
          </c:dPt>
          <c:dPt>
            <c:idx val="29"/>
            <c:invertIfNegative val="0"/>
            <c:spPr>
              <a:solidFill xmlns:a="http://schemas.openxmlformats.org/drawingml/2006/main">
                <a:srgbClr val="B9B1D1"/>
              </a:solidFill>
            </c:spPr>
          </c:dPt>
          <c:cat>
            <c:numRef>
              <c:f>'Chart Data'!$A$2:$A$31</c:f>
              <c:numCache>
                <c:formatCode>General</c:formatCode>
                <c:ptCount val="30"/>
                <c:pt idx="0">
                  <c:v>-0.013</c:v>
                </c:pt>
                <c:pt idx="1">
                  <c:v>-0.011</c:v>
                </c:pt>
                <c:pt idx="2">
                  <c:v>-0.009</c:v>
                </c:pt>
                <c:pt idx="3">
                  <c:v>-0.007</c:v>
                </c:pt>
                <c:pt idx="4">
                  <c:v>-0.004</c:v>
                </c:pt>
                <c:pt idx="5">
                  <c:v>-0.002</c:v>
                </c:pt>
                <c:pt idx="6">
                  <c:v>0.000</c:v>
                </c:pt>
                <c:pt idx="7">
                  <c:v>0.002</c:v>
                </c:pt>
                <c:pt idx="8">
                  <c:v>0.005</c:v>
                </c:pt>
                <c:pt idx="9">
                  <c:v>0.007</c:v>
                </c:pt>
                <c:pt idx="10">
                  <c:v>0.009</c:v>
                </c:pt>
                <c:pt idx="11">
                  <c:v>0.011</c:v>
                </c:pt>
                <c:pt idx="12">
                  <c:v>0.014</c:v>
                </c:pt>
                <c:pt idx="13">
                  <c:v>0.016</c:v>
                </c:pt>
                <c:pt idx="14">
                  <c:v>0.018</c:v>
                </c:pt>
                <c:pt idx="15">
                  <c:v>0.020</c:v>
                </c:pt>
                <c:pt idx="16">
                  <c:v>0.022</c:v>
                </c:pt>
                <c:pt idx="17">
                  <c:v>0.025</c:v>
                </c:pt>
                <c:pt idx="18">
                  <c:v>0.027</c:v>
                </c:pt>
                <c:pt idx="19">
                  <c:v>0.029</c:v>
                </c:pt>
                <c:pt idx="20">
                  <c:v>0.031</c:v>
                </c:pt>
                <c:pt idx="21">
                  <c:v>0.034</c:v>
                </c:pt>
                <c:pt idx="22">
                  <c:v>0.036</c:v>
                </c:pt>
                <c:pt idx="23">
                  <c:v>0.038</c:v>
                </c:pt>
                <c:pt idx="24">
                  <c:v>0.040</c:v>
                </c:pt>
                <c:pt idx="25">
                  <c:v>0.043</c:v>
                </c:pt>
                <c:pt idx="26">
                  <c:v>0.045</c:v>
                </c:pt>
                <c:pt idx="27">
                  <c:v>0.047</c:v>
                </c:pt>
                <c:pt idx="28">
                  <c:v>0.049</c:v>
                </c:pt>
                <c:pt idx="29">
                  <c:v>0.052</c:v>
                </c:pt>
              </c:numCache>
            </c:numRef>
          </c:cat>
          <c:val>
            <c:numRef>
              <c:f>'Chart Data'!$B$2:$B$31</c:f>
              <c:numCache>
                <c:formatCode>0</c:formatCode>
                <c:ptCount val="30"/>
                <c:pt idx="0">
                  <c:v>0.156802841285</c:v>
                </c:pt>
                <c:pt idx="1">
                  <c:v>0.268804870774</c:v>
                </c:pt>
                <c:pt idx="2">
                  <c:v>0.492808929752</c:v>
                </c:pt>
                <c:pt idx="3">
                  <c:v>1.29922354207</c:v>
                </c:pt>
                <c:pt idx="4">
                  <c:v>2.21764018388</c:v>
                </c:pt>
                <c:pt idx="5">
                  <c:v>3.38246129057</c:v>
                </c:pt>
                <c:pt idx="6">
                  <c:v>5.57770106856</c:v>
                </c:pt>
                <c:pt idx="7">
                  <c:v>8.82575992374</c:v>
                </c:pt>
                <c:pt idx="8">
                  <c:v>13.8658512507</c:v>
                </c:pt>
                <c:pt idx="9">
                  <c:v>20.2275665257</c:v>
                </c:pt>
                <c:pt idx="10">
                  <c:v>25.4692615058</c:v>
                </c:pt>
                <c:pt idx="11">
                  <c:v>33.981415747</c:v>
                </c:pt>
                <c:pt idx="12">
                  <c:v>40.1639277748</c:v>
                </c:pt>
                <c:pt idx="13">
                  <c:v>43.7927935302</c:v>
                </c:pt>
                <c:pt idx="14">
                  <c:v>44.1960008364</c:v>
                </c:pt>
                <c:pt idx="15">
                  <c:v>44.6440089543</c:v>
                </c:pt>
                <c:pt idx="16">
                  <c:v>39.671118845</c:v>
                </c:pt>
                <c:pt idx="17">
                  <c:v>35.4598425362</c:v>
                </c:pt>
                <c:pt idx="18">
                  <c:v>25.9844708415</c:v>
                </c:pt>
                <c:pt idx="19">
                  <c:v>19.5555543488</c:v>
                </c:pt>
                <c:pt idx="20">
                  <c:v>15.2546764164</c:v>
                </c:pt>
                <c:pt idx="21">
                  <c:v>10.2369854953</c:v>
                </c:pt>
                <c:pt idx="22">
                  <c:v>6.1153108101</c:v>
                </c:pt>
                <c:pt idx="23">
                  <c:v>3.87527022032</c:v>
                </c:pt>
                <c:pt idx="24">
                  <c:v>1.83683328362</c:v>
                </c:pt>
                <c:pt idx="25">
                  <c:v>0.784014206424</c:v>
                </c:pt>
                <c:pt idx="26">
                  <c:v>0.448008117956</c:v>
                </c:pt>
                <c:pt idx="27">
                  <c:v>0.156802841285</c:v>
                </c:pt>
                <c:pt idx="28">
                  <c:v>0.0224004058978</c:v>
                </c:pt>
                <c:pt idx="29">
                  <c:v>0.0448008117956</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6"/>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5D6D7E"/>
                </a:solidFill>
                <a:latin typeface="Arial"/>
                <a:ea typeface="Arial"/>
                <a:cs typeface="Arial"/>
              </a:defRPr>
            </a:pPr>
          </a:p>
        </c:txPr>
        <c:crossAx val="48672768"/>
      </c:catAx>
      <c:valAx>
        <c:axId val="48672768"/>
        <c:scaling>
          <c:orientation val="minMax"/>
          <c:max val="50"/>
          <c:min val="0"/>
        </c:scaling>
        <c:delete val="0"/>
        <c:axPos val="l"/>
        <c:majorGridlines>
          <c:spPr>
            <a:ln xmlns:a="http://schemas.openxmlformats.org/drawingml/2006/main" w="5715">
              <a:solidFill>
                <a:srgbClr val="E3E8EE"/>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D6D7E"/>
                </a:solidFill>
                <a:latin typeface="Arial"/>
                <a:ea typeface="Arial"/>
                <a:cs typeface="Arial"/>
              </a:defRPr>
            </a:pPr>
          </a:p>
        </c:txPr>
        <c:crossAx val="48650112"/>
        <c:crossBetween val="between"/>
        <c:majorUnit val="2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00">
                <a:solidFill>
                  <a:srgbClr val="1F2A37"/>
                </a:solidFill>
                <a:latin typeface="Arial"/>
                <a:ea typeface="Arial"/>
                <a:cs typeface="Arial"/>
              </a:rPr>
              <a:t>Probabilidad por calificación</a:t>
            </a:r>
          </a:p>
        </c:rich>
      </c:tx>
      <c:overlay val="0"/>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title>
    <c:plotArea>
      <c:barChart>
        <c:barDir val="col"/>
        <c:grouping val="clustered"/>
        <c:varyColors val="0"/>
        <c:ser>
          <c:idx val="0"/>
          <c:order val="0"/>
          <c:tx>
            <c:v>Manhattan</c:v>
          </c:tx>
          <c:spPr>
            <a:solidFill xmlns:a="http://schemas.openxmlformats.org/drawingml/2006/main">
              <a:srgbClr val="087E8B"/>
            </a:solidFill>
          </c:spPr>
          <c:cat>
            <c:numRef>
              <c:f>'Chart Data'!$A$2:$A$6</c:f>
              <c:numCache>
                <c:formatCode>General</c:formatCode>
                <c:ptCount val="5"/>
                <c:pt idx="0">
                  <c:v>1</c:v>
                </c:pt>
                <c:pt idx="1">
                  <c:v>2</c:v>
                </c:pt>
                <c:pt idx="2">
                  <c:v>3</c:v>
                </c:pt>
                <c:pt idx="3">
                  <c:v>4</c:v>
                </c:pt>
                <c:pt idx="4">
                  <c:v>5</c:v>
                </c:pt>
              </c:numCache>
            </c:numRef>
          </c:cat>
          <c:val>
            <c:numRef>
              <c:f>'Chart Data'!$B$2:$B$6</c:f>
              <c:numCache>
                <c:formatCode>0%</c:formatCode>
                <c:ptCount val="5"/>
                <c:pt idx="0">
                  <c:v>0.0928186466442</c:v>
                </c:pt>
                <c:pt idx="1">
                  <c:v>0.223709060758</c:v>
                </c:pt>
                <c:pt idx="2">
                  <c:v>0.228315445207</c:v>
                </c:pt>
                <c:pt idx="3">
                  <c:v>0.22444608227</c:v>
                </c:pt>
                <c:pt idx="4">
                  <c:v>0.23071076512</c:v>
                </c:pt>
              </c:numCache>
            </c:numRef>
          </c:val>
        </c:ser>
        <c:ser>
          <c:idx val="1"/>
          <c:order val="1"/>
          <c:tx>
            <c:v>Brooklyn</c:v>
          </c:tx>
          <c:spPr>
            <a:solidFill xmlns:a="http://schemas.openxmlformats.org/drawingml/2006/main">
              <a:srgbClr val="C85A43"/>
            </a:solidFill>
          </c:spPr>
          <c:cat>
            <c:numRef>
              <c:f>'Chart Data'!$C$2:$C$6</c:f>
              <c:numCache>
                <c:formatCode>General</c:formatCode>
                <c:ptCount val="5"/>
                <c:pt idx="0">
                  <c:v>1</c:v>
                </c:pt>
                <c:pt idx="1">
                  <c:v>2</c:v>
                </c:pt>
                <c:pt idx="2">
                  <c:v>3</c:v>
                </c:pt>
                <c:pt idx="3">
                  <c:v>4</c:v>
                </c:pt>
                <c:pt idx="4">
                  <c:v>5</c:v>
                </c:pt>
              </c:numCache>
            </c:numRef>
          </c:cat>
          <c:val>
            <c:numRef>
              <c:f>'Chart Data'!$D$2:$D$6</c:f>
              <c:numCache>
                <c:formatCode>0%</c:formatCode>
                <c:ptCount val="5"/>
                <c:pt idx="0">
                  <c:v>0.0966397687583</c:v>
                </c:pt>
                <c:pt idx="1">
                  <c:v>0.227773094062</c:v>
                </c:pt>
                <c:pt idx="2">
                  <c:v>0.221100806937</c:v>
                </c:pt>
                <c:pt idx="3">
                  <c:v>0.229459231603</c:v>
                </c:pt>
                <c:pt idx="4">
                  <c:v>0.225027098639</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85"/>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900">
                    <a:solidFill>
                      <a:srgbClr val="5D6D7E"/>
                    </a:solidFill>
                    <a:latin typeface="Arial"/>
                    <a:ea typeface="Arial"/>
                    <a:cs typeface="Arial"/>
                  </a:rPr>
                  <a:t>Calificación</a:t>
                </a:r>
              </a:p>
            </c:rich>
          </c:tx>
          <c:overlay val="0"/>
          <c:txPr>
            <a:bodyPr xmlns:a="http://schemas.openxmlformats.org/drawingml/2006/main" anchorCtr="1"/>
            <a:lstStyle xmlns:a="http://schemas.openxmlformats.org/drawingml/2006/main"/>
            <a:p xmlns:a="http://schemas.openxmlformats.org/drawingml/2006/main">
              <a:pPr>
                <a:defRPr sz="900">
                  <a:solidFill>
                    <a:srgbClr val="5D6D7E"/>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D6D7E"/>
                </a:solidFill>
                <a:latin typeface="Arial"/>
                <a:ea typeface="Arial"/>
                <a:cs typeface="Arial"/>
              </a:defRPr>
            </a:pPr>
          </a:p>
        </c:txPr>
        <c:crossAx val="48672768"/>
      </c:catAx>
      <c:valAx>
        <c:axId val="48672768"/>
        <c:scaling>
          <c:orientation val="minMax"/>
          <c:max val="0.25"/>
          <c:min val="0"/>
        </c:scaling>
        <c:delete val="0"/>
        <c:axPos val="l"/>
        <c:majorGridlines>
          <c:spPr>
            <a:ln xmlns:a="http://schemas.openxmlformats.org/drawingml/2006/main" w="5715">
              <a:solidFill>
                <a:srgbClr val="E3E8EE"/>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D6D7E"/>
                </a:solidFill>
                <a:latin typeface="Arial"/>
                <a:ea typeface="Arial"/>
                <a:cs typeface="Arial"/>
              </a:defRPr>
            </a:pPr>
          </a:p>
        </c:txPr>
        <c:crossAx val="48650112"/>
        <c:crossBetween val="between"/>
        <c:majorUnit val="0.05"/>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00">
              <a:solidFill>
                <a:srgbClr val="5D6D7E"/>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00">
                <a:solidFill>
                  <a:srgbClr val="1F2A37"/>
                </a:solidFill>
                <a:latin typeface="Arial"/>
                <a:ea typeface="Arial"/>
                <a:cs typeface="Arial"/>
              </a:rPr>
              <a:t>Potencia y falsos rechazos</a:t>
            </a:r>
          </a:p>
        </c:rich>
      </c:tx>
      <c:overlay val="0"/>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title>
    <c:plotArea>
      <c:lineChart>
        <c:grouping val="standard"/>
        <c:varyColors val="0"/>
        <c:ser>
          <c:idx val="0"/>
          <c:order val="0"/>
          <c:tx>
            <c:v>Ajustado (potencia)</c:v>
          </c:tx>
          <c:spPr>
            <a:solidFill xmlns:a="http://schemas.openxmlformats.org/drawingml/2006/main">
              <a:srgbClr val="087E8B"/>
            </a:solidFill>
            <a:ln xmlns:a="http://schemas.openxmlformats.org/drawingml/2006/main" w="20003">
              <a:solidFill>
                <a:srgbClr val="087E8B"/>
              </a:solidFill>
            </a:ln>
          </c:spPr>
          <c:marker>
            <c:symbol val="circle"/>
            <c:size val="5"/>
          </c:marker>
          <c:cat>
            <c:strRef>
              <c:f>'Chart Data'!$A$2:$A$6</c:f>
              <c:strCache>
                <c:ptCount val="5"/>
                <c:pt idx="0">
                  <c:v>50</c:v>
                </c:pt>
                <c:pt idx="1">
                  <c:v>200</c:v>
                </c:pt>
                <c:pt idx="2">
                  <c:v>1.000</c:v>
                </c:pt>
                <c:pt idx="3">
                  <c:v>5.000</c:v>
                </c:pt>
                <c:pt idx="4">
                  <c:v>Original</c:v>
                </c:pt>
              </c:strCache>
            </c:strRef>
          </c:cat>
          <c:val>
            <c:numRef>
              <c:f>'Chart Data'!$B$2:$B$6</c:f>
              <c:numCache>
                <c:formatCode>0%</c:formatCode>
                <c:ptCount val="5"/>
                <c:pt idx="0">
                  <c:v>0.0495</c:v>
                </c:pt>
                <c:pt idx="1">
                  <c:v>0.0534</c:v>
                </c:pt>
                <c:pt idx="2">
                  <c:v>0.06135</c:v>
                </c:pt>
                <c:pt idx="3">
                  <c:v>0.109</c:v>
                </c:pt>
                <c:pt idx="4">
                  <c:v>0.5283</c:v>
                </c:pt>
              </c:numCache>
            </c:numRef>
          </c:val>
          <c:smooth val="0"/>
        </c:ser>
        <c:ser>
          <c:idx val="1"/>
          <c:order val="1"/>
          <c:tx>
            <c:v>Nulo (falsos rechazos)</c:v>
          </c:tx>
          <c:spPr>
            <a:solidFill xmlns:a="http://schemas.openxmlformats.org/drawingml/2006/main">
              <a:srgbClr val="C85A43"/>
            </a:solidFill>
            <a:ln xmlns:a="http://schemas.openxmlformats.org/drawingml/2006/main" w="20003">
              <a:solidFill>
                <a:srgbClr val="C85A43"/>
              </a:solidFill>
            </a:ln>
          </c:spPr>
          <c:marker>
            <c:symbol val="circle"/>
            <c:size val="5"/>
          </c:marker>
          <c:cat>
            <c:strRef>
              <c:f>'Chart Data'!$C$2:$C$6</c:f>
              <c:strCache>
                <c:ptCount val="5"/>
                <c:pt idx="0">
                  <c:v>50</c:v>
                </c:pt>
                <c:pt idx="1">
                  <c:v>200</c:v>
                </c:pt>
                <c:pt idx="2">
                  <c:v>1.000</c:v>
                </c:pt>
                <c:pt idx="3">
                  <c:v>5.000</c:v>
                </c:pt>
                <c:pt idx="4">
                  <c:v>Original</c:v>
                </c:pt>
              </c:strCache>
            </c:strRef>
          </c:cat>
          <c:val>
            <c:numRef>
              <c:f>'Chart Data'!$D$2:$D$6</c:f>
              <c:numCache>
                <c:formatCode>0%</c:formatCode>
                <c:ptCount val="5"/>
                <c:pt idx="0">
                  <c:v>0.0513</c:v>
                </c:pt>
                <c:pt idx="1">
                  <c:v>0.054</c:v>
                </c:pt>
                <c:pt idx="2">
                  <c:v>0.05</c:v>
                </c:pt>
                <c:pt idx="3">
                  <c:v>0.0522</c:v>
                </c:pt>
                <c:pt idx="4">
                  <c:v>0.0497</c:v>
                </c:pt>
              </c:numCache>
            </c:numRef>
          </c:val>
          <c:smooth val="0"/>
        </c:ser>
        <c:ser>
          <c:idx val="2"/>
          <c:order val="2"/>
          <c:tx>
            <c:v>Nivel nominal (5%)</c:v>
          </c:tx>
          <c:spPr>
            <a:solidFill xmlns:a="http://schemas.openxmlformats.org/drawingml/2006/main">
              <a:srgbClr val="8795A6"/>
            </a:solidFill>
            <a:ln xmlns:a="http://schemas.openxmlformats.org/drawingml/2006/main" w="14288">
              <a:solidFill>
                <a:srgbClr val="8795A6"/>
              </a:solidFill>
              <a:prstDash val="dash"/>
            </a:ln>
          </c:spPr>
          <c:marker>
            <c:symbol val="none"/>
          </c:marker>
          <c:cat>
            <c:strRef>
              <c:f>'Chart Data'!$E$2:$E$6</c:f>
              <c:strCache>
                <c:ptCount val="5"/>
                <c:pt idx="0">
                  <c:v>50</c:v>
                </c:pt>
                <c:pt idx="1">
                  <c:v>200</c:v>
                </c:pt>
                <c:pt idx="2">
                  <c:v>1.000</c:v>
                </c:pt>
                <c:pt idx="3">
                  <c:v>5.000</c:v>
                </c:pt>
                <c:pt idx="4">
                  <c:v>Original</c:v>
                </c:pt>
              </c:strCache>
            </c:strRef>
          </c:cat>
          <c:val>
            <c:numRef>
              <c:f>'Chart Data'!$F$2:$F$6</c:f>
              <c:numCache>
                <c:formatCode>0%</c:formatCode>
                <c:ptCount val="5"/>
                <c:pt idx="0">
                  <c:v>0.05</c:v>
                </c:pt>
                <c:pt idx="1">
                  <c:v>0.05</c:v>
                </c:pt>
                <c:pt idx="2">
                  <c:v>0.05</c:v>
                </c:pt>
                <c:pt idx="3">
                  <c:v>0.05</c:v>
                </c:pt>
                <c:pt idx="4">
                  <c:v>0.05</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900">
                    <a:solidFill>
                      <a:srgbClr val="5D6D7E"/>
                    </a:solidFill>
                    <a:latin typeface="Arial"/>
                    <a:ea typeface="Arial"/>
                    <a:cs typeface="Arial"/>
                  </a:rPr>
                  <a:t>Anuncios por distrito (Original: 43.418 / 41.515)</a:t>
                </a:r>
              </a:p>
            </c:rich>
          </c:tx>
          <c:overlay val="0"/>
          <c:txPr>
            <a:bodyPr xmlns:a="http://schemas.openxmlformats.org/drawingml/2006/main" anchorCtr="1"/>
            <a:lstStyle xmlns:a="http://schemas.openxmlformats.org/drawingml/2006/main"/>
            <a:p xmlns:a="http://schemas.openxmlformats.org/drawingml/2006/main">
              <a:pPr>
                <a:defRPr sz="900">
                  <a:solidFill>
                    <a:srgbClr val="5D6D7E"/>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D6D7E"/>
                </a:solidFill>
                <a:latin typeface="Arial"/>
                <a:ea typeface="Arial"/>
                <a:cs typeface="Arial"/>
              </a:defRPr>
            </a:pPr>
          </a:p>
        </c:txPr>
        <c:crossAx val="48672768"/>
      </c:catAx>
      <c:valAx>
        <c:axId val="48672768"/>
        <c:scaling>
          <c:orientation val="minMax"/>
          <c:max val="0.6"/>
          <c:min val="0"/>
        </c:scaling>
        <c:delete val="0"/>
        <c:axPos val="l"/>
        <c:majorGridlines>
          <c:spPr>
            <a:ln xmlns:a="http://schemas.openxmlformats.org/drawingml/2006/main" w="5715">
              <a:solidFill>
                <a:srgbClr val="E3E8EE"/>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D6D7E"/>
                </a:solidFill>
                <a:latin typeface="Arial"/>
                <a:ea typeface="Arial"/>
                <a:cs typeface="Arial"/>
              </a:defRPr>
            </a:pPr>
          </a:p>
        </c:txPr>
        <c:crossAx val="48650112"/>
        <c:crossBetween val="between"/>
        <c:majorUnit val="0.1"/>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825">
              <a:solidFill>
                <a:srgbClr val="5D6D7E"/>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00">
                <a:solidFill>
                  <a:srgbClr val="1F2A37"/>
                </a:solidFill>
                <a:latin typeface="Arial"/>
                <a:ea typeface="Arial"/>
                <a:cs typeface="Arial"/>
              </a:rPr>
              <a:t>P(error de estimación ≤ 0,05 puntos)</a:t>
            </a:r>
          </a:p>
        </c:rich>
      </c:tx>
      <c:overlay val="0"/>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title>
    <c:plotArea>
      <c:barChart>
        <c:barDir val="col"/>
        <c:grouping val="clustered"/>
        <c:varyColors val="0"/>
        <c:ser>
          <c:idx val="0"/>
          <c:order val="0"/>
          <c:tx>
            <c:v>Precisión</c:v>
          </c:tx>
          <c:spPr>
            <a:solidFill xmlns:a="http://schemas.openxmlformats.org/drawingml/2006/main">
              <a:srgbClr val="493C73"/>
            </a:solidFill>
          </c:spPr>
          <c:cat>
            <c:strRef>
              <c:f>'Chart Data'!$A$2:$A$6</c:f>
              <c:strCache>
                <c:ptCount val="5"/>
                <c:pt idx="0">
                  <c:v>50</c:v>
                </c:pt>
                <c:pt idx="1">
                  <c:v>200</c:v>
                </c:pt>
                <c:pt idx="2">
                  <c:v>1.000</c:v>
                </c:pt>
                <c:pt idx="3">
                  <c:v>5.000</c:v>
                </c:pt>
                <c:pt idx="4">
                  <c:v>Original</c:v>
                </c:pt>
              </c:strCache>
            </c:strRef>
          </c:cat>
          <c:val>
            <c:numRef>
              <c:f>'Chart Data'!$B$2:$B$6</c:f>
              <c:numCache>
                <c:formatCode>0.0%</c:formatCode>
                <c:ptCount val="5"/>
                <c:pt idx="0">
                  <c:v>0.15595</c:v>
                </c:pt>
                <c:pt idx="1">
                  <c:v>0.29725</c:v>
                </c:pt>
                <c:pt idx="2">
                  <c:v>0.61645</c:v>
                </c:pt>
                <c:pt idx="3">
                  <c:v>0.9458</c:v>
                </c:pt>
                <c:pt idx="4">
                  <c:v>1</c:v>
                </c:pt>
              </c:numCache>
            </c:numRef>
          </c:val>
        </c:ser>
        <c:dLbls>
          <c:txPr>
            <a:bodyPr xmlns:a="http://schemas.openxmlformats.org/drawingml/2006/main" anchorCtr="1"/>
            <a:lstStyle xmlns:a="http://schemas.openxmlformats.org/drawingml/2006/main"/>
            <a:p xmlns:a="http://schemas.openxmlformats.org/drawingml/2006/main">
              <a:pPr>
                <a:defRPr sz="900">
                  <a:solidFill>
                    <a:srgbClr val="5D6D7E"/>
                  </a:solidFill>
                  <a:latin typeface="Arial"/>
                  <a:ea typeface="Arial"/>
                  <a:cs typeface="Arial"/>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900">
                    <a:solidFill>
                      <a:srgbClr val="5D6D7E"/>
                    </a:solidFill>
                    <a:latin typeface="Arial"/>
                    <a:ea typeface="Arial"/>
                    <a:cs typeface="Arial"/>
                  </a:rPr>
                  <a:t>Anuncios por distrito</a:t>
                </a:r>
              </a:p>
            </c:rich>
          </c:tx>
          <c:overlay val="0"/>
          <c:txPr>
            <a:bodyPr xmlns:a="http://schemas.openxmlformats.org/drawingml/2006/main" anchorCtr="1"/>
            <a:lstStyle xmlns:a="http://schemas.openxmlformats.org/drawingml/2006/main"/>
            <a:p xmlns:a="http://schemas.openxmlformats.org/drawingml/2006/main">
              <a:pPr>
                <a:defRPr sz="900">
                  <a:solidFill>
                    <a:srgbClr val="5D6D7E"/>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D6D7E"/>
                </a:solidFill>
                <a:latin typeface="Arial"/>
                <a:ea typeface="Arial"/>
                <a:cs typeface="Arial"/>
              </a:defRPr>
            </a:pPr>
          </a:p>
        </c:txPr>
        <c:crossAx val="48672768"/>
      </c:catAx>
      <c:valAx>
        <c:axId val="48672768"/>
        <c:scaling>
          <c:orientation val="minMax"/>
          <c:max val="1.1"/>
          <c:min val="0"/>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370A9B1-1A97-487D-8D70-181632944961}"/>
              </a:ext>
            </a:extLst>
          </p:cNvPr>
          <p:cNvSpPr>
            <a:spLocks xmlns:a="http://schemas.openxmlformats.org/drawingml/2006/main" noGrp="1"/>
          </p:cNvSpPr>
          <p:nvPr/>
        </p:nvSpPr>
        <p:spPr>
          <a:xfrm xmlns:a="http://schemas.openxmlformats.org/drawingml/2006/main">
            <a:off x="457200" y="457200"/>
            <a:ext cx="6400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rgbClr val="AEB8C4"/>
                </a:solidFill>
              </a:rPr>
              <a:t>Entrega 2 · Estadística Computacional (INF280)</a:t>
            </a:r>
            <a:endParaRPr sz="1400"/>
          </a:p>
        </p:txBody>
      </p:sp>
      <p:sp>
        <p:nvSpPr>
          <p:cNvPr id="3" name="Text 1">
            <a:extLst xmlns:a="http://schemas.openxmlformats.org/drawingml/2006/main">
              <a:ext uri="{FF2B5EF4-FFF2-40B4-BE49-F238E27FC236}">
                <a16:creationId xmlns:a16="http://schemas.microsoft.com/office/drawing/2014/main" id="{12AB5B76-2F32-42F3-B25B-571D02CDF3BB}"/>
              </a:ext>
            </a:extLst>
          </p:cNvPr>
          <p:cNvSpPr>
            <a:spLocks xmlns:a="http://schemas.openxmlformats.org/drawingml/2006/main" noGrp="1"/>
          </p:cNvSpPr>
          <p:nvPr/>
        </p:nvSpPr>
        <p:spPr>
          <a:xfrm xmlns:a="http://schemas.openxmlformats.org/drawingml/2006/main">
            <a:off x="457200" y="1005840"/>
            <a:ext cx="512064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400" b="1">
                <a:solidFill>
                  <a:schemeClr val="bg1"/>
                </a:solidFill>
                <a:latin typeface="Cambria"/>
                <a:ea typeface="Cambria"/>
                <a:cs typeface="Cambria"/>
              </a:rPr>
              <a:t>¿Cuánto difieren las calificaciones de Manhattan y Brooklyn?</a:t>
            </a:r>
            <a:endParaRPr sz="3400"/>
          </a:p>
        </p:txBody>
      </p:sp>
      <p:sp>
        <p:nvSpPr>
          <p:cNvPr id="4" name="Text 2">
            <a:extLst xmlns:a="http://schemas.openxmlformats.org/drawingml/2006/main">
              <a:ext uri="{FF2B5EF4-FFF2-40B4-BE49-F238E27FC236}">
                <a16:creationId xmlns:a16="http://schemas.microsoft.com/office/drawing/2014/main" id="{6442DF3F-2BFE-45B1-AA7F-ED40DB572249}"/>
              </a:ext>
            </a:extLst>
          </p:cNvPr>
          <p:cNvSpPr>
            <a:spLocks xmlns:a="http://schemas.openxmlformats.org/drawingml/2006/main" noGrp="1"/>
          </p:cNvSpPr>
          <p:nvPr/>
        </p:nvSpPr>
        <p:spPr>
          <a:xfrm xmlns:a="http://schemas.openxmlformats.org/drawingml/2006/main">
            <a:off x="457200" y="2880360"/>
            <a:ext cx="49377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a:solidFill>
                  <a:srgbClr val="CADBE6"/>
                </a:solidFill>
              </a:rPr>
              <a:t>Estimación puntual, bootstrap propio y simulación Monte Carlo sobre Airbnb Nueva York</a:t>
            </a:r>
            <a:endParaRPr sz="1600"/>
          </a:p>
        </p:txBody>
      </p:sp>
      <p:sp>
        <p:nvSpPr>
          <p:cNvPr id="5" name="Text 3">
            <a:extLst xmlns:a="http://schemas.openxmlformats.org/drawingml/2006/main">
              <a:ext uri="{FF2B5EF4-FFF2-40B4-BE49-F238E27FC236}">
                <a16:creationId xmlns:a16="http://schemas.microsoft.com/office/drawing/2014/main" id="{8E392010-AD6A-49CE-AB66-BB2FFF869D4C}"/>
              </a:ext>
            </a:extLst>
          </p:cNvPr>
          <p:cNvSpPr>
            <a:spLocks xmlns:a="http://schemas.openxmlformats.org/drawingml/2006/main" noGrp="1"/>
          </p:cNvSpPr>
          <p:nvPr/>
        </p:nvSpPr>
        <p:spPr>
          <a:xfrm xmlns:a="http://schemas.openxmlformats.org/drawingml/2006/main">
            <a:off x="457200" y="4160520"/>
            <a:ext cx="59436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a:solidFill>
                  <a:srgbClr val="AEB8C4"/>
                </a:solidFill>
              </a:rPr>
              <a:t>Grupo 25 · José Flores, Sebastian Alcaide, Pedro Ortiz y Miguel Primera</a:t>
            </a:r>
            <a:endParaRPr sz="1300"/>
          </a:p>
        </p:txBody>
      </p:sp>
      <p:sp>
        <p:nvSpPr>
          <p:cNvPr id="6" name="Círculo Manhattan">
            <a:extLst xmlns:a="http://schemas.openxmlformats.org/drawingml/2006/main">
              <a:ext uri="{FF2B5EF4-FFF2-40B4-BE49-F238E27FC236}">
                <a16:creationId xmlns:a16="http://schemas.microsoft.com/office/drawing/2014/main" id="{ADB777F7-B4BD-4019-A679-DD1110AB6910}"/>
              </a:ext>
            </a:extLst>
          </p:cNvPr>
          <p:cNvSpPr>
            <a:spLocks xmlns:a="http://schemas.openxmlformats.org/drawingml/2006/main" noGrp="1"/>
          </p:cNvSpPr>
          <p:nvPr/>
        </p:nvSpPr>
        <p:spPr>
          <a:xfrm xmlns:a="http://schemas.openxmlformats.org/drawingml/2006/main">
            <a:off x="5989320" y="1051560"/>
            <a:ext cx="1920240" cy="1920240"/>
          </a:xfrm>
          <a:prstGeom xmlns:a="http://schemas.openxmlformats.org/drawingml/2006/main" prst="ellipse">
            <a:avLst/>
          </a:prstGeom>
          <a:solidFill xmlns:a="http://schemas.openxmlformats.org/drawingml/2006/main">
            <a:schemeClr val="accent1">
              <a:alpha val="90000"/>
            </a:schemeClr>
          </a:solidFill>
        </p:spPr>
      </p:sp>
      <p:sp>
        <p:nvSpPr>
          <p:cNvPr id="7" name="Círculo Brooklyn">
            <a:extLst xmlns:a="http://schemas.openxmlformats.org/drawingml/2006/main">
              <a:ext uri="{FF2B5EF4-FFF2-40B4-BE49-F238E27FC236}">
                <a16:creationId xmlns:a16="http://schemas.microsoft.com/office/drawing/2014/main" id="{EE208598-EAF2-4E50-85BB-921D4D755E99}"/>
              </a:ext>
            </a:extLst>
          </p:cNvPr>
          <p:cNvSpPr>
            <a:spLocks xmlns:a="http://schemas.openxmlformats.org/drawingml/2006/main" noGrp="1"/>
          </p:cNvSpPr>
          <p:nvPr/>
        </p:nvSpPr>
        <p:spPr>
          <a:xfrm xmlns:a="http://schemas.openxmlformats.org/drawingml/2006/main">
            <a:off x="6812280" y="1051560"/>
            <a:ext cx="1920240" cy="1920240"/>
          </a:xfrm>
          <a:prstGeom xmlns:a="http://schemas.openxmlformats.org/drawingml/2006/main" prst="ellipse">
            <a:avLst/>
          </a:prstGeom>
          <a:solidFill xmlns:a="http://schemas.openxmlformats.org/drawingml/2006/main">
            <a:schemeClr val="accent2">
              <a:alpha val="90000"/>
            </a:schemeClr>
          </a:solidFill>
        </p:spPr>
      </p:sp>
      <p:sp>
        <p:nvSpPr>
          <p:cNvPr id="8" name="Text 6">
            <a:extLst xmlns:a="http://schemas.openxmlformats.org/drawingml/2006/main">
              <a:ext uri="{FF2B5EF4-FFF2-40B4-BE49-F238E27FC236}">
                <a16:creationId xmlns:a16="http://schemas.microsoft.com/office/drawing/2014/main" id="{D2A17F06-DFCE-43ED-A8AA-B23CE5A640E4}"/>
              </a:ext>
            </a:extLst>
          </p:cNvPr>
          <p:cNvSpPr>
            <a:spLocks xmlns:a="http://schemas.openxmlformats.org/drawingml/2006/main" noGrp="1"/>
          </p:cNvSpPr>
          <p:nvPr/>
        </p:nvSpPr>
        <p:spPr>
          <a:xfrm xmlns:a="http://schemas.openxmlformats.org/drawingml/2006/main">
            <a:off x="6217920" y="1691640"/>
            <a:ext cx="9144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800" b="1">
                <a:solidFill>
                  <a:schemeClr val="bg1"/>
                </a:solidFill>
                <a:latin typeface="Cambria"/>
                <a:ea typeface="Cambria"/>
                <a:cs typeface="Cambria"/>
              </a:rPr>
              <a:t>μM</a:t>
            </a:r>
            <a:endParaRPr sz="2800"/>
          </a:p>
        </p:txBody>
      </p:sp>
      <p:sp>
        <p:nvSpPr>
          <p:cNvPr id="9" name="Text 7">
            <a:extLst xmlns:a="http://schemas.openxmlformats.org/drawingml/2006/main">
              <a:ext uri="{FF2B5EF4-FFF2-40B4-BE49-F238E27FC236}">
                <a16:creationId xmlns:a16="http://schemas.microsoft.com/office/drawing/2014/main" id="{FF326C0C-B23C-4389-AC20-2A83C715270B}"/>
              </a:ext>
            </a:extLst>
          </p:cNvPr>
          <p:cNvSpPr>
            <a:spLocks xmlns:a="http://schemas.openxmlformats.org/drawingml/2006/main" noGrp="1"/>
          </p:cNvSpPr>
          <p:nvPr/>
        </p:nvSpPr>
        <p:spPr>
          <a:xfrm xmlns:a="http://schemas.openxmlformats.org/drawingml/2006/main">
            <a:off x="7635240" y="1691640"/>
            <a:ext cx="9144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800" b="1">
                <a:solidFill>
                  <a:schemeClr val="bg1"/>
                </a:solidFill>
                <a:latin typeface="Cambria"/>
                <a:ea typeface="Cambria"/>
                <a:cs typeface="Cambria"/>
              </a:rPr>
              <a:t>μB</a:t>
            </a:r>
            <a:endParaRPr sz="2800"/>
          </a:p>
        </p:txBody>
      </p:sp>
      <p:sp>
        <p:nvSpPr>
          <p:cNvPr id="10" name="Tarjeta Δ">
            <a:extLst xmlns:a="http://schemas.openxmlformats.org/drawingml/2006/main">
              <a:ext uri="{FF2B5EF4-FFF2-40B4-BE49-F238E27FC236}">
                <a16:creationId xmlns:a16="http://schemas.microsoft.com/office/drawing/2014/main" id="{11D57C6B-7283-451D-B24A-64FE76FA8B47}"/>
              </a:ext>
            </a:extLst>
          </p:cNvPr>
          <p:cNvSpPr>
            <a:spLocks xmlns:a="http://schemas.openxmlformats.org/drawingml/2006/main" noGrp="1"/>
          </p:cNvSpPr>
          <p:nvPr/>
        </p:nvSpPr>
        <p:spPr>
          <a:xfrm xmlns:a="http://schemas.openxmlformats.org/drawingml/2006/main">
            <a:off x="5989320" y="3291840"/>
            <a:ext cx="2743200" cy="1097280"/>
          </a:xfrm>
          <a:prstGeom xmlns:a="http://schemas.openxmlformats.org/drawingml/2006/main" prst="roundRect">
            <a:avLst>
              <a:gd name="adj" fmla="val 6667"/>
            </a:avLst>
          </a:prstGeom>
          <a:solidFill xmlns:a="http://schemas.openxmlformats.org/drawingml/2006/main">
            <a:schemeClr val="accent3"/>
          </a:solidFill>
        </p:spPr>
      </p:sp>
      <p:sp>
        <p:nvSpPr>
          <p:cNvPr id="11" name="Text 9">
            <a:extLst xmlns:a="http://schemas.openxmlformats.org/drawingml/2006/main">
              <a:ext uri="{FF2B5EF4-FFF2-40B4-BE49-F238E27FC236}">
                <a16:creationId xmlns:a16="http://schemas.microsoft.com/office/drawing/2014/main" id="{DC873DFA-8629-40F0-8D04-93D7CE2EE52A}"/>
              </a:ext>
            </a:extLst>
          </p:cNvPr>
          <p:cNvSpPr>
            <a:spLocks xmlns:a="http://schemas.openxmlformats.org/drawingml/2006/main" noGrp="1"/>
          </p:cNvSpPr>
          <p:nvPr/>
        </p:nvSpPr>
        <p:spPr>
          <a:xfrm xmlns:a="http://schemas.openxmlformats.org/drawingml/2006/main">
            <a:off x="5989320" y="3337560"/>
            <a:ext cx="27432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4000" b="1">
                <a:solidFill>
                  <a:schemeClr val="bg1"/>
                </a:solidFill>
                <a:latin typeface="Cambria"/>
                <a:ea typeface="Cambria"/>
                <a:cs typeface="Cambria"/>
              </a:rPr>
              <a:t>0,0181</a:t>
            </a:r>
            <a:endParaRPr sz="4000"/>
          </a:p>
        </p:txBody>
      </p:sp>
      <p:sp>
        <p:nvSpPr>
          <p:cNvPr id="12" name="Text 10">
            <a:extLst xmlns:a="http://schemas.openxmlformats.org/drawingml/2006/main">
              <a:ext uri="{FF2B5EF4-FFF2-40B4-BE49-F238E27FC236}">
                <a16:creationId xmlns:a16="http://schemas.microsoft.com/office/drawing/2014/main" id="{6BB65D3B-8628-4752-918B-C37EDCE08747}"/>
              </a:ext>
            </a:extLst>
          </p:cNvPr>
          <p:cNvSpPr>
            <a:spLocks xmlns:a="http://schemas.openxmlformats.org/drawingml/2006/main" noGrp="1"/>
          </p:cNvSpPr>
          <p:nvPr/>
        </p:nvSpPr>
        <p:spPr>
          <a:xfrm xmlns:a="http://schemas.openxmlformats.org/drawingml/2006/main">
            <a:off x="6126480" y="4023360"/>
            <a:ext cx="24688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a:solidFill>
                  <a:srgbClr val="E4DFF2"/>
                </a:solidFill>
              </a:rPr>
              <a:t>puntos de diferencia estimada (Δ)</a:t>
            </a:r>
            <a:endParaRPr sz="1200"/>
          </a:p>
        </p:txBody>
      </p:sp>
      <p:sp>
        <p:nvSpPr>
          <p:cNvPr id="14" name="Text 1">
            <a:extLst xmlns:a="http://schemas.openxmlformats.org/drawingml/2006/main">
              <a:ext uri="{FF2B5EF4-FFF2-40B4-BE49-F238E27FC236}">
                <a16:creationId xmlns:a16="http://schemas.microsoft.com/office/drawing/2014/main" id="{6CC87853-622F-4117-A85D-59DE66B94786}"/>
              </a:ext>
            </a:extLst>
          </p:cNvPr>
          <p:cNvSpPr>
            <a:spLocks xmlns:a="http://schemas.openxmlformats.org/drawingml/2006/main" noGrp="1"/>
          </p:cNvSpPr>
          <p:nvPr>
            <p:ph type="title" idx="101" hasCustomPrompt="1"/>
          </p:nvPr>
        </p:nvSpPr>
        <p:spPr>
          <a:xfrm xmlns:a="http://schemas.openxmlformats.org/drawingml/2006/main">
            <a:off x="457200" y="274320"/>
            <a:ext cx="82296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endParaRPr sz="3000"/>
          </a:p>
        </p:txBody>
      </p:sp>
      <p:sp>
        <p:nvSpPr>
          <p:cNvPr id="25" name="Slide Number Placeholder 0">
            <a:extLst xmlns:a="http://schemas.openxmlformats.org/drawingml/2006/main">
              <a:ext uri="{FF2B5EF4-FFF2-40B4-BE49-F238E27FC236}">
                <a16:creationId xmlns:a16="http://schemas.microsoft.com/office/drawing/2014/main" id="{67ECEAD5-CC10-4CFB-A6FD-0813AA973520}"/>
              </a:ext>
            </a:extLst>
          </p:cNvPr>
          <p:cNvSpPr>
            <a:spLocks xmlns:a="http://schemas.openxmlformats.org/drawingml/2006/main" noGrp="1"/>
          </p:cNvSpPr>
          <p:nvPr>
            <p:ph type="sldNum" idx="4294967295"/>
          </p:nvPr>
        </p:nvSpPr>
        <p:spPr>
          <a:xfrm xmlns:a="http://schemas.openxmlformats.org/drawingml/2006/main">
            <a:off x="8229600" y="4754880"/>
            <a:ext cx="457200" cy="22860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AEB8C4"/>
                </a:solidFill>
              </a:defRPr>
            </a:lvl1pPr>
          </a:lstStyle>
          <a:p xmlns:a="http://schemas.openxmlformats.org/drawingml/2006/main">
            <a:pPr algn="r">
              <a:buNone/>
            </a:pPr>
            <a:fld id="{F7021451-1387-4CA6-816F-3879F97B5CBC}" type="slidenum">
              <a:rPr b="0"/>
              <a:t>1</a:t>
            </a:fld>
            <a:endParaRPr/>
          </a:p>
        </p:txBody>
      </p:sp>
    </p:spTree>
    <p:extLst>
      <p:ext uri="{BB962C8B-B14F-4D97-AF65-F5344CB8AC3E}">
        <p14:creationId xmlns:p14="http://schemas.microsoft.com/office/powerpoint/2010/main" val="1518924447"/>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4AA81F9C-02B4-48D4-8E7F-ADD1A85946DF}"/>
              </a:ext>
            </a:extLst>
          </p:cNvPr>
          <p:cNvSpPr>
            <a:spLocks xmlns:a="http://schemas.openxmlformats.org/drawingml/2006/main" noGrp="1"/>
          </p:cNvSpPr>
          <p:nvPr>
            <p:ph type="title" idx="101" hasCustomPrompt="1"/>
          </p:nvPr>
        </p:nvSpPr>
        <p:spPr>
          <a:xfrm xmlns:a="http://schemas.openxmlformats.org/drawingml/2006/main">
            <a:off x="457200" y="274320"/>
            <a:ext cx="82296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3000" b="1">
                <a:solidFill>
                  <a:schemeClr val="tx1"/>
                </a:solidFill>
              </a:rPr>
              <a:t>Calificaciones por distrito</a:t>
            </a:r>
            <a:endParaRPr sz="3000"/>
          </a:p>
        </p:txBody>
      </p:sp>
      <p:sp>
        <p:nvSpPr>
          <p:cNvPr id="3" name="Text 1">
            <a:extLst xmlns:a="http://schemas.openxmlformats.org/drawingml/2006/main">
              <a:ext uri="{FF2B5EF4-FFF2-40B4-BE49-F238E27FC236}">
                <a16:creationId xmlns:a16="http://schemas.microsoft.com/office/drawing/2014/main" id="{42853951-43DF-4CE2-8D63-A07FC44FF09E}"/>
              </a:ext>
            </a:extLst>
          </p:cNvPr>
          <p:cNvSpPr>
            <a:spLocks xmlns:a="http://schemas.openxmlformats.org/drawingml/2006/main" noGrp="1"/>
          </p:cNvSpPr>
          <p:nvPr/>
        </p:nvSpPr>
        <p:spPr>
          <a:xfrm xmlns:a="http://schemas.openxmlformats.org/drawingml/2006/main">
            <a:off x="457200" y="1097280"/>
            <a:ext cx="402336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chemeClr val="tx1"/>
                </a:solidFill>
              </a:rPr>
              <a:t>Entrega 1: ANOVA de cinco medias, F = 11,3048 (p &lt; 0,001). V de Cramér = 0,0200. Aquí estimamos μM, μB y su diferencia.</a:t>
            </a:r>
            <a:endParaRPr sz="1400"/>
          </a:p>
        </p:txBody>
      </p:sp>
      <p:sp>
        <p:nvSpPr>
          <p:cNvPr id="4" name="Tarjeta parámetros">
            <a:extLst xmlns:a="http://schemas.openxmlformats.org/drawingml/2006/main">
              <a:ext uri="{FF2B5EF4-FFF2-40B4-BE49-F238E27FC236}">
                <a16:creationId xmlns:a16="http://schemas.microsoft.com/office/drawing/2014/main" id="{443B0D85-9B71-4FC4-AD94-5E824F501243}"/>
              </a:ext>
            </a:extLst>
          </p:cNvPr>
          <p:cNvSpPr>
            <a:spLocks xmlns:a="http://schemas.openxmlformats.org/drawingml/2006/main" noGrp="1"/>
          </p:cNvSpPr>
          <p:nvPr/>
        </p:nvSpPr>
        <p:spPr>
          <a:xfrm xmlns:a="http://schemas.openxmlformats.org/drawingml/2006/main">
            <a:off x="457200" y="1965960"/>
            <a:ext cx="4023360" cy="1417320"/>
          </a:xfrm>
          <a:prstGeom xmlns:a="http://schemas.openxmlformats.org/drawingml/2006/main" prst="roundRect">
            <a:avLst>
              <a:gd name="adj" fmla="val 5161"/>
            </a:avLst>
          </a:prstGeom>
          <a:solidFill xmlns:a="http://schemas.openxmlformats.org/drawingml/2006/main">
            <a:schemeClr val="bg2"/>
          </a:solidFill>
        </p:spPr>
      </p:sp>
      <p:sp>
        <p:nvSpPr>
          <p:cNvPr id="5" name="Ficha M">
            <a:extLst xmlns:a="http://schemas.openxmlformats.org/drawingml/2006/main">
              <a:ext uri="{FF2B5EF4-FFF2-40B4-BE49-F238E27FC236}">
                <a16:creationId xmlns:a16="http://schemas.microsoft.com/office/drawing/2014/main" id="{BBE440D0-CC74-4F5D-B434-3DF8886BA473}"/>
              </a:ext>
            </a:extLst>
          </p:cNvPr>
          <p:cNvSpPr>
            <a:spLocks xmlns:a="http://schemas.openxmlformats.org/drawingml/2006/main" noGrp="1"/>
          </p:cNvSpPr>
          <p:nvPr/>
        </p:nvSpPr>
        <p:spPr>
          <a:xfrm xmlns:a="http://schemas.openxmlformats.org/drawingml/2006/main">
            <a:off x="640080" y="2103120"/>
            <a:ext cx="384048" cy="384048"/>
          </a:xfrm>
          <a:prstGeom xmlns:a="http://schemas.openxmlformats.org/drawingml/2006/main" prst="ellipse">
            <a:avLst/>
          </a:prstGeom>
          <a:solidFill xmlns:a="http://schemas.openxmlformats.org/drawingml/2006/main">
            <a:srgbClr val="087E8B"/>
          </a:solidFill>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chemeClr val="bg1"/>
                </a:solidFill>
              </a:rPr>
              <a:t>M</a:t>
            </a:r>
            <a:endParaRPr sz="1300"/>
          </a:p>
        </p:txBody>
      </p:sp>
      <p:sp>
        <p:nvSpPr>
          <p:cNvPr id="6" name="Text 4">
            <a:extLst xmlns:a="http://schemas.openxmlformats.org/drawingml/2006/main">
              <a:ext uri="{FF2B5EF4-FFF2-40B4-BE49-F238E27FC236}">
                <a16:creationId xmlns:a16="http://schemas.microsoft.com/office/drawing/2014/main" id="{2C3F1438-C6F6-4F67-BF6C-3B04B00006FD}"/>
              </a:ext>
            </a:extLst>
          </p:cNvPr>
          <p:cNvSpPr>
            <a:spLocks xmlns:a="http://schemas.openxmlformats.org/drawingml/2006/main" noGrp="1"/>
          </p:cNvSpPr>
          <p:nvPr/>
        </p:nvSpPr>
        <p:spPr>
          <a:xfrm xmlns:a="http://schemas.openxmlformats.org/drawingml/2006/main">
            <a:off x="1143000" y="2103120"/>
            <a:ext cx="32461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chemeClr val="tx1"/>
                </a:solidFill>
              </a:rPr>
              <a:t>μM = E(calificación | Manhattan)</a:t>
            </a:r>
            <a:endParaRPr sz="1400"/>
          </a:p>
        </p:txBody>
      </p:sp>
      <p:sp>
        <p:nvSpPr>
          <p:cNvPr id="7" name="Ficha B">
            <a:extLst xmlns:a="http://schemas.openxmlformats.org/drawingml/2006/main">
              <a:ext uri="{FF2B5EF4-FFF2-40B4-BE49-F238E27FC236}">
                <a16:creationId xmlns:a16="http://schemas.microsoft.com/office/drawing/2014/main" id="{833632FF-A872-4A9C-8BFB-D774D22728D3}"/>
              </a:ext>
            </a:extLst>
          </p:cNvPr>
          <p:cNvSpPr>
            <a:spLocks xmlns:a="http://schemas.openxmlformats.org/drawingml/2006/main" noGrp="1"/>
          </p:cNvSpPr>
          <p:nvPr/>
        </p:nvSpPr>
        <p:spPr>
          <a:xfrm xmlns:a="http://schemas.openxmlformats.org/drawingml/2006/main">
            <a:off x="640080" y="2578608"/>
            <a:ext cx="384048" cy="384048"/>
          </a:xfrm>
          <a:prstGeom xmlns:a="http://schemas.openxmlformats.org/drawingml/2006/main" prst="ellipse">
            <a:avLst/>
          </a:prstGeom>
          <a:solidFill xmlns:a="http://schemas.openxmlformats.org/drawingml/2006/main">
            <a:srgbClr val="C85A43"/>
          </a:solidFill>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chemeClr val="bg1"/>
                </a:solidFill>
              </a:rPr>
              <a:t>B</a:t>
            </a:r>
            <a:endParaRPr sz="1300"/>
          </a:p>
        </p:txBody>
      </p:sp>
      <p:sp>
        <p:nvSpPr>
          <p:cNvPr id="8" name="Text 6">
            <a:extLst xmlns:a="http://schemas.openxmlformats.org/drawingml/2006/main">
              <a:ext uri="{FF2B5EF4-FFF2-40B4-BE49-F238E27FC236}">
                <a16:creationId xmlns:a16="http://schemas.microsoft.com/office/drawing/2014/main" id="{7040DF0C-1DEA-40AE-8435-CBFF1C5353EC}"/>
              </a:ext>
            </a:extLst>
          </p:cNvPr>
          <p:cNvSpPr>
            <a:spLocks xmlns:a="http://schemas.openxmlformats.org/drawingml/2006/main" noGrp="1"/>
          </p:cNvSpPr>
          <p:nvPr/>
        </p:nvSpPr>
        <p:spPr>
          <a:xfrm xmlns:a="http://schemas.openxmlformats.org/drawingml/2006/main">
            <a:off x="1143000" y="2578608"/>
            <a:ext cx="32461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chemeClr val="tx1"/>
                </a:solidFill>
              </a:rPr>
              <a:t>μB = E(calificación | Brooklyn)</a:t>
            </a:r>
            <a:endParaRPr sz="1400"/>
          </a:p>
        </p:txBody>
      </p:sp>
      <p:sp>
        <p:nvSpPr>
          <p:cNvPr id="9" name="Ficha Δ">
            <a:extLst xmlns:a="http://schemas.openxmlformats.org/drawingml/2006/main">
              <a:ext uri="{FF2B5EF4-FFF2-40B4-BE49-F238E27FC236}">
                <a16:creationId xmlns:a16="http://schemas.microsoft.com/office/drawing/2014/main" id="{53B2A35E-04F6-4788-BFD5-69E7056B2B78}"/>
              </a:ext>
            </a:extLst>
          </p:cNvPr>
          <p:cNvSpPr>
            <a:spLocks xmlns:a="http://schemas.openxmlformats.org/drawingml/2006/main" noGrp="1"/>
          </p:cNvSpPr>
          <p:nvPr/>
        </p:nvSpPr>
        <p:spPr>
          <a:xfrm xmlns:a="http://schemas.openxmlformats.org/drawingml/2006/main">
            <a:off x="640080" y="3054096"/>
            <a:ext cx="292608" cy="292608"/>
          </a:xfrm>
          <a:prstGeom xmlns:a="http://schemas.openxmlformats.org/drawingml/2006/main" prst="ellipse">
            <a:avLst/>
          </a:prstGeom>
          <a:solidFill xmlns:a="http://schemas.openxmlformats.org/drawingml/2006/main">
            <a:srgbClr val="493C73"/>
          </a:solidFill>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chemeClr val="bg1"/>
                </a:solidFill>
              </a:rPr>
              <a:t>Δ</a:t>
            </a:r>
            <a:endParaRPr sz="1100"/>
          </a:p>
        </p:txBody>
      </p:sp>
      <p:sp>
        <p:nvSpPr>
          <p:cNvPr id="10" name="Text 8">
            <a:extLst xmlns:a="http://schemas.openxmlformats.org/drawingml/2006/main">
              <a:ext uri="{FF2B5EF4-FFF2-40B4-BE49-F238E27FC236}">
                <a16:creationId xmlns:a16="http://schemas.microsoft.com/office/drawing/2014/main" id="{D902CF1A-EDBD-47F6-B6A2-D4ACFCB5DDCC}"/>
              </a:ext>
            </a:extLst>
          </p:cNvPr>
          <p:cNvSpPr>
            <a:spLocks xmlns:a="http://schemas.openxmlformats.org/drawingml/2006/main" noGrp="1"/>
          </p:cNvSpPr>
          <p:nvPr/>
        </p:nvSpPr>
        <p:spPr>
          <a:xfrm xmlns:a="http://schemas.openxmlformats.org/drawingml/2006/main">
            <a:off x="1143000" y="3017520"/>
            <a:ext cx="3246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chemeClr val="tx1"/>
                </a:solidFill>
              </a:rPr>
              <a:t>Δ = μM − μB, en puntos (escala 1–5)</a:t>
            </a:r>
            <a:endParaRPr sz="1400"/>
          </a:p>
        </p:txBody>
      </p:sp>
      <p:sp>
        <p:nvSpPr>
          <p:cNvPr id="11" name="Text 9">
            <a:extLst xmlns:a="http://schemas.openxmlformats.org/drawingml/2006/main">
              <a:ext uri="{FF2B5EF4-FFF2-40B4-BE49-F238E27FC236}">
                <a16:creationId xmlns:a16="http://schemas.microsoft.com/office/drawing/2014/main" id="{1231CCED-FF39-4D44-B5C2-4DDF8505B64E}"/>
              </a:ext>
            </a:extLst>
          </p:cNvPr>
          <p:cNvSpPr>
            <a:spLocks xmlns:a="http://schemas.openxmlformats.org/drawingml/2006/main" noGrp="1"/>
          </p:cNvSpPr>
          <p:nvPr/>
        </p:nvSpPr>
        <p:spPr>
          <a:xfrm xmlns:a="http://schemas.openxmlformats.org/drawingml/2006/main">
            <a:off x="457200" y="3566160"/>
            <a:ext cx="402336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chemeClr val="tx1"/>
                </a:solidFill>
              </a:rPr>
              <a:t>Elegidos por ser los dos distritos con más anuncios, no por tener el mayor y el menor promedio.</a:t>
            </a:r>
            <a:endParaRPr sz="1400"/>
          </a:p>
        </p:txBody>
      </p:sp>
      <p:sp>
        <p:nvSpPr>
          <p:cNvPr id="13" name="Text 10">
            <a:extLst xmlns:a="http://schemas.openxmlformats.org/drawingml/2006/main">
              <a:ext uri="{FF2B5EF4-FFF2-40B4-BE49-F238E27FC236}">
                <a16:creationId xmlns:a16="http://schemas.microsoft.com/office/drawing/2014/main" id="{357B5023-833C-4C16-B3A2-4486110AE092}"/>
              </a:ext>
            </a:extLst>
          </p:cNvPr>
          <p:cNvSpPr>
            <a:spLocks xmlns:a="http://schemas.openxmlformats.org/drawingml/2006/main" noGrp="1"/>
          </p:cNvSpPr>
          <p:nvPr/>
        </p:nvSpPr>
        <p:spPr>
          <a:xfrm xmlns:a="http://schemas.openxmlformats.org/drawingml/2006/main">
            <a:off x="4754880" y="4389120"/>
            <a:ext cx="40233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chemeClr val="accent4"/>
                </a:solidFill>
              </a:rPr>
              <a:t>Eje vertical desde 3,0 para hacer visibles las diferencias.</a:t>
            </a:r>
            <a:endParaRPr sz="1000"/>
          </a:p>
        </p:txBody>
      </p:sp>
      <p:sp>
        <p:nvSpPr>
          <p:cNvPr id="25" name="Slide Number Placeholder 0">
            <a:extLst xmlns:a="http://schemas.openxmlformats.org/drawingml/2006/main">
              <a:ext uri="{FF2B5EF4-FFF2-40B4-BE49-F238E27FC236}">
                <a16:creationId xmlns:a16="http://schemas.microsoft.com/office/drawing/2014/main" id="{26DFD6B8-11C8-4EA0-B971-5A8D36D04B99}"/>
              </a:ext>
            </a:extLst>
          </p:cNvPr>
          <p:cNvSpPr>
            <a:spLocks xmlns:a="http://schemas.openxmlformats.org/drawingml/2006/main" noGrp="1"/>
          </p:cNvSpPr>
          <p:nvPr>
            <p:ph type="sldNum" idx="4294967295"/>
          </p:nvPr>
        </p:nvSpPr>
        <p:spPr>
          <a:xfrm xmlns:a="http://schemas.openxmlformats.org/drawingml/2006/main">
            <a:off x="8229600" y="4754880"/>
            <a:ext cx="457200" cy="228600"/>
          </a:xfrm>
          <a:prstGeom xmlns:a="http://schemas.openxmlformats.org/drawingml/2006/main" prst="rect">
            <a:avLst/>
          </a:prstGeom>
        </p:spPr>
        <p:txBody>
          <a:bodyPr xmlns:a="http://schemas.openxmlformats.org/drawingml/2006/main"/>
          <a:lstStyle xmlns:a="http://schemas.openxmlformats.org/drawingml/2006/main">
            <a:lvl1pPr>
              <a:buNone/>
              <a:defRPr sz="1000">
                <a:solidFill>
                  <a:schemeClr val="accent4"/>
                </a:solidFill>
              </a:defRPr>
            </a:lvl1pPr>
          </a:lstStyle>
          <a:p xmlns:a="http://schemas.openxmlformats.org/drawingml/2006/main">
            <a:pPr algn="r">
              <a:buNone/>
            </a:pPr>
            <a:fld id="{F7021451-1387-4CA6-816F-3879F97B5CBC}" type="slidenum">
              <a:rPr b="0"/>
              <a:t>2</a:t>
            </a:fld>
            <a:endParaRPr/>
          </a:p>
        </p:txBody>
      </p:sp>
      <p:graphicFrame>
        <p:nvGraphicFramePr>
          <p:cNvPr id="39" name="Chart"/>
          <p:cNvGraphicFramePr/>
          <p:nvPr/>
        </p:nvGraphicFramePr>
        <p:xfrm>
          <a:off xmlns:a="http://schemas.openxmlformats.org/drawingml/2006/main" x="4754880" y="1097280"/>
          <a:ext xmlns:a="http://schemas.openxmlformats.org/drawingml/2006/main" cx="4023360" cy="3246120"/>
        </p:xfrm>
        <a:graphic xmlns:a="http://schemas.openxmlformats.org/drawingml/2006/main">
          <a:graphicData uri="http://schemas.openxmlformats.org/drawingml/2006/chart">
            <c:chart xmlns:r="http://schemas.openxmlformats.org/officeDocument/2006/relationships" xmlns:c="http://schemas.openxmlformats.org/drawingml/2006/chart" r:id="R2cc364f585024bbc"/>
          </a:graphicData>
        </a:graphic>
      </p:graphicFrame>
    </p:spTree>
    <p:extLst>
      <p:ext uri="{BB962C8B-B14F-4D97-AF65-F5344CB8AC3E}">
        <p14:creationId xmlns:p14="http://schemas.microsoft.com/office/powerpoint/2010/main" val="26038269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84E45B9D-CAD3-409D-A95E-D1FC75DA78D7}"/>
              </a:ext>
            </a:extLst>
          </p:cNvPr>
          <p:cNvSpPr>
            <a:spLocks xmlns:a="http://schemas.openxmlformats.org/drawingml/2006/main" noGrp="1"/>
          </p:cNvSpPr>
          <p:nvPr>
            <p:ph type="title" idx="101" hasCustomPrompt="1"/>
          </p:nvPr>
        </p:nvSpPr>
        <p:spPr>
          <a:xfrm xmlns:a="http://schemas.openxmlformats.org/drawingml/2006/main">
            <a:off x="457200" y="274320"/>
            <a:ext cx="82296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3000" b="1">
                <a:solidFill>
                  <a:schemeClr val="tx1"/>
                </a:solidFill>
              </a:rPr>
              <a:t>Datos y alcance del análisis</a:t>
            </a:r>
            <a:endParaRPr sz="3000"/>
          </a:p>
        </p:txBody>
      </p:sp>
      <p:sp>
        <p:nvSpPr>
          <p:cNvPr id="3" name="Tarjeta dato 1">
            <a:extLst xmlns:a="http://schemas.openxmlformats.org/drawingml/2006/main">
              <a:ext uri="{FF2B5EF4-FFF2-40B4-BE49-F238E27FC236}">
                <a16:creationId xmlns:a16="http://schemas.microsoft.com/office/drawing/2014/main" id="{34C72EDA-9333-4535-84F0-EA7619B321FB}"/>
              </a:ext>
            </a:extLst>
          </p:cNvPr>
          <p:cNvSpPr>
            <a:spLocks xmlns:a="http://schemas.openxmlformats.org/drawingml/2006/main" noGrp="1"/>
          </p:cNvSpPr>
          <p:nvPr/>
        </p:nvSpPr>
        <p:spPr>
          <a:xfrm xmlns:a="http://schemas.openxmlformats.org/drawingml/2006/main">
            <a:off x="457200" y="1188720"/>
            <a:ext cx="4206240" cy="960120"/>
          </a:xfrm>
          <a:prstGeom xmlns:a="http://schemas.openxmlformats.org/drawingml/2006/main" prst="roundRect">
            <a:avLst>
              <a:gd name="adj" fmla="val 7619"/>
            </a:avLst>
          </a:prstGeom>
          <a:solidFill xmlns:a="http://schemas.openxmlformats.org/drawingml/2006/main">
            <a:schemeClr val="bg2"/>
          </a:solidFill>
        </p:spPr>
      </p:sp>
      <p:sp>
        <p:nvSpPr>
          <p:cNvPr id="4" name="Ficha dato 1">
            <a:extLst xmlns:a="http://schemas.openxmlformats.org/drawingml/2006/main">
              <a:ext uri="{FF2B5EF4-FFF2-40B4-BE49-F238E27FC236}">
                <a16:creationId xmlns:a16="http://schemas.microsoft.com/office/drawing/2014/main" id="{47B768F2-E693-4D7F-8EFF-ADA9A1A95897}"/>
              </a:ext>
            </a:extLst>
          </p:cNvPr>
          <p:cNvSpPr>
            <a:spLocks xmlns:a="http://schemas.openxmlformats.org/drawingml/2006/main" noGrp="1"/>
          </p:cNvSpPr>
          <p:nvPr/>
        </p:nvSpPr>
        <p:spPr>
          <a:xfrm xmlns:a="http://schemas.openxmlformats.org/drawingml/2006/main">
            <a:off x="594360" y="1517904"/>
            <a:ext cx="292608" cy="292608"/>
          </a:xfrm>
          <a:prstGeom xmlns:a="http://schemas.openxmlformats.org/drawingml/2006/main" prst="ellipse">
            <a:avLst/>
          </a:prstGeom>
          <a:solidFill xmlns:a="http://schemas.openxmlformats.org/drawingml/2006/main">
            <a:srgbClr val="6B7A8C"/>
          </a:solidFill>
        </p:spPr>
      </p:sp>
      <p:sp>
        <p:nvSpPr>
          <p:cNvPr id="5" name="Text 3">
            <a:extLst xmlns:a="http://schemas.openxmlformats.org/drawingml/2006/main">
              <a:ext uri="{FF2B5EF4-FFF2-40B4-BE49-F238E27FC236}">
                <a16:creationId xmlns:a16="http://schemas.microsoft.com/office/drawing/2014/main" id="{D16F718F-BEF8-4B9E-8779-816B8382AE89}"/>
              </a:ext>
            </a:extLst>
          </p:cNvPr>
          <p:cNvSpPr>
            <a:spLocks xmlns:a="http://schemas.openxmlformats.org/drawingml/2006/main" noGrp="1"/>
          </p:cNvSpPr>
          <p:nvPr/>
        </p:nvSpPr>
        <p:spPr>
          <a:xfrm xmlns:a="http://schemas.openxmlformats.org/drawingml/2006/main">
            <a:off x="1005840" y="1261872"/>
            <a:ext cx="164592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chemeClr val="tx1"/>
                </a:solidFill>
                <a:latin typeface="Cambria"/>
                <a:ea typeface="Cambria"/>
                <a:cs typeface="Cambria"/>
              </a:rPr>
              <a:t>102.058</a:t>
            </a:r>
            <a:endParaRPr sz="3000"/>
          </a:p>
        </p:txBody>
      </p:sp>
      <p:sp>
        <p:nvSpPr>
          <p:cNvPr id="6" name="Text 4">
            <a:extLst xmlns:a="http://schemas.openxmlformats.org/drawingml/2006/main">
              <a:ext uri="{FF2B5EF4-FFF2-40B4-BE49-F238E27FC236}">
                <a16:creationId xmlns:a16="http://schemas.microsoft.com/office/drawing/2014/main" id="{C246FF99-3F19-4BA3-825E-74F9FBD122FB}"/>
              </a:ext>
            </a:extLst>
          </p:cNvPr>
          <p:cNvSpPr>
            <a:spLocks xmlns:a="http://schemas.openxmlformats.org/drawingml/2006/main" noGrp="1"/>
          </p:cNvSpPr>
          <p:nvPr/>
        </p:nvSpPr>
        <p:spPr>
          <a:xfrm xmlns:a="http://schemas.openxmlformats.org/drawingml/2006/main">
            <a:off x="2606040" y="1280160"/>
            <a:ext cx="201168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chemeClr val="tx1"/>
                </a:solidFill>
              </a:rPr>
              <a:t>anuncios tras la limpieza (de 102.599; 541 duplicados)</a:t>
            </a:r>
            <a:endParaRPr sz="1200"/>
          </a:p>
        </p:txBody>
      </p:sp>
      <p:sp>
        <p:nvSpPr>
          <p:cNvPr id="7" name="Tarjeta dato 2">
            <a:extLst xmlns:a="http://schemas.openxmlformats.org/drawingml/2006/main">
              <a:ext uri="{FF2B5EF4-FFF2-40B4-BE49-F238E27FC236}">
                <a16:creationId xmlns:a16="http://schemas.microsoft.com/office/drawing/2014/main" id="{3014D641-BABB-472E-8542-5837F2732FB9}"/>
              </a:ext>
            </a:extLst>
          </p:cNvPr>
          <p:cNvSpPr>
            <a:spLocks xmlns:a="http://schemas.openxmlformats.org/drawingml/2006/main" noGrp="1"/>
          </p:cNvSpPr>
          <p:nvPr/>
        </p:nvSpPr>
        <p:spPr>
          <a:xfrm xmlns:a="http://schemas.openxmlformats.org/drawingml/2006/main">
            <a:off x="457200" y="2286000"/>
            <a:ext cx="4206240" cy="960120"/>
          </a:xfrm>
          <a:prstGeom xmlns:a="http://schemas.openxmlformats.org/drawingml/2006/main" prst="roundRect">
            <a:avLst>
              <a:gd name="adj" fmla="val 7619"/>
            </a:avLst>
          </a:prstGeom>
          <a:solidFill xmlns:a="http://schemas.openxmlformats.org/drawingml/2006/main">
            <a:schemeClr val="bg2"/>
          </a:solidFill>
        </p:spPr>
      </p:sp>
      <p:sp>
        <p:nvSpPr>
          <p:cNvPr id="8" name="Ficha dato 2">
            <a:extLst xmlns:a="http://schemas.openxmlformats.org/drawingml/2006/main">
              <a:ext uri="{FF2B5EF4-FFF2-40B4-BE49-F238E27FC236}">
                <a16:creationId xmlns:a16="http://schemas.microsoft.com/office/drawing/2014/main" id="{AB9FE9B0-251D-4439-A63B-A25AAE70065E}"/>
              </a:ext>
            </a:extLst>
          </p:cNvPr>
          <p:cNvSpPr>
            <a:spLocks xmlns:a="http://schemas.openxmlformats.org/drawingml/2006/main" noGrp="1"/>
          </p:cNvSpPr>
          <p:nvPr/>
        </p:nvSpPr>
        <p:spPr>
          <a:xfrm xmlns:a="http://schemas.openxmlformats.org/drawingml/2006/main">
            <a:off x="594360" y="2615184"/>
            <a:ext cx="292608" cy="292608"/>
          </a:xfrm>
          <a:prstGeom xmlns:a="http://schemas.openxmlformats.org/drawingml/2006/main" prst="ellipse">
            <a:avLst/>
          </a:prstGeom>
          <a:solidFill xmlns:a="http://schemas.openxmlformats.org/drawingml/2006/main">
            <a:srgbClr val="087E8B"/>
          </a:solidFill>
        </p:spPr>
      </p:sp>
      <p:sp>
        <p:nvSpPr>
          <p:cNvPr id="9" name="Text 7">
            <a:extLst xmlns:a="http://schemas.openxmlformats.org/drawingml/2006/main">
              <a:ext uri="{FF2B5EF4-FFF2-40B4-BE49-F238E27FC236}">
                <a16:creationId xmlns:a16="http://schemas.microsoft.com/office/drawing/2014/main" id="{E53424B7-169B-4A45-A1A5-F7FDF13BB006}"/>
              </a:ext>
            </a:extLst>
          </p:cNvPr>
          <p:cNvSpPr>
            <a:spLocks xmlns:a="http://schemas.openxmlformats.org/drawingml/2006/main" noGrp="1"/>
          </p:cNvSpPr>
          <p:nvPr/>
        </p:nvSpPr>
        <p:spPr>
          <a:xfrm xmlns:a="http://schemas.openxmlformats.org/drawingml/2006/main">
            <a:off x="1005840" y="2359152"/>
            <a:ext cx="164592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chemeClr val="tx1"/>
                </a:solidFill>
                <a:latin typeface="Cambria"/>
                <a:ea typeface="Cambria"/>
                <a:cs typeface="Cambria"/>
              </a:rPr>
              <a:t>43.418</a:t>
            </a:r>
            <a:endParaRPr sz="3000"/>
          </a:p>
        </p:txBody>
      </p:sp>
      <p:sp>
        <p:nvSpPr>
          <p:cNvPr id="10" name="Text 8">
            <a:extLst xmlns:a="http://schemas.openxmlformats.org/drawingml/2006/main">
              <a:ext uri="{FF2B5EF4-FFF2-40B4-BE49-F238E27FC236}">
                <a16:creationId xmlns:a16="http://schemas.microsoft.com/office/drawing/2014/main" id="{BC6F4580-87A6-4B8A-A8F7-72E33CC5A146}"/>
              </a:ext>
            </a:extLst>
          </p:cNvPr>
          <p:cNvSpPr>
            <a:spLocks xmlns:a="http://schemas.openxmlformats.org/drawingml/2006/main" noGrp="1"/>
          </p:cNvSpPr>
          <p:nvPr/>
        </p:nvSpPr>
        <p:spPr>
          <a:xfrm xmlns:a="http://schemas.openxmlformats.org/drawingml/2006/main">
            <a:off x="2606040" y="2377440"/>
            <a:ext cx="201168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chemeClr val="tx1"/>
                </a:solidFill>
              </a:rPr>
              <a:t>calificaciones válidas en Manhattan (140 sin calificar)</a:t>
            </a:r>
            <a:endParaRPr sz="1200"/>
          </a:p>
        </p:txBody>
      </p:sp>
      <p:sp>
        <p:nvSpPr>
          <p:cNvPr id="11" name="Tarjeta dato 3">
            <a:extLst xmlns:a="http://schemas.openxmlformats.org/drawingml/2006/main">
              <a:ext uri="{FF2B5EF4-FFF2-40B4-BE49-F238E27FC236}">
                <a16:creationId xmlns:a16="http://schemas.microsoft.com/office/drawing/2014/main" id="{F6B7CD64-0691-41DB-BD22-02E979CB1C02}"/>
              </a:ext>
            </a:extLst>
          </p:cNvPr>
          <p:cNvSpPr>
            <a:spLocks xmlns:a="http://schemas.openxmlformats.org/drawingml/2006/main" noGrp="1"/>
          </p:cNvSpPr>
          <p:nvPr/>
        </p:nvSpPr>
        <p:spPr>
          <a:xfrm xmlns:a="http://schemas.openxmlformats.org/drawingml/2006/main">
            <a:off x="457200" y="3383280"/>
            <a:ext cx="4206240" cy="960120"/>
          </a:xfrm>
          <a:prstGeom xmlns:a="http://schemas.openxmlformats.org/drawingml/2006/main" prst="roundRect">
            <a:avLst>
              <a:gd name="adj" fmla="val 7619"/>
            </a:avLst>
          </a:prstGeom>
          <a:solidFill xmlns:a="http://schemas.openxmlformats.org/drawingml/2006/main">
            <a:schemeClr val="bg2"/>
          </a:solidFill>
        </p:spPr>
      </p:sp>
      <p:sp>
        <p:nvSpPr>
          <p:cNvPr id="12" name="Ficha dato 3">
            <a:extLst xmlns:a="http://schemas.openxmlformats.org/drawingml/2006/main">
              <a:ext uri="{FF2B5EF4-FFF2-40B4-BE49-F238E27FC236}">
                <a16:creationId xmlns:a16="http://schemas.microsoft.com/office/drawing/2014/main" id="{6E509D51-83BB-4D1D-9502-4F29B932A130}"/>
              </a:ext>
            </a:extLst>
          </p:cNvPr>
          <p:cNvSpPr>
            <a:spLocks xmlns:a="http://schemas.openxmlformats.org/drawingml/2006/main" noGrp="1"/>
          </p:cNvSpPr>
          <p:nvPr/>
        </p:nvSpPr>
        <p:spPr>
          <a:xfrm xmlns:a="http://schemas.openxmlformats.org/drawingml/2006/main">
            <a:off x="594360" y="3712464"/>
            <a:ext cx="292608" cy="292608"/>
          </a:xfrm>
          <a:prstGeom xmlns:a="http://schemas.openxmlformats.org/drawingml/2006/main" prst="ellipse">
            <a:avLst/>
          </a:prstGeom>
          <a:solidFill xmlns:a="http://schemas.openxmlformats.org/drawingml/2006/main">
            <a:srgbClr val="C85A43"/>
          </a:solidFill>
        </p:spPr>
      </p:sp>
      <p:sp>
        <p:nvSpPr>
          <p:cNvPr id="13" name="Text 11">
            <a:extLst xmlns:a="http://schemas.openxmlformats.org/drawingml/2006/main">
              <a:ext uri="{FF2B5EF4-FFF2-40B4-BE49-F238E27FC236}">
                <a16:creationId xmlns:a16="http://schemas.microsoft.com/office/drawing/2014/main" id="{84F8D593-7014-4A5C-A10E-FE214D577FB8}"/>
              </a:ext>
            </a:extLst>
          </p:cNvPr>
          <p:cNvSpPr>
            <a:spLocks xmlns:a="http://schemas.openxmlformats.org/drawingml/2006/main" noGrp="1"/>
          </p:cNvSpPr>
          <p:nvPr/>
        </p:nvSpPr>
        <p:spPr>
          <a:xfrm xmlns:a="http://schemas.openxmlformats.org/drawingml/2006/main">
            <a:off x="1005840" y="3456432"/>
            <a:ext cx="164592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chemeClr val="tx1"/>
                </a:solidFill>
                <a:latin typeface="Cambria"/>
                <a:ea typeface="Cambria"/>
                <a:cs typeface="Cambria"/>
              </a:rPr>
              <a:t>41.515</a:t>
            </a:r>
            <a:endParaRPr sz="3000"/>
          </a:p>
        </p:txBody>
      </p:sp>
      <p:sp>
        <p:nvSpPr>
          <p:cNvPr id="14" name="Text 12">
            <a:extLst xmlns:a="http://schemas.openxmlformats.org/drawingml/2006/main">
              <a:ext uri="{FF2B5EF4-FFF2-40B4-BE49-F238E27FC236}">
                <a16:creationId xmlns:a16="http://schemas.microsoft.com/office/drawing/2014/main" id="{8F9510A7-F3F0-493B-B5BD-697D54152B72}"/>
              </a:ext>
            </a:extLst>
          </p:cNvPr>
          <p:cNvSpPr>
            <a:spLocks xmlns:a="http://schemas.openxmlformats.org/drawingml/2006/main" noGrp="1"/>
          </p:cNvSpPr>
          <p:nvPr/>
        </p:nvSpPr>
        <p:spPr>
          <a:xfrm xmlns:a="http://schemas.openxmlformats.org/drawingml/2006/main">
            <a:off x="2606040" y="3474720"/>
            <a:ext cx="201168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chemeClr val="tx1"/>
                </a:solidFill>
              </a:rPr>
              <a:t>calificaciones válidas en Brooklyn (116 sin calificar)</a:t>
            </a:r>
            <a:endParaRPr sz="1200"/>
          </a:p>
        </p:txBody>
      </p:sp>
      <p:sp>
        <p:nvSpPr>
          <p:cNvPr id="15" name="Text 13">
            <a:extLst xmlns:a="http://schemas.openxmlformats.org/drawingml/2006/main">
              <a:ext uri="{FF2B5EF4-FFF2-40B4-BE49-F238E27FC236}">
                <a16:creationId xmlns:a16="http://schemas.microsoft.com/office/drawing/2014/main" id="{50361F7D-F868-4298-B3BE-BED8279FE89D}"/>
              </a:ext>
            </a:extLst>
          </p:cNvPr>
          <p:cNvSpPr>
            <a:spLocks xmlns:a="http://schemas.openxmlformats.org/drawingml/2006/main" noGrp="1"/>
          </p:cNvSpPr>
          <p:nvPr/>
        </p:nvSpPr>
        <p:spPr>
          <a:xfrm xmlns:a="http://schemas.openxmlformats.org/drawingml/2006/main">
            <a:off x="5029200" y="1188720"/>
            <a:ext cx="36576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tx1"/>
                </a:solidFill>
                <a:latin typeface="Cambria"/>
                <a:ea typeface="Cambria"/>
                <a:cs typeface="Cambria"/>
              </a:rPr>
              <a:t>Supuestos y alcance</a:t>
            </a:r>
            <a:endParaRPr sz="1800"/>
          </a:p>
        </p:txBody>
      </p:sp>
      <p:sp>
        <p:nvSpPr>
          <p:cNvPr id="16" name="Text 14">
            <a:extLst xmlns:a="http://schemas.openxmlformats.org/drawingml/2006/main">
              <a:ext uri="{FF2B5EF4-FFF2-40B4-BE49-F238E27FC236}">
                <a16:creationId xmlns:a16="http://schemas.microsoft.com/office/drawing/2014/main" id="{B206B501-5B4D-4B07-8EC0-356DEDE973E2}"/>
              </a:ext>
            </a:extLst>
          </p:cNvPr>
          <p:cNvSpPr>
            <a:spLocks xmlns:a="http://schemas.openxmlformats.org/drawingml/2006/main" noGrp="1"/>
          </p:cNvSpPr>
          <p:nvPr/>
        </p:nvSpPr>
        <p:spPr>
          <a:xfrm xmlns:a="http://schemas.openxmlformats.org/drawingml/2006/main">
            <a:off x="5029200" y="1600200"/>
            <a:ext cx="3657600" cy="3017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800"/>
              </a:spcAft>
              <a:buSzPct val="100000"/>
              <a:buChar char="•"/>
            </a:pPr>
            <a:r>
              <a:rPr sz="1500">
                <a:solidFill>
                  <a:schemeClr val="tx1"/>
                </a:solidFill>
              </a:rPr>
              <a:t>Unidad de análisis: un anuncio, con peso 1. No observamos a cada huésped.</a:t>
            </a:r>
            <a:endParaRPr sz="1500"/>
          </a:p>
          <a:p xmlns:a="http://schemas.openxmlformats.org/drawingml/2006/main">
            <a:pPr marL="342900" indent="-342900">
              <a:spcAft>
                <a:spcPts val="800"/>
              </a:spcAft>
              <a:buSzPct val="100000"/>
              <a:buChar char="•"/>
            </a:pPr>
            <a:r>
              <a:rPr sz="1500">
                <a:solidFill>
                  <a:schemeClr val="tx1"/>
                </a:solidFill>
              </a:rPr>
              <a:t>Anuncios independientes dentro y entre distritos.</a:t>
            </a:r>
            <a:endParaRPr sz="1500"/>
          </a:p>
          <a:p xmlns:a="http://schemas.openxmlformats.org/drawingml/2006/main">
            <a:pPr marL="342900" indent="-342900">
              <a:spcAft>
                <a:spcPts val="800"/>
              </a:spcAft>
              <a:buSzPct val="100000"/>
              <a:buChar char="•"/>
            </a:pPr>
            <a:r>
              <a:rPr sz="1500">
                <a:solidFill>
                  <a:schemeClr val="tx1"/>
                </a:solidFill>
              </a:rPr>
              <a:t>Escala ordinal 1–5 tratada como numérica al promediar.</a:t>
            </a:r>
            <a:endParaRPr sz="1500"/>
          </a:p>
          <a:p xmlns:a="http://schemas.openxmlformats.org/drawingml/2006/main">
            <a:pPr marL="342900" indent="-342900">
              <a:spcAft>
                <a:spcPts val="800"/>
              </a:spcAft>
              <a:buSzPct val="100000"/>
              <a:buChar char="•"/>
            </a:pPr>
            <a:r>
              <a:rPr sz="1500">
                <a:solidFill>
                  <a:schemeClr val="tx1"/>
                </a:solidFill>
              </a:rPr>
              <a:t>No imputamos calificaciones faltantes.</a:t>
            </a:r>
            <a:endParaRPr sz="1500"/>
          </a:p>
          <a:p xmlns:a="http://schemas.openxmlformats.org/drawingml/2006/main">
            <a:pPr marL="342900" indent="-342900">
              <a:spcAft>
                <a:spcPts val="800"/>
              </a:spcAft>
              <a:buSzPct val="100000"/>
              <a:buChar char="•"/>
            </a:pPr>
            <a:r>
              <a:rPr sz="1500">
                <a:solidFill>
                  <a:schemeClr val="tx1"/>
                </a:solidFill>
              </a:rPr>
              <a:t>Inferencia para anuncios calificados comparables a esta fuente, no para todo NYC.</a:t>
            </a:r>
            <a:endParaRPr sz="1500"/>
          </a:p>
        </p:txBody>
      </p:sp>
      <p:sp>
        <p:nvSpPr>
          <p:cNvPr id="25" name="Slide Number Placeholder 0">
            <a:extLst xmlns:a="http://schemas.openxmlformats.org/drawingml/2006/main">
              <a:ext uri="{FF2B5EF4-FFF2-40B4-BE49-F238E27FC236}">
                <a16:creationId xmlns:a16="http://schemas.microsoft.com/office/drawing/2014/main" id="{B5A6FAEB-2F0E-4771-97F1-C096ABE39539}"/>
              </a:ext>
            </a:extLst>
          </p:cNvPr>
          <p:cNvSpPr>
            <a:spLocks xmlns:a="http://schemas.openxmlformats.org/drawingml/2006/main" noGrp="1"/>
          </p:cNvSpPr>
          <p:nvPr>
            <p:ph type="sldNum" idx="4294967295"/>
          </p:nvPr>
        </p:nvSpPr>
        <p:spPr>
          <a:xfrm xmlns:a="http://schemas.openxmlformats.org/drawingml/2006/main">
            <a:off x="8229600" y="4754880"/>
            <a:ext cx="457200" cy="228600"/>
          </a:xfrm>
          <a:prstGeom xmlns:a="http://schemas.openxmlformats.org/drawingml/2006/main" prst="rect">
            <a:avLst/>
          </a:prstGeom>
        </p:spPr>
        <p:txBody>
          <a:bodyPr xmlns:a="http://schemas.openxmlformats.org/drawingml/2006/main"/>
          <a:lstStyle xmlns:a="http://schemas.openxmlformats.org/drawingml/2006/main">
            <a:lvl1pPr>
              <a:buNone/>
              <a:defRPr sz="1000">
                <a:solidFill>
                  <a:schemeClr val="accent4"/>
                </a:solidFill>
              </a:defRPr>
            </a:lvl1pPr>
          </a:lstStyle>
          <a:p xmlns:a="http://schemas.openxmlformats.org/drawingml/2006/main">
            <a:pPr algn="r">
              <a:buNone/>
            </a:pPr>
            <a:fld id="{F7021451-1387-4CA6-816F-3879F97B5CBC}" type="slidenum">
              <a:rPr b="0"/>
              <a:t>3</a:t>
            </a:fld>
            <a:endParaRPr/>
          </a:p>
        </p:txBody>
      </p:sp>
    </p:spTree>
    <p:extLst>
      <p:ext uri="{BB962C8B-B14F-4D97-AF65-F5344CB8AC3E}">
        <p14:creationId xmlns:p14="http://schemas.microsoft.com/office/powerpoint/2010/main" val="719131647"/>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EA9E3A5F-A8AF-48FF-8A25-9E80E560E0D9}"/>
              </a:ext>
            </a:extLst>
          </p:cNvPr>
          <p:cNvSpPr>
            <a:spLocks xmlns:a="http://schemas.openxmlformats.org/drawingml/2006/main" noGrp="1"/>
          </p:cNvSpPr>
          <p:nvPr>
            <p:ph type="title" idx="101" hasCustomPrompt="1"/>
          </p:nvPr>
        </p:nvSpPr>
        <p:spPr>
          <a:xfrm xmlns:a="http://schemas.openxmlformats.org/drawingml/2006/main">
            <a:off x="457200" y="274320"/>
            <a:ext cx="82296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3000" b="1">
                <a:solidFill>
                  <a:schemeClr val="tx1"/>
                </a:solidFill>
              </a:rPr>
              <a:t>Estimadores y sus propiedades</a:t>
            </a:r>
            <a:endParaRPr sz="3000"/>
          </a:p>
        </p:txBody>
      </p:sp>
      <p:sp>
        <p:nvSpPr>
          <p:cNvPr id="3" name="Tarjeta estimadores">
            <a:extLst xmlns:a="http://schemas.openxmlformats.org/drawingml/2006/main">
              <a:ext uri="{FF2B5EF4-FFF2-40B4-BE49-F238E27FC236}">
                <a16:creationId xmlns:a16="http://schemas.microsoft.com/office/drawing/2014/main" id="{12AEBAFA-C95B-4813-8125-8DF0C8831FCB}"/>
              </a:ext>
            </a:extLst>
          </p:cNvPr>
          <p:cNvSpPr>
            <a:spLocks xmlns:a="http://schemas.openxmlformats.org/drawingml/2006/main" noGrp="1"/>
          </p:cNvSpPr>
          <p:nvPr/>
        </p:nvSpPr>
        <p:spPr>
          <a:xfrm xmlns:a="http://schemas.openxmlformats.org/drawingml/2006/main">
            <a:off x="457200" y="1188720"/>
            <a:ext cx="3840480" cy="3246120"/>
          </a:xfrm>
          <a:prstGeom xmlns:a="http://schemas.openxmlformats.org/drawingml/2006/main" prst="roundRect">
            <a:avLst>
              <a:gd name="adj" fmla="val 2254"/>
            </a:avLst>
          </a:prstGeom>
          <a:solidFill xmlns:a="http://schemas.openxmlformats.org/drawingml/2006/main">
            <a:schemeClr val="bg2"/>
          </a:solidFill>
        </p:spPr>
      </p:sp>
      <p:sp>
        <p:nvSpPr>
          <p:cNvPr id="4" name="Text 2">
            <a:extLst xmlns:a="http://schemas.openxmlformats.org/drawingml/2006/main">
              <a:ext uri="{FF2B5EF4-FFF2-40B4-BE49-F238E27FC236}">
                <a16:creationId xmlns:a16="http://schemas.microsoft.com/office/drawing/2014/main" id="{E693763A-A181-4546-9A28-ACDEA6ADC8B5}"/>
              </a:ext>
            </a:extLst>
          </p:cNvPr>
          <p:cNvSpPr>
            <a:spLocks xmlns:a="http://schemas.openxmlformats.org/drawingml/2006/main" noGrp="1"/>
          </p:cNvSpPr>
          <p:nvPr/>
        </p:nvSpPr>
        <p:spPr>
          <a:xfrm xmlns:a="http://schemas.openxmlformats.org/drawingml/2006/main">
            <a:off x="685800" y="1325880"/>
            <a:ext cx="33832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tx1"/>
                </a:solidFill>
                <a:latin typeface="Cambria"/>
                <a:ea typeface="Cambria"/>
                <a:cs typeface="Cambria"/>
              </a:rPr>
              <a:t>Estimadores</a:t>
            </a:r>
            <a:endParaRPr sz="1800"/>
          </a:p>
        </p:txBody>
      </p:sp>
      <p:sp>
        <p:nvSpPr>
          <p:cNvPr id="5" name="Text 3">
            <a:extLst xmlns:a="http://schemas.openxmlformats.org/drawingml/2006/main">
              <a:ext uri="{FF2B5EF4-FFF2-40B4-BE49-F238E27FC236}">
                <a16:creationId xmlns:a16="http://schemas.microsoft.com/office/drawing/2014/main" id="{0665943B-3056-4F3B-B036-781ECE278A9A}"/>
              </a:ext>
            </a:extLst>
          </p:cNvPr>
          <p:cNvSpPr>
            <a:spLocks xmlns:a="http://schemas.openxmlformats.org/drawingml/2006/main" noGrp="1"/>
          </p:cNvSpPr>
          <p:nvPr/>
        </p:nvSpPr>
        <p:spPr>
          <a:xfrm xmlns:a="http://schemas.openxmlformats.org/drawingml/2006/main">
            <a:off x="685800" y="1783080"/>
            <a:ext cx="33832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a:solidFill>
                  <a:schemeClr val="tx1"/>
                </a:solidFill>
              </a:rPr>
              <a:t>μ̂g = Ȳg = (1/ng) · Σ Ygi</a:t>
            </a:r>
            <a:endParaRPr sz="1600"/>
          </a:p>
        </p:txBody>
      </p:sp>
      <p:sp>
        <p:nvSpPr>
          <p:cNvPr id="6" name="Text 4">
            <a:extLst xmlns:a="http://schemas.openxmlformats.org/drawingml/2006/main">
              <a:ext uri="{FF2B5EF4-FFF2-40B4-BE49-F238E27FC236}">
                <a16:creationId xmlns:a16="http://schemas.microsoft.com/office/drawing/2014/main" id="{BDAFC584-5AEA-445A-B31E-C2C9CB68709D}"/>
              </a:ext>
            </a:extLst>
          </p:cNvPr>
          <p:cNvSpPr>
            <a:spLocks xmlns:a="http://schemas.openxmlformats.org/drawingml/2006/main" noGrp="1"/>
          </p:cNvSpPr>
          <p:nvPr/>
        </p:nvSpPr>
        <p:spPr>
          <a:xfrm xmlns:a="http://schemas.openxmlformats.org/drawingml/2006/main">
            <a:off x="685800" y="2286000"/>
            <a:ext cx="33832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a:solidFill>
                  <a:schemeClr val="tx1"/>
                </a:solidFill>
              </a:rPr>
              <a:t>Δ̂ = ȲM − ȲB</a:t>
            </a:r>
            <a:endParaRPr sz="1600"/>
          </a:p>
        </p:txBody>
      </p:sp>
      <p:sp>
        <p:nvSpPr>
          <p:cNvPr id="7" name="Text 5">
            <a:extLst xmlns:a="http://schemas.openxmlformats.org/drawingml/2006/main">
              <a:ext uri="{FF2B5EF4-FFF2-40B4-BE49-F238E27FC236}">
                <a16:creationId xmlns:a16="http://schemas.microsoft.com/office/drawing/2014/main" id="{B19300A1-5AA6-4E5E-AA68-372BC043D6A0}"/>
              </a:ext>
            </a:extLst>
          </p:cNvPr>
          <p:cNvSpPr>
            <a:spLocks xmlns:a="http://schemas.openxmlformats.org/drawingml/2006/main" noGrp="1"/>
          </p:cNvSpPr>
          <p:nvPr/>
        </p:nvSpPr>
        <p:spPr>
          <a:xfrm xmlns:a="http://schemas.openxmlformats.org/drawingml/2006/main">
            <a:off x="685800" y="2788920"/>
            <a:ext cx="33832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a:solidFill>
                  <a:schemeClr val="tx1"/>
                </a:solidFill>
              </a:rPr>
              <a:t>EE(Ȳg) = sg / √ng</a:t>
            </a:r>
            <a:endParaRPr sz="1600"/>
          </a:p>
        </p:txBody>
      </p:sp>
      <p:sp>
        <p:nvSpPr>
          <p:cNvPr id="8" name="Text 6">
            <a:extLst xmlns:a="http://schemas.openxmlformats.org/drawingml/2006/main">
              <a:ext uri="{FF2B5EF4-FFF2-40B4-BE49-F238E27FC236}">
                <a16:creationId xmlns:a16="http://schemas.microsoft.com/office/drawing/2014/main" id="{AFCA3683-5997-44AF-9FB2-5318474D652E}"/>
              </a:ext>
            </a:extLst>
          </p:cNvPr>
          <p:cNvSpPr>
            <a:spLocks xmlns:a="http://schemas.openxmlformats.org/drawingml/2006/main" noGrp="1"/>
          </p:cNvSpPr>
          <p:nvPr/>
        </p:nvSpPr>
        <p:spPr>
          <a:xfrm xmlns:a="http://schemas.openxmlformats.org/drawingml/2006/main">
            <a:off x="685800" y="3291840"/>
            <a:ext cx="33832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a:solidFill>
                  <a:schemeClr val="tx1"/>
                </a:solidFill>
              </a:rPr>
              <a:t>EE(Δ̂) = √(sM²/nM + sB²/nB)</a:t>
            </a:r>
            <a:endParaRPr sz="1600"/>
          </a:p>
        </p:txBody>
      </p:sp>
      <p:sp>
        <p:nvSpPr>
          <p:cNvPr id="9" name="Text 7">
            <a:extLst xmlns:a="http://schemas.openxmlformats.org/drawingml/2006/main">
              <a:ext uri="{FF2B5EF4-FFF2-40B4-BE49-F238E27FC236}">
                <a16:creationId xmlns:a16="http://schemas.microsoft.com/office/drawing/2014/main" id="{7A0F49CD-DD9A-4F5E-A144-888108D65274}"/>
              </a:ext>
            </a:extLst>
          </p:cNvPr>
          <p:cNvSpPr>
            <a:spLocks xmlns:a="http://schemas.openxmlformats.org/drawingml/2006/main" noGrp="1"/>
          </p:cNvSpPr>
          <p:nvPr/>
        </p:nvSpPr>
        <p:spPr>
          <a:xfrm xmlns:a="http://schemas.openxmlformats.org/drawingml/2006/main">
            <a:off x="685800" y="3794760"/>
            <a:ext cx="33832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chemeClr val="accent4"/>
                </a:solidFill>
              </a:rPr>
              <a:t>Estimación puntual: valor que toma el estimador en nuestra muestra.</a:t>
            </a:r>
            <a:endParaRPr sz="1200"/>
          </a:p>
        </p:txBody>
      </p:sp>
      <p:sp>
        <p:nvSpPr>
          <p:cNvPr id="10" name="Tarjeta propiedad 1">
            <a:extLst xmlns:a="http://schemas.openxmlformats.org/drawingml/2006/main">
              <a:ext uri="{FF2B5EF4-FFF2-40B4-BE49-F238E27FC236}">
                <a16:creationId xmlns:a16="http://schemas.microsoft.com/office/drawing/2014/main" id="{6B401F95-8094-4D48-A01C-E846829685E6}"/>
              </a:ext>
            </a:extLst>
          </p:cNvPr>
          <p:cNvSpPr>
            <a:spLocks xmlns:a="http://schemas.openxmlformats.org/drawingml/2006/main" noGrp="1"/>
          </p:cNvSpPr>
          <p:nvPr/>
        </p:nvSpPr>
        <p:spPr>
          <a:xfrm xmlns:a="http://schemas.openxmlformats.org/drawingml/2006/main">
            <a:off x="4572000" y="1188720"/>
            <a:ext cx="4114800" cy="1005840"/>
          </a:xfrm>
          <a:prstGeom xmlns:a="http://schemas.openxmlformats.org/drawingml/2006/main" prst="roundRect">
            <a:avLst>
              <a:gd name="adj" fmla="val 7273"/>
            </a:avLst>
          </a:prstGeom>
          <a:solidFill xmlns:a="http://schemas.openxmlformats.org/drawingml/2006/main">
            <a:schemeClr val="bg2"/>
          </a:solidFill>
        </p:spPr>
      </p:sp>
      <p:sp>
        <p:nvSpPr>
          <p:cNvPr id="11" name="Ficha propiedad 1">
            <a:extLst xmlns:a="http://schemas.openxmlformats.org/drawingml/2006/main">
              <a:ext uri="{FF2B5EF4-FFF2-40B4-BE49-F238E27FC236}">
                <a16:creationId xmlns:a16="http://schemas.microsoft.com/office/drawing/2014/main" id="{5855711C-C950-4DED-A7FD-F3FEA202C7C9}"/>
              </a:ext>
            </a:extLst>
          </p:cNvPr>
          <p:cNvSpPr>
            <a:spLocks xmlns:a="http://schemas.openxmlformats.org/drawingml/2006/main" noGrp="1"/>
          </p:cNvSpPr>
          <p:nvPr/>
        </p:nvSpPr>
        <p:spPr>
          <a:xfrm xmlns:a="http://schemas.openxmlformats.org/drawingml/2006/main">
            <a:off x="4709160" y="1499616"/>
            <a:ext cx="384048" cy="384048"/>
          </a:xfrm>
          <a:prstGeom xmlns:a="http://schemas.openxmlformats.org/drawingml/2006/main" prst="ellipse">
            <a:avLst/>
          </a:prstGeom>
          <a:solidFill xmlns:a="http://schemas.openxmlformats.org/drawingml/2006/main">
            <a:srgbClr val="087E8B"/>
          </a:solidFill>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chemeClr val="bg1"/>
                </a:solidFill>
              </a:rPr>
              <a:t>1</a:t>
            </a:r>
            <a:endParaRPr sz="1400"/>
          </a:p>
        </p:txBody>
      </p:sp>
      <p:sp>
        <p:nvSpPr>
          <p:cNvPr id="12" name="Text 10">
            <a:extLst xmlns:a="http://schemas.openxmlformats.org/drawingml/2006/main">
              <a:ext uri="{FF2B5EF4-FFF2-40B4-BE49-F238E27FC236}">
                <a16:creationId xmlns:a16="http://schemas.microsoft.com/office/drawing/2014/main" id="{C3B6C60E-7699-4032-A0D9-41BD45E436C2}"/>
              </a:ext>
            </a:extLst>
          </p:cNvPr>
          <p:cNvSpPr>
            <a:spLocks xmlns:a="http://schemas.openxmlformats.org/drawingml/2006/main" noGrp="1"/>
          </p:cNvSpPr>
          <p:nvPr/>
        </p:nvSpPr>
        <p:spPr>
          <a:xfrm xmlns:a="http://schemas.openxmlformats.org/drawingml/2006/main">
            <a:off x="5257800" y="1280160"/>
            <a:ext cx="33375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chemeClr val="tx1"/>
                </a:solidFill>
              </a:rPr>
              <a:t>Insesgado</a:t>
            </a:r>
            <a:endParaRPr sz="1500"/>
          </a:p>
        </p:txBody>
      </p:sp>
      <p:sp>
        <p:nvSpPr>
          <p:cNvPr id="13" name="Text 11">
            <a:extLst xmlns:a="http://schemas.openxmlformats.org/drawingml/2006/main">
              <a:ext uri="{FF2B5EF4-FFF2-40B4-BE49-F238E27FC236}">
                <a16:creationId xmlns:a16="http://schemas.microsoft.com/office/drawing/2014/main" id="{0E1C65E3-D842-41C7-92B4-E8B799A0A782}"/>
              </a:ext>
            </a:extLst>
          </p:cNvPr>
          <p:cNvSpPr>
            <a:spLocks xmlns:a="http://schemas.openxmlformats.org/drawingml/2006/main" noGrp="1"/>
          </p:cNvSpPr>
          <p:nvPr/>
        </p:nvSpPr>
        <p:spPr>
          <a:xfrm xmlns:a="http://schemas.openxmlformats.org/drawingml/2006/main">
            <a:off x="5257800" y="1554480"/>
            <a:ext cx="333756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chemeClr val="tx1"/>
                </a:solidFill>
              </a:rPr>
              <a:t>E(Ȳg) = μg si cada dato tiene esperanza μg. No corrige selección ni calificaciones faltantes.</a:t>
            </a:r>
            <a:endParaRPr sz="1200"/>
          </a:p>
        </p:txBody>
      </p:sp>
      <p:sp>
        <p:nvSpPr>
          <p:cNvPr id="14" name="Tarjeta propiedad 2">
            <a:extLst xmlns:a="http://schemas.openxmlformats.org/drawingml/2006/main">
              <a:ext uri="{FF2B5EF4-FFF2-40B4-BE49-F238E27FC236}">
                <a16:creationId xmlns:a16="http://schemas.microsoft.com/office/drawing/2014/main" id="{91D28AAE-ED47-4062-998C-B2D4BC093C02}"/>
              </a:ext>
            </a:extLst>
          </p:cNvPr>
          <p:cNvSpPr>
            <a:spLocks xmlns:a="http://schemas.openxmlformats.org/drawingml/2006/main" noGrp="1"/>
          </p:cNvSpPr>
          <p:nvPr/>
        </p:nvSpPr>
        <p:spPr>
          <a:xfrm xmlns:a="http://schemas.openxmlformats.org/drawingml/2006/main">
            <a:off x="4572000" y="2286000"/>
            <a:ext cx="4114800" cy="1005840"/>
          </a:xfrm>
          <a:prstGeom xmlns:a="http://schemas.openxmlformats.org/drawingml/2006/main" prst="roundRect">
            <a:avLst>
              <a:gd name="adj" fmla="val 7273"/>
            </a:avLst>
          </a:prstGeom>
          <a:solidFill xmlns:a="http://schemas.openxmlformats.org/drawingml/2006/main">
            <a:schemeClr val="bg2"/>
          </a:solidFill>
        </p:spPr>
      </p:sp>
      <p:sp>
        <p:nvSpPr>
          <p:cNvPr id="15" name="Ficha propiedad 2">
            <a:extLst xmlns:a="http://schemas.openxmlformats.org/drawingml/2006/main">
              <a:ext uri="{FF2B5EF4-FFF2-40B4-BE49-F238E27FC236}">
                <a16:creationId xmlns:a16="http://schemas.microsoft.com/office/drawing/2014/main" id="{11FC3996-1CED-4676-ABE8-12EC2E2395AD}"/>
              </a:ext>
            </a:extLst>
          </p:cNvPr>
          <p:cNvSpPr>
            <a:spLocks xmlns:a="http://schemas.openxmlformats.org/drawingml/2006/main" noGrp="1"/>
          </p:cNvSpPr>
          <p:nvPr/>
        </p:nvSpPr>
        <p:spPr>
          <a:xfrm xmlns:a="http://schemas.openxmlformats.org/drawingml/2006/main">
            <a:off x="4709160" y="2596896"/>
            <a:ext cx="384048" cy="384048"/>
          </a:xfrm>
          <a:prstGeom xmlns:a="http://schemas.openxmlformats.org/drawingml/2006/main" prst="ellipse">
            <a:avLst/>
          </a:prstGeom>
          <a:solidFill xmlns:a="http://schemas.openxmlformats.org/drawingml/2006/main">
            <a:srgbClr val="C85A43"/>
          </a:solidFill>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chemeClr val="bg1"/>
                </a:solidFill>
              </a:rPr>
              <a:t>2</a:t>
            </a:r>
            <a:endParaRPr sz="1400"/>
          </a:p>
        </p:txBody>
      </p:sp>
      <p:sp>
        <p:nvSpPr>
          <p:cNvPr id="16" name="Text 14">
            <a:extLst xmlns:a="http://schemas.openxmlformats.org/drawingml/2006/main">
              <a:ext uri="{FF2B5EF4-FFF2-40B4-BE49-F238E27FC236}">
                <a16:creationId xmlns:a16="http://schemas.microsoft.com/office/drawing/2014/main" id="{D5E6969E-25DA-4BBA-9663-9A39F6834D71}"/>
              </a:ext>
            </a:extLst>
          </p:cNvPr>
          <p:cNvSpPr>
            <a:spLocks xmlns:a="http://schemas.openxmlformats.org/drawingml/2006/main" noGrp="1"/>
          </p:cNvSpPr>
          <p:nvPr/>
        </p:nvSpPr>
        <p:spPr>
          <a:xfrm xmlns:a="http://schemas.openxmlformats.org/drawingml/2006/main">
            <a:off x="5257800" y="2377440"/>
            <a:ext cx="33375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chemeClr val="tx1"/>
                </a:solidFill>
              </a:rPr>
              <a:t>Consistente</a:t>
            </a:r>
            <a:endParaRPr sz="1500"/>
          </a:p>
        </p:txBody>
      </p:sp>
      <p:sp>
        <p:nvSpPr>
          <p:cNvPr id="17" name="Text 15">
            <a:extLst xmlns:a="http://schemas.openxmlformats.org/drawingml/2006/main">
              <a:ext uri="{FF2B5EF4-FFF2-40B4-BE49-F238E27FC236}">
                <a16:creationId xmlns:a16="http://schemas.microsoft.com/office/drawing/2014/main" id="{4EB252FE-AC71-4B7A-943F-D090B11F45BD}"/>
              </a:ext>
            </a:extLst>
          </p:cNvPr>
          <p:cNvSpPr>
            <a:spLocks xmlns:a="http://schemas.openxmlformats.org/drawingml/2006/main" noGrp="1"/>
          </p:cNvSpPr>
          <p:nvPr/>
        </p:nvSpPr>
        <p:spPr>
          <a:xfrm xmlns:a="http://schemas.openxmlformats.org/drawingml/2006/main">
            <a:off x="5257800" y="2651760"/>
            <a:ext cx="333756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chemeClr val="tx1"/>
                </a:solidFill>
              </a:rPr>
              <a:t>Por la ley de los grandes números, Ȳg → μg cuando ng crece.</a:t>
            </a:r>
            <a:endParaRPr sz="1200"/>
          </a:p>
        </p:txBody>
      </p:sp>
      <p:sp>
        <p:nvSpPr>
          <p:cNvPr id="18" name="Tarjeta propiedad 3">
            <a:extLst xmlns:a="http://schemas.openxmlformats.org/drawingml/2006/main">
              <a:ext uri="{FF2B5EF4-FFF2-40B4-BE49-F238E27FC236}">
                <a16:creationId xmlns:a16="http://schemas.microsoft.com/office/drawing/2014/main" id="{ED65740F-4D63-4FCB-A7B5-AE217D212622}"/>
              </a:ext>
            </a:extLst>
          </p:cNvPr>
          <p:cNvSpPr>
            <a:spLocks xmlns:a="http://schemas.openxmlformats.org/drawingml/2006/main" noGrp="1"/>
          </p:cNvSpPr>
          <p:nvPr/>
        </p:nvSpPr>
        <p:spPr>
          <a:xfrm xmlns:a="http://schemas.openxmlformats.org/drawingml/2006/main">
            <a:off x="4572000" y="3383280"/>
            <a:ext cx="4114800" cy="1005840"/>
          </a:xfrm>
          <a:prstGeom xmlns:a="http://schemas.openxmlformats.org/drawingml/2006/main" prst="roundRect">
            <a:avLst>
              <a:gd name="adj" fmla="val 7273"/>
            </a:avLst>
          </a:prstGeom>
          <a:solidFill xmlns:a="http://schemas.openxmlformats.org/drawingml/2006/main">
            <a:schemeClr val="bg2"/>
          </a:solidFill>
        </p:spPr>
      </p:sp>
      <p:sp>
        <p:nvSpPr>
          <p:cNvPr id="19" name="Ficha propiedad 3">
            <a:extLst xmlns:a="http://schemas.openxmlformats.org/drawingml/2006/main">
              <a:ext uri="{FF2B5EF4-FFF2-40B4-BE49-F238E27FC236}">
                <a16:creationId xmlns:a16="http://schemas.microsoft.com/office/drawing/2014/main" id="{C7E75B2F-2CB1-42F2-B8B1-430E33919DF8}"/>
              </a:ext>
            </a:extLst>
          </p:cNvPr>
          <p:cNvSpPr>
            <a:spLocks xmlns:a="http://schemas.openxmlformats.org/drawingml/2006/main" noGrp="1"/>
          </p:cNvSpPr>
          <p:nvPr/>
        </p:nvSpPr>
        <p:spPr>
          <a:xfrm xmlns:a="http://schemas.openxmlformats.org/drawingml/2006/main">
            <a:off x="4709160" y="3694176"/>
            <a:ext cx="384048" cy="384048"/>
          </a:xfrm>
          <a:prstGeom xmlns:a="http://schemas.openxmlformats.org/drawingml/2006/main" prst="ellipse">
            <a:avLst/>
          </a:prstGeom>
          <a:solidFill xmlns:a="http://schemas.openxmlformats.org/drawingml/2006/main">
            <a:srgbClr val="493C73"/>
          </a:solidFill>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chemeClr val="bg1"/>
                </a:solidFill>
              </a:rPr>
              <a:t>3</a:t>
            </a:r>
            <a:endParaRPr sz="1400"/>
          </a:p>
        </p:txBody>
      </p:sp>
      <p:sp>
        <p:nvSpPr>
          <p:cNvPr id="20" name="Text 18">
            <a:extLst xmlns:a="http://schemas.openxmlformats.org/drawingml/2006/main">
              <a:ext uri="{FF2B5EF4-FFF2-40B4-BE49-F238E27FC236}">
                <a16:creationId xmlns:a16="http://schemas.microsoft.com/office/drawing/2014/main" id="{CBB31E85-D798-40F1-A5ED-850E378D1EAA}"/>
              </a:ext>
            </a:extLst>
          </p:cNvPr>
          <p:cNvSpPr>
            <a:spLocks xmlns:a="http://schemas.openxmlformats.org/drawingml/2006/main" noGrp="1"/>
          </p:cNvSpPr>
          <p:nvPr/>
        </p:nvSpPr>
        <p:spPr>
          <a:xfrm xmlns:a="http://schemas.openxmlformats.org/drawingml/2006/main">
            <a:off x="5257800" y="3474720"/>
            <a:ext cx="33375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chemeClr val="tx1"/>
                </a:solidFill>
              </a:rPr>
              <a:t>Eficiencia lineal</a:t>
            </a:r>
            <a:endParaRPr sz="1500"/>
          </a:p>
        </p:txBody>
      </p:sp>
      <p:sp>
        <p:nvSpPr>
          <p:cNvPr id="21" name="Text 19">
            <a:extLst xmlns:a="http://schemas.openxmlformats.org/drawingml/2006/main">
              <a:ext uri="{FF2B5EF4-FFF2-40B4-BE49-F238E27FC236}">
                <a16:creationId xmlns:a16="http://schemas.microsoft.com/office/drawing/2014/main" id="{E049D84D-88CB-4BE2-95F9-A839209738CD}"/>
              </a:ext>
            </a:extLst>
          </p:cNvPr>
          <p:cNvSpPr>
            <a:spLocks xmlns:a="http://schemas.openxmlformats.org/drawingml/2006/main" noGrp="1"/>
          </p:cNvSpPr>
          <p:nvPr/>
        </p:nvSpPr>
        <p:spPr>
          <a:xfrm xmlns:a="http://schemas.openxmlformats.org/drawingml/2006/main">
            <a:off x="5257800" y="3749040"/>
            <a:ext cx="333756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chemeClr val="tx1"/>
                </a:solidFill>
              </a:rPr>
              <a:t>Con datos independientes de igual varianza: mínima varianza entre estimadores lineales insesgados.</a:t>
            </a:r>
            <a:endParaRPr sz="1200"/>
          </a:p>
        </p:txBody>
      </p:sp>
      <p:sp>
        <p:nvSpPr>
          <p:cNvPr id="25" name="Slide Number Placeholder 0">
            <a:extLst xmlns:a="http://schemas.openxmlformats.org/drawingml/2006/main">
              <a:ext uri="{FF2B5EF4-FFF2-40B4-BE49-F238E27FC236}">
                <a16:creationId xmlns:a16="http://schemas.microsoft.com/office/drawing/2014/main" id="{BDC96FE0-39B9-451F-8503-3BF3965DA700}"/>
              </a:ext>
            </a:extLst>
          </p:cNvPr>
          <p:cNvSpPr>
            <a:spLocks xmlns:a="http://schemas.openxmlformats.org/drawingml/2006/main" noGrp="1"/>
          </p:cNvSpPr>
          <p:nvPr>
            <p:ph type="sldNum" idx="4294967295"/>
          </p:nvPr>
        </p:nvSpPr>
        <p:spPr>
          <a:xfrm xmlns:a="http://schemas.openxmlformats.org/drawingml/2006/main">
            <a:off x="8229600" y="4754880"/>
            <a:ext cx="457200" cy="228600"/>
          </a:xfrm>
          <a:prstGeom xmlns:a="http://schemas.openxmlformats.org/drawingml/2006/main" prst="rect">
            <a:avLst/>
          </a:prstGeom>
        </p:spPr>
        <p:txBody>
          <a:bodyPr xmlns:a="http://schemas.openxmlformats.org/drawingml/2006/main"/>
          <a:lstStyle xmlns:a="http://schemas.openxmlformats.org/drawingml/2006/main">
            <a:lvl1pPr>
              <a:buNone/>
              <a:defRPr sz="1000">
                <a:solidFill>
                  <a:schemeClr val="accent4"/>
                </a:solidFill>
              </a:defRPr>
            </a:lvl1pPr>
          </a:lstStyle>
          <a:p xmlns:a="http://schemas.openxmlformats.org/drawingml/2006/main">
            <a:pPr algn="r">
              <a:buNone/>
            </a:pPr>
            <a:fld id="{F7021451-1387-4CA6-816F-3879F97B5CBC}" type="slidenum">
              <a:rPr b="0"/>
              <a:t>4</a:t>
            </a:fld>
            <a:endParaRPr/>
          </a:p>
        </p:txBody>
      </p:sp>
    </p:spTree>
    <p:extLst>
      <p:ext uri="{BB962C8B-B14F-4D97-AF65-F5344CB8AC3E}">
        <p14:creationId xmlns:p14="http://schemas.microsoft.com/office/powerpoint/2010/main" val="162001626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BB37F8DF-CEF0-47B2-8E76-463B4D63B76F}"/>
              </a:ext>
            </a:extLst>
          </p:cNvPr>
          <p:cNvSpPr>
            <a:spLocks xmlns:a="http://schemas.openxmlformats.org/drawingml/2006/main" noGrp="1"/>
          </p:cNvSpPr>
          <p:nvPr>
            <p:ph type="title" idx="101" hasCustomPrompt="1"/>
          </p:nvPr>
        </p:nvSpPr>
        <p:spPr>
          <a:xfrm xmlns:a="http://schemas.openxmlformats.org/drawingml/2006/main">
            <a:off x="457200" y="274320"/>
            <a:ext cx="82296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3000" b="1">
                <a:solidFill>
                  <a:schemeClr val="tx1"/>
                </a:solidFill>
              </a:rPr>
              <a:t>Estimación clásica de la diferencia</a:t>
            </a:r>
            <a:endParaRPr sz="3000"/>
          </a:p>
        </p:txBody>
      </p:sp>
      <p:graphicFrame>
        <p:nvGraphicFramePr>
          <p:cNvPr id="28" name="Table 0"/>
          <p:cNvGraphicFramePr/>
          <p:nvPr/>
        </p:nvGraphicFramePr>
        <p:xfrm>
          <a:off xmlns:a="http://schemas.openxmlformats.org/drawingml/2006/main" x="457200" y="1143000"/>
          <a:ext xmlns:a="http://schemas.openxmlformats.org/drawingml/2006/main" cx="8229600" cy="914400"/>
        </p:xfrm>
        <a:graphic xmlns:a="http://schemas.openxmlformats.org/drawingml/2006/main">
          <a:graphicData uri="http://schemas.openxmlformats.org/drawingml/2006/table">
            <a:tbl>
              <a:tblPr/>
              <a:tblGrid>
                <a:gridCol w="2103120"/>
                <a:gridCol w="1005840"/>
                <a:gridCol w="1188720"/>
                <a:gridCol w="1737360"/>
                <a:gridCol w="2194560"/>
              </a:tblGrid>
              <a:tr h="365760">
                <a:tc>
                  <a:txBody>
                    <a:bodyPr/>
                    <a:lstStyle/>
                    <a:p>
                      <a:pPr marL="0" indent="0" algn="ctr">
                        <a:buNone/>
                      </a:pPr>
                      <a:r>
                        <a:rPr sz="1300" b="1">
                          <a:solidFill>
                            <a:schemeClr val="bg1"/>
                          </a:solidFill>
                          <a:latin typeface="Calibri"/>
                          <a:ea typeface="Calibri"/>
                          <a:cs typeface="Calibri"/>
                        </a:rPr>
                        <a:t>Estimador</a:t>
                      </a:r>
                      <a:endParaRPr sz="1300">
                        <a:latin typeface="Calibri"/>
                        <a:ea typeface="Calibri"/>
                        <a:cs typeface="Calibri"/>
                      </a:endParaRPr>
                    </a:p>
                  </a:txBody>
                  <a:tcPr marL="91440" marR="91440" marT="45720" marB="45720" anchor="ctr">
                    <a:lnL w="6350" cmpd="sng">
                      <a:solidFill>
                        <a:srgbClr val="D5DBE3"/>
                      </a:solidFill>
                      <a:prstDash val="solid"/>
                    </a:lnL>
                    <a:lnR w="6350" cmpd="sng">
                      <a:solidFill>
                        <a:srgbClr val="D5DBE3"/>
                      </a:solidFill>
                      <a:prstDash val="solid"/>
                    </a:lnR>
                    <a:lnT w="6350" cmpd="sng">
                      <a:solidFill>
                        <a:srgbClr val="D5DBE3"/>
                      </a:solidFill>
                      <a:prstDash val="solid"/>
                    </a:lnT>
                    <a:lnB w="6350" cmpd="sng">
                      <a:solidFill>
                        <a:srgbClr val="D5DBE3"/>
                      </a:solidFill>
                      <a:prstDash val="solid"/>
                    </a:lnB>
                    <a:solidFill>
                      <a:schemeClr val="tx1"/>
                    </a:solidFill>
                  </a:tcPr>
                </a:tc>
                <a:tc>
                  <a:txBody>
                    <a:bodyPr/>
                    <a:lstStyle/>
                    <a:p>
                      <a:pPr marL="0" indent="0" algn="ctr">
                        <a:buNone/>
                      </a:pPr>
                      <a:r>
                        <a:rPr sz="1300" b="1">
                          <a:solidFill>
                            <a:schemeClr val="bg1"/>
                          </a:solidFill>
                          <a:latin typeface="Calibri"/>
                          <a:ea typeface="Calibri"/>
                          <a:cs typeface="Calibri"/>
                        </a:rPr>
                        <a:t>n</a:t>
                      </a:r>
                      <a:endParaRPr sz="1300">
                        <a:latin typeface="Calibri"/>
                        <a:ea typeface="Calibri"/>
                        <a:cs typeface="Calibri"/>
                      </a:endParaRPr>
                    </a:p>
                  </a:txBody>
                  <a:tcPr marL="91440" marR="91440" marT="45720" marB="45720" anchor="ctr">
                    <a:lnL w="6350" cmpd="sng">
                      <a:solidFill>
                        <a:srgbClr val="D5DBE3"/>
                      </a:solidFill>
                      <a:prstDash val="solid"/>
                    </a:lnL>
                    <a:lnR w="6350" cmpd="sng">
                      <a:solidFill>
                        <a:srgbClr val="D5DBE3"/>
                      </a:solidFill>
                      <a:prstDash val="solid"/>
                    </a:lnR>
                    <a:lnT w="6350" cmpd="sng">
                      <a:solidFill>
                        <a:srgbClr val="D5DBE3"/>
                      </a:solidFill>
                      <a:prstDash val="solid"/>
                    </a:lnT>
                    <a:lnB w="6350" cmpd="sng">
                      <a:solidFill>
                        <a:srgbClr val="D5DBE3"/>
                      </a:solidFill>
                      <a:prstDash val="solid"/>
                    </a:lnB>
                    <a:solidFill>
                      <a:schemeClr val="tx1"/>
                    </a:solidFill>
                  </a:tcPr>
                </a:tc>
                <a:tc>
                  <a:txBody>
                    <a:bodyPr/>
                    <a:lstStyle/>
                    <a:p>
                      <a:pPr marL="0" indent="0" algn="ctr">
                        <a:buNone/>
                      </a:pPr>
                      <a:r>
                        <a:rPr sz="1300" b="1">
                          <a:solidFill>
                            <a:schemeClr val="bg1"/>
                          </a:solidFill>
                          <a:latin typeface="Calibri"/>
                          <a:ea typeface="Calibri"/>
                          <a:cs typeface="Calibri"/>
                        </a:rPr>
                        <a:t>Valor</a:t>
                      </a:r>
                      <a:endParaRPr sz="1300">
                        <a:latin typeface="Calibri"/>
                        <a:ea typeface="Calibri"/>
                        <a:cs typeface="Calibri"/>
                      </a:endParaRPr>
                    </a:p>
                  </a:txBody>
                  <a:tcPr marL="91440" marR="91440" marT="45720" marB="45720" anchor="ctr">
                    <a:lnL w="6350" cmpd="sng">
                      <a:solidFill>
                        <a:srgbClr val="D5DBE3"/>
                      </a:solidFill>
                      <a:prstDash val="solid"/>
                    </a:lnL>
                    <a:lnR w="6350" cmpd="sng">
                      <a:solidFill>
                        <a:srgbClr val="D5DBE3"/>
                      </a:solidFill>
                      <a:prstDash val="solid"/>
                    </a:lnR>
                    <a:lnT w="6350" cmpd="sng">
                      <a:solidFill>
                        <a:srgbClr val="D5DBE3"/>
                      </a:solidFill>
                      <a:prstDash val="solid"/>
                    </a:lnT>
                    <a:lnB w="6350" cmpd="sng">
                      <a:solidFill>
                        <a:srgbClr val="D5DBE3"/>
                      </a:solidFill>
                      <a:prstDash val="solid"/>
                    </a:lnB>
                    <a:solidFill>
                      <a:schemeClr val="tx1"/>
                    </a:solidFill>
                  </a:tcPr>
                </a:tc>
                <a:tc>
                  <a:txBody>
                    <a:bodyPr/>
                    <a:lstStyle/>
                    <a:p>
                      <a:pPr marL="0" indent="0" algn="ctr">
                        <a:buNone/>
                      </a:pPr>
                      <a:r>
                        <a:rPr sz="1300" b="1">
                          <a:solidFill>
                            <a:schemeClr val="bg1"/>
                          </a:solidFill>
                          <a:latin typeface="Calibri"/>
                          <a:ea typeface="Calibri"/>
                          <a:cs typeface="Calibri"/>
                        </a:rPr>
                        <a:t>Error estándar</a:t>
                      </a:r>
                      <a:endParaRPr sz="1300">
                        <a:latin typeface="Calibri"/>
                        <a:ea typeface="Calibri"/>
                        <a:cs typeface="Calibri"/>
                      </a:endParaRPr>
                    </a:p>
                  </a:txBody>
                  <a:tcPr marL="91440" marR="91440" marT="45720" marB="45720" anchor="ctr">
                    <a:lnL w="6350" cmpd="sng">
                      <a:solidFill>
                        <a:srgbClr val="D5DBE3"/>
                      </a:solidFill>
                      <a:prstDash val="solid"/>
                    </a:lnL>
                    <a:lnR w="6350" cmpd="sng">
                      <a:solidFill>
                        <a:srgbClr val="D5DBE3"/>
                      </a:solidFill>
                      <a:prstDash val="solid"/>
                    </a:lnR>
                    <a:lnT w="6350" cmpd="sng">
                      <a:solidFill>
                        <a:srgbClr val="D5DBE3"/>
                      </a:solidFill>
                      <a:prstDash val="solid"/>
                    </a:lnT>
                    <a:lnB w="6350" cmpd="sng">
                      <a:solidFill>
                        <a:srgbClr val="D5DBE3"/>
                      </a:solidFill>
                      <a:prstDash val="solid"/>
                    </a:lnB>
                    <a:solidFill>
                      <a:schemeClr val="tx1"/>
                    </a:solidFill>
                  </a:tcPr>
                </a:tc>
                <a:tc>
                  <a:txBody>
                    <a:bodyPr/>
                    <a:lstStyle/>
                    <a:p>
                      <a:pPr marL="0" indent="0" algn="ctr">
                        <a:buNone/>
                      </a:pPr>
                      <a:r>
                        <a:rPr sz="1300" b="1">
                          <a:solidFill>
                            <a:schemeClr val="bg1"/>
                          </a:solidFill>
                          <a:latin typeface="Calibri"/>
                          <a:ea typeface="Calibri"/>
                          <a:cs typeface="Calibri"/>
                        </a:rPr>
                        <a:t>IC 95%</a:t>
                      </a:r>
                      <a:endParaRPr sz="1300">
                        <a:latin typeface="Calibri"/>
                        <a:ea typeface="Calibri"/>
                        <a:cs typeface="Calibri"/>
                      </a:endParaRPr>
                    </a:p>
                  </a:txBody>
                  <a:tcPr marL="91440" marR="91440" marT="45720" marB="45720" anchor="ctr">
                    <a:lnL w="6350" cmpd="sng">
                      <a:solidFill>
                        <a:srgbClr val="D5DBE3"/>
                      </a:solidFill>
                      <a:prstDash val="solid"/>
                    </a:lnL>
                    <a:lnR w="6350" cmpd="sng">
                      <a:solidFill>
                        <a:srgbClr val="D5DBE3"/>
                      </a:solidFill>
                      <a:prstDash val="solid"/>
                    </a:lnR>
                    <a:lnT w="6350" cmpd="sng">
                      <a:solidFill>
                        <a:srgbClr val="D5DBE3"/>
                      </a:solidFill>
                      <a:prstDash val="solid"/>
                    </a:lnT>
                    <a:lnB w="6350" cmpd="sng">
                      <a:solidFill>
                        <a:srgbClr val="D5DBE3"/>
                      </a:solidFill>
                      <a:prstDash val="solid"/>
                    </a:lnB>
                    <a:solidFill>
                      <a:schemeClr val="tx1"/>
                    </a:solidFill>
                  </a:tcPr>
                </a:tc>
              </a:tr>
              <a:tr h="365760">
                <a:tc>
                  <a:txBody>
                    <a:bodyPr/>
                    <a:lstStyle/>
                    <a:p>
                      <a:pPr marL="0" indent="0" algn="l">
                        <a:buNone/>
                      </a:pPr>
                      <a:r>
                        <a:rPr sz="1300" b="1">
                          <a:solidFill>
                            <a:schemeClr val="accent1"/>
                          </a:solidFill>
                          <a:latin typeface="Calibri"/>
                          <a:ea typeface="Calibri"/>
                          <a:cs typeface="Calibri"/>
                        </a:rPr>
                        <a:t>Media Manhattan</a:t>
                      </a:r>
                      <a:endParaRPr sz="1300">
                        <a:latin typeface="Calibri"/>
                        <a:ea typeface="Calibri"/>
                        <a:cs typeface="Calibri"/>
                      </a:endParaRPr>
                    </a:p>
                  </a:txBody>
                  <a:tcPr marL="91440" marR="91440" marT="45720" marB="45720" anchor="ctr">
                    <a:lnL w="6350" cmpd="sng">
                      <a:solidFill>
                        <a:srgbClr val="D5DBE3"/>
                      </a:solidFill>
                      <a:prstDash val="solid"/>
                    </a:lnL>
                    <a:lnR w="6350" cmpd="sng">
                      <a:solidFill>
                        <a:srgbClr val="D5DBE3"/>
                      </a:solidFill>
                      <a:prstDash val="solid"/>
                    </a:lnR>
                    <a:lnT w="6350" cmpd="sng">
                      <a:solidFill>
                        <a:srgbClr val="D5DBE3"/>
                      </a:solidFill>
                      <a:prstDash val="solid"/>
                    </a:lnT>
                    <a:lnB w="6350" cmpd="sng">
                      <a:solidFill>
                        <a:srgbClr val="D5DBE3"/>
                      </a:solidFill>
                      <a:prstDash val="solid"/>
                    </a:lnB>
                    <a:solidFill>
                      <a:schemeClr val="bg1"/>
                    </a:solidFill>
                  </a:tcPr>
                </a:tc>
                <a:tc>
                  <a:txBody>
                    <a:bodyPr/>
                    <a:lstStyle/>
                    <a:p>
                      <a:pPr marL="0" indent="0" algn="ctr">
                        <a:buNone/>
                      </a:pPr>
                      <a:r>
                        <a:rPr sz="1300">
                          <a:solidFill>
                            <a:schemeClr val="tx1"/>
                          </a:solidFill>
                          <a:latin typeface="Calibri"/>
                          <a:ea typeface="Calibri"/>
                          <a:cs typeface="Calibri"/>
                        </a:rPr>
                        <a:t>43.418</a:t>
                      </a:r>
                      <a:endParaRPr sz="1300">
                        <a:latin typeface="Calibri"/>
                        <a:ea typeface="Calibri"/>
                        <a:cs typeface="Calibri"/>
                      </a:endParaRPr>
                    </a:p>
                  </a:txBody>
                  <a:tcPr marL="91440" marR="91440" marT="45720" marB="45720" anchor="ctr">
                    <a:lnL w="6350" cmpd="sng">
                      <a:solidFill>
                        <a:srgbClr val="D5DBE3"/>
                      </a:solidFill>
                      <a:prstDash val="solid"/>
                    </a:lnL>
                    <a:lnR w="6350" cmpd="sng">
                      <a:solidFill>
                        <a:srgbClr val="D5DBE3"/>
                      </a:solidFill>
                      <a:prstDash val="solid"/>
                    </a:lnR>
                    <a:lnT w="6350" cmpd="sng">
                      <a:solidFill>
                        <a:srgbClr val="D5DBE3"/>
                      </a:solidFill>
                      <a:prstDash val="solid"/>
                    </a:lnT>
                    <a:lnB w="6350" cmpd="sng">
                      <a:solidFill>
                        <a:srgbClr val="D5DBE3"/>
                      </a:solidFill>
                      <a:prstDash val="solid"/>
                    </a:lnB>
                    <a:solidFill>
                      <a:schemeClr val="bg1"/>
                    </a:solidFill>
                  </a:tcPr>
                </a:tc>
                <a:tc>
                  <a:txBody>
                    <a:bodyPr/>
                    <a:lstStyle/>
                    <a:p>
                      <a:pPr marL="0" indent="0" algn="ctr">
                        <a:buNone/>
                      </a:pPr>
                      <a:r>
                        <a:rPr sz="1300">
                          <a:solidFill>
                            <a:schemeClr val="tx1"/>
                          </a:solidFill>
                          <a:latin typeface="Calibri"/>
                          <a:ea typeface="Calibri"/>
                          <a:cs typeface="Calibri"/>
                        </a:rPr>
                        <a:t>3,2765</a:t>
                      </a:r>
                      <a:endParaRPr sz="1300">
                        <a:latin typeface="Calibri"/>
                        <a:ea typeface="Calibri"/>
                        <a:cs typeface="Calibri"/>
                      </a:endParaRPr>
                    </a:p>
                  </a:txBody>
                  <a:tcPr marL="91440" marR="91440" marT="45720" marB="45720" anchor="ctr">
                    <a:lnL w="6350" cmpd="sng">
                      <a:solidFill>
                        <a:srgbClr val="D5DBE3"/>
                      </a:solidFill>
                      <a:prstDash val="solid"/>
                    </a:lnL>
                    <a:lnR w="6350" cmpd="sng">
                      <a:solidFill>
                        <a:srgbClr val="D5DBE3"/>
                      </a:solidFill>
                      <a:prstDash val="solid"/>
                    </a:lnR>
                    <a:lnT w="6350" cmpd="sng">
                      <a:solidFill>
                        <a:srgbClr val="D5DBE3"/>
                      </a:solidFill>
                      <a:prstDash val="solid"/>
                    </a:lnT>
                    <a:lnB w="6350" cmpd="sng">
                      <a:solidFill>
                        <a:srgbClr val="D5DBE3"/>
                      </a:solidFill>
                      <a:prstDash val="solid"/>
                    </a:lnB>
                    <a:solidFill>
                      <a:schemeClr val="bg1"/>
                    </a:solidFill>
                  </a:tcPr>
                </a:tc>
                <a:tc>
                  <a:txBody>
                    <a:bodyPr/>
                    <a:lstStyle/>
                    <a:p>
                      <a:pPr marL="0" indent="0" algn="ctr">
                        <a:buNone/>
                      </a:pPr>
                      <a:r>
                        <a:rPr sz="1300">
                          <a:solidFill>
                            <a:schemeClr val="tx1"/>
                          </a:solidFill>
                          <a:latin typeface="Calibri"/>
                          <a:ea typeface="Calibri"/>
                          <a:cs typeface="Calibri"/>
                        </a:rPr>
                        <a:t>0,00619</a:t>
                      </a:r>
                      <a:endParaRPr sz="1300">
                        <a:latin typeface="Calibri"/>
                        <a:ea typeface="Calibri"/>
                        <a:cs typeface="Calibri"/>
                      </a:endParaRPr>
                    </a:p>
                  </a:txBody>
                  <a:tcPr marL="91440" marR="91440" marT="45720" marB="45720" anchor="ctr">
                    <a:lnL w="6350" cmpd="sng">
                      <a:solidFill>
                        <a:srgbClr val="D5DBE3"/>
                      </a:solidFill>
                      <a:prstDash val="solid"/>
                    </a:lnL>
                    <a:lnR w="6350" cmpd="sng">
                      <a:solidFill>
                        <a:srgbClr val="D5DBE3"/>
                      </a:solidFill>
                      <a:prstDash val="solid"/>
                    </a:lnR>
                    <a:lnT w="6350" cmpd="sng">
                      <a:solidFill>
                        <a:srgbClr val="D5DBE3"/>
                      </a:solidFill>
                      <a:prstDash val="solid"/>
                    </a:lnT>
                    <a:lnB w="6350" cmpd="sng">
                      <a:solidFill>
                        <a:srgbClr val="D5DBE3"/>
                      </a:solidFill>
                      <a:prstDash val="solid"/>
                    </a:lnB>
                    <a:solidFill>
                      <a:schemeClr val="bg1"/>
                    </a:solidFill>
                  </a:tcPr>
                </a:tc>
                <a:tc>
                  <a:txBody>
                    <a:bodyPr/>
                    <a:lstStyle/>
                    <a:p>
                      <a:pPr marL="0" indent="0" algn="ctr">
                        <a:buNone/>
                      </a:pPr>
                      <a:r>
                        <a:rPr sz="1300">
                          <a:solidFill>
                            <a:schemeClr val="tx1"/>
                          </a:solidFill>
                          <a:latin typeface="Calibri"/>
                          <a:ea typeface="Calibri"/>
                          <a:cs typeface="Calibri"/>
                        </a:rPr>
                        <a:t>[3,2644; 3,2887]</a:t>
                      </a:r>
                      <a:endParaRPr sz="1300">
                        <a:latin typeface="Calibri"/>
                        <a:ea typeface="Calibri"/>
                        <a:cs typeface="Calibri"/>
                      </a:endParaRPr>
                    </a:p>
                  </a:txBody>
                  <a:tcPr marL="91440" marR="91440" marT="45720" marB="45720" anchor="ctr">
                    <a:lnL w="6350" cmpd="sng">
                      <a:solidFill>
                        <a:srgbClr val="D5DBE3"/>
                      </a:solidFill>
                      <a:prstDash val="solid"/>
                    </a:lnL>
                    <a:lnR w="6350" cmpd="sng">
                      <a:solidFill>
                        <a:srgbClr val="D5DBE3"/>
                      </a:solidFill>
                      <a:prstDash val="solid"/>
                    </a:lnR>
                    <a:lnT w="6350" cmpd="sng">
                      <a:solidFill>
                        <a:srgbClr val="D5DBE3"/>
                      </a:solidFill>
                      <a:prstDash val="solid"/>
                    </a:lnT>
                    <a:lnB w="6350" cmpd="sng">
                      <a:solidFill>
                        <a:srgbClr val="D5DBE3"/>
                      </a:solidFill>
                      <a:prstDash val="solid"/>
                    </a:lnB>
                    <a:solidFill>
                      <a:schemeClr val="bg1"/>
                    </a:solidFill>
                  </a:tcPr>
                </a:tc>
              </a:tr>
              <a:tr h="365760">
                <a:tc>
                  <a:txBody>
                    <a:bodyPr/>
                    <a:lstStyle/>
                    <a:p>
                      <a:pPr marL="0" indent="0" algn="l">
                        <a:buNone/>
                      </a:pPr>
                      <a:r>
                        <a:rPr sz="1300" b="1">
                          <a:solidFill>
                            <a:schemeClr val="accent2"/>
                          </a:solidFill>
                          <a:latin typeface="Calibri"/>
                          <a:ea typeface="Calibri"/>
                          <a:cs typeface="Calibri"/>
                        </a:rPr>
                        <a:t>Media Brooklyn</a:t>
                      </a:r>
                      <a:endParaRPr sz="1300">
                        <a:latin typeface="Calibri"/>
                        <a:ea typeface="Calibri"/>
                        <a:cs typeface="Calibri"/>
                      </a:endParaRPr>
                    </a:p>
                  </a:txBody>
                  <a:tcPr marL="91440" marR="91440" marT="45720" marB="45720" anchor="ctr">
                    <a:lnL w="6350" cmpd="sng">
                      <a:solidFill>
                        <a:srgbClr val="D5DBE3"/>
                      </a:solidFill>
                      <a:prstDash val="solid"/>
                    </a:lnL>
                    <a:lnR w="6350" cmpd="sng">
                      <a:solidFill>
                        <a:srgbClr val="D5DBE3"/>
                      </a:solidFill>
                      <a:prstDash val="solid"/>
                    </a:lnR>
                    <a:lnT w="6350" cmpd="sng">
                      <a:solidFill>
                        <a:srgbClr val="D5DBE3"/>
                      </a:solidFill>
                      <a:prstDash val="solid"/>
                    </a:lnT>
                    <a:lnB w="6350" cmpd="sng">
                      <a:solidFill>
                        <a:srgbClr val="D5DBE3"/>
                      </a:solidFill>
                      <a:prstDash val="solid"/>
                    </a:lnB>
                    <a:solidFill>
                      <a:schemeClr val="bg1"/>
                    </a:solidFill>
                  </a:tcPr>
                </a:tc>
                <a:tc>
                  <a:txBody>
                    <a:bodyPr/>
                    <a:lstStyle/>
                    <a:p>
                      <a:pPr marL="0" indent="0" algn="ctr">
                        <a:buNone/>
                      </a:pPr>
                      <a:r>
                        <a:rPr sz="1300">
                          <a:solidFill>
                            <a:schemeClr val="tx1"/>
                          </a:solidFill>
                          <a:latin typeface="Calibri"/>
                          <a:ea typeface="Calibri"/>
                          <a:cs typeface="Calibri"/>
                        </a:rPr>
                        <a:t>41.515</a:t>
                      </a:r>
                      <a:endParaRPr sz="1300">
                        <a:latin typeface="Calibri"/>
                        <a:ea typeface="Calibri"/>
                        <a:cs typeface="Calibri"/>
                      </a:endParaRPr>
                    </a:p>
                  </a:txBody>
                  <a:tcPr marL="91440" marR="91440" marT="45720" marB="45720" anchor="ctr">
                    <a:lnL w="6350" cmpd="sng">
                      <a:solidFill>
                        <a:srgbClr val="D5DBE3"/>
                      </a:solidFill>
                      <a:prstDash val="solid"/>
                    </a:lnL>
                    <a:lnR w="6350" cmpd="sng">
                      <a:solidFill>
                        <a:srgbClr val="D5DBE3"/>
                      </a:solidFill>
                      <a:prstDash val="solid"/>
                    </a:lnR>
                    <a:lnT w="6350" cmpd="sng">
                      <a:solidFill>
                        <a:srgbClr val="D5DBE3"/>
                      </a:solidFill>
                      <a:prstDash val="solid"/>
                    </a:lnT>
                    <a:lnB w="6350" cmpd="sng">
                      <a:solidFill>
                        <a:srgbClr val="D5DBE3"/>
                      </a:solidFill>
                      <a:prstDash val="solid"/>
                    </a:lnB>
                    <a:solidFill>
                      <a:schemeClr val="bg1"/>
                    </a:solidFill>
                  </a:tcPr>
                </a:tc>
                <a:tc>
                  <a:txBody>
                    <a:bodyPr/>
                    <a:lstStyle/>
                    <a:p>
                      <a:pPr marL="0" indent="0" algn="ctr">
                        <a:buNone/>
                      </a:pPr>
                      <a:r>
                        <a:rPr sz="1300">
                          <a:solidFill>
                            <a:schemeClr val="tx1"/>
                          </a:solidFill>
                          <a:latin typeface="Calibri"/>
                          <a:ea typeface="Calibri"/>
                          <a:cs typeface="Calibri"/>
                        </a:rPr>
                        <a:t>3,2585</a:t>
                      </a:r>
                      <a:endParaRPr sz="1300">
                        <a:latin typeface="Calibri"/>
                        <a:ea typeface="Calibri"/>
                        <a:cs typeface="Calibri"/>
                      </a:endParaRPr>
                    </a:p>
                  </a:txBody>
                  <a:tcPr marL="91440" marR="91440" marT="45720" marB="45720" anchor="ctr">
                    <a:lnL w="6350" cmpd="sng">
                      <a:solidFill>
                        <a:srgbClr val="D5DBE3"/>
                      </a:solidFill>
                      <a:prstDash val="solid"/>
                    </a:lnL>
                    <a:lnR w="6350" cmpd="sng">
                      <a:solidFill>
                        <a:srgbClr val="D5DBE3"/>
                      </a:solidFill>
                      <a:prstDash val="solid"/>
                    </a:lnR>
                    <a:lnT w="6350" cmpd="sng">
                      <a:solidFill>
                        <a:srgbClr val="D5DBE3"/>
                      </a:solidFill>
                      <a:prstDash val="solid"/>
                    </a:lnT>
                    <a:lnB w="6350" cmpd="sng">
                      <a:solidFill>
                        <a:srgbClr val="D5DBE3"/>
                      </a:solidFill>
                      <a:prstDash val="solid"/>
                    </a:lnB>
                    <a:solidFill>
                      <a:schemeClr val="bg1"/>
                    </a:solidFill>
                  </a:tcPr>
                </a:tc>
                <a:tc>
                  <a:txBody>
                    <a:bodyPr/>
                    <a:lstStyle/>
                    <a:p>
                      <a:pPr marL="0" indent="0" algn="ctr">
                        <a:buNone/>
                      </a:pPr>
                      <a:r>
                        <a:rPr sz="1300">
                          <a:solidFill>
                            <a:schemeClr val="tx1"/>
                          </a:solidFill>
                          <a:latin typeface="Calibri"/>
                          <a:ea typeface="Calibri"/>
                          <a:cs typeface="Calibri"/>
                        </a:rPr>
                        <a:t>0,00636</a:t>
                      </a:r>
                      <a:endParaRPr sz="1300">
                        <a:latin typeface="Calibri"/>
                        <a:ea typeface="Calibri"/>
                        <a:cs typeface="Calibri"/>
                      </a:endParaRPr>
                    </a:p>
                  </a:txBody>
                  <a:tcPr marL="91440" marR="91440" marT="45720" marB="45720" anchor="ctr">
                    <a:lnL w="6350" cmpd="sng">
                      <a:solidFill>
                        <a:srgbClr val="D5DBE3"/>
                      </a:solidFill>
                      <a:prstDash val="solid"/>
                    </a:lnL>
                    <a:lnR w="6350" cmpd="sng">
                      <a:solidFill>
                        <a:srgbClr val="D5DBE3"/>
                      </a:solidFill>
                      <a:prstDash val="solid"/>
                    </a:lnR>
                    <a:lnT w="6350" cmpd="sng">
                      <a:solidFill>
                        <a:srgbClr val="D5DBE3"/>
                      </a:solidFill>
                      <a:prstDash val="solid"/>
                    </a:lnT>
                    <a:lnB w="6350" cmpd="sng">
                      <a:solidFill>
                        <a:srgbClr val="D5DBE3"/>
                      </a:solidFill>
                      <a:prstDash val="solid"/>
                    </a:lnB>
                    <a:solidFill>
                      <a:schemeClr val="bg1"/>
                    </a:solidFill>
                  </a:tcPr>
                </a:tc>
                <a:tc>
                  <a:txBody>
                    <a:bodyPr/>
                    <a:lstStyle/>
                    <a:p>
                      <a:pPr marL="0" indent="0" algn="ctr">
                        <a:buNone/>
                      </a:pPr>
                      <a:r>
                        <a:rPr sz="1300">
                          <a:solidFill>
                            <a:schemeClr val="tx1"/>
                          </a:solidFill>
                          <a:latin typeface="Calibri"/>
                          <a:ea typeface="Calibri"/>
                          <a:cs typeface="Calibri"/>
                        </a:rPr>
                        <a:t>[3,2460; 3,2709]</a:t>
                      </a:r>
                      <a:endParaRPr sz="1300">
                        <a:latin typeface="Calibri"/>
                        <a:ea typeface="Calibri"/>
                        <a:cs typeface="Calibri"/>
                      </a:endParaRPr>
                    </a:p>
                  </a:txBody>
                  <a:tcPr marL="91440" marR="91440" marT="45720" marB="45720" anchor="ctr">
                    <a:lnL w="6350" cmpd="sng">
                      <a:solidFill>
                        <a:srgbClr val="D5DBE3"/>
                      </a:solidFill>
                      <a:prstDash val="solid"/>
                    </a:lnL>
                    <a:lnR w="6350" cmpd="sng">
                      <a:solidFill>
                        <a:srgbClr val="D5DBE3"/>
                      </a:solidFill>
                      <a:prstDash val="solid"/>
                    </a:lnR>
                    <a:lnT w="6350" cmpd="sng">
                      <a:solidFill>
                        <a:srgbClr val="D5DBE3"/>
                      </a:solidFill>
                      <a:prstDash val="solid"/>
                    </a:lnT>
                    <a:lnB w="6350" cmpd="sng">
                      <a:solidFill>
                        <a:srgbClr val="D5DBE3"/>
                      </a:solidFill>
                      <a:prstDash val="solid"/>
                    </a:lnB>
                    <a:solidFill>
                      <a:schemeClr val="bg1"/>
                    </a:solidFill>
                  </a:tcPr>
                </a:tc>
              </a:tr>
              <a:tr h="365760">
                <a:tc>
                  <a:txBody>
                    <a:bodyPr/>
                    <a:lstStyle/>
                    <a:p>
                      <a:pPr marL="0" indent="0" algn="l">
                        <a:buNone/>
                      </a:pPr>
                      <a:r>
                        <a:rPr sz="1300" b="1">
                          <a:solidFill>
                            <a:schemeClr val="accent3"/>
                          </a:solidFill>
                          <a:latin typeface="Calibri"/>
                          <a:ea typeface="Calibri"/>
                          <a:cs typeface="Calibri"/>
                        </a:rPr>
                        <a:t>Diferencia M − B</a:t>
                      </a:r>
                      <a:endParaRPr sz="1300">
                        <a:latin typeface="Calibri"/>
                        <a:ea typeface="Calibri"/>
                        <a:cs typeface="Calibri"/>
                      </a:endParaRPr>
                    </a:p>
                  </a:txBody>
                  <a:tcPr marL="91440" marR="91440" marT="45720" marB="45720" anchor="ctr">
                    <a:lnL w="6350" cmpd="sng">
                      <a:solidFill>
                        <a:srgbClr val="D5DBE3"/>
                      </a:solidFill>
                      <a:prstDash val="solid"/>
                    </a:lnL>
                    <a:lnR w="6350" cmpd="sng">
                      <a:solidFill>
                        <a:srgbClr val="D5DBE3"/>
                      </a:solidFill>
                      <a:prstDash val="solid"/>
                    </a:lnR>
                    <a:lnT w="6350" cmpd="sng">
                      <a:solidFill>
                        <a:srgbClr val="D5DBE3"/>
                      </a:solidFill>
                      <a:prstDash val="solid"/>
                    </a:lnT>
                    <a:lnB w="6350" cmpd="sng">
                      <a:solidFill>
                        <a:srgbClr val="D5DBE3"/>
                      </a:solidFill>
                      <a:prstDash val="solid"/>
                    </a:lnB>
                    <a:solidFill>
                      <a:schemeClr val="bg1"/>
                    </a:solidFill>
                  </a:tcPr>
                </a:tc>
                <a:tc>
                  <a:txBody>
                    <a:bodyPr/>
                    <a:lstStyle/>
                    <a:p>
                      <a:pPr marL="0" indent="0" algn="ctr">
                        <a:buNone/>
                      </a:pPr>
                      <a:r>
                        <a:rPr sz="1300">
                          <a:solidFill>
                            <a:schemeClr val="tx1"/>
                          </a:solidFill>
                          <a:latin typeface="Calibri"/>
                          <a:ea typeface="Calibri"/>
                          <a:cs typeface="Calibri"/>
                        </a:rPr>
                        <a:t>84.933</a:t>
                      </a:r>
                      <a:endParaRPr sz="1300">
                        <a:latin typeface="Calibri"/>
                        <a:ea typeface="Calibri"/>
                        <a:cs typeface="Calibri"/>
                      </a:endParaRPr>
                    </a:p>
                  </a:txBody>
                  <a:tcPr marL="91440" marR="91440" marT="45720" marB="45720" anchor="ctr">
                    <a:lnL w="6350" cmpd="sng">
                      <a:solidFill>
                        <a:srgbClr val="D5DBE3"/>
                      </a:solidFill>
                      <a:prstDash val="solid"/>
                    </a:lnL>
                    <a:lnR w="6350" cmpd="sng">
                      <a:solidFill>
                        <a:srgbClr val="D5DBE3"/>
                      </a:solidFill>
                      <a:prstDash val="solid"/>
                    </a:lnR>
                    <a:lnT w="6350" cmpd="sng">
                      <a:solidFill>
                        <a:srgbClr val="D5DBE3"/>
                      </a:solidFill>
                      <a:prstDash val="solid"/>
                    </a:lnT>
                    <a:lnB w="6350" cmpd="sng">
                      <a:solidFill>
                        <a:srgbClr val="D5DBE3"/>
                      </a:solidFill>
                      <a:prstDash val="solid"/>
                    </a:lnB>
                    <a:solidFill>
                      <a:schemeClr val="bg1"/>
                    </a:solidFill>
                  </a:tcPr>
                </a:tc>
                <a:tc>
                  <a:txBody>
                    <a:bodyPr/>
                    <a:lstStyle/>
                    <a:p>
                      <a:pPr marL="0" indent="0" algn="ctr">
                        <a:buNone/>
                      </a:pPr>
                      <a:r>
                        <a:rPr sz="1300" b="1">
                          <a:solidFill>
                            <a:schemeClr val="tx1"/>
                          </a:solidFill>
                          <a:latin typeface="Calibri"/>
                          <a:ea typeface="Calibri"/>
                          <a:cs typeface="Calibri"/>
                        </a:rPr>
                        <a:t>0,0181</a:t>
                      </a:r>
                      <a:endParaRPr sz="1300">
                        <a:latin typeface="Calibri"/>
                        <a:ea typeface="Calibri"/>
                        <a:cs typeface="Calibri"/>
                      </a:endParaRPr>
                    </a:p>
                  </a:txBody>
                  <a:tcPr marL="91440" marR="91440" marT="45720" marB="45720" anchor="ctr">
                    <a:lnL w="6350" cmpd="sng">
                      <a:solidFill>
                        <a:srgbClr val="D5DBE3"/>
                      </a:solidFill>
                      <a:prstDash val="solid"/>
                    </a:lnL>
                    <a:lnR w="6350" cmpd="sng">
                      <a:solidFill>
                        <a:srgbClr val="D5DBE3"/>
                      </a:solidFill>
                      <a:prstDash val="solid"/>
                    </a:lnR>
                    <a:lnT w="6350" cmpd="sng">
                      <a:solidFill>
                        <a:srgbClr val="D5DBE3"/>
                      </a:solidFill>
                      <a:prstDash val="solid"/>
                    </a:lnT>
                    <a:lnB w="6350" cmpd="sng">
                      <a:solidFill>
                        <a:srgbClr val="D5DBE3"/>
                      </a:solidFill>
                      <a:prstDash val="solid"/>
                    </a:lnB>
                    <a:solidFill>
                      <a:schemeClr val="bg1"/>
                    </a:solidFill>
                  </a:tcPr>
                </a:tc>
                <a:tc>
                  <a:txBody>
                    <a:bodyPr/>
                    <a:lstStyle/>
                    <a:p>
                      <a:pPr marL="0" indent="0" algn="ctr">
                        <a:buNone/>
                      </a:pPr>
                      <a:r>
                        <a:rPr sz="1300">
                          <a:solidFill>
                            <a:schemeClr val="tx1"/>
                          </a:solidFill>
                          <a:latin typeface="Calibri"/>
                          <a:ea typeface="Calibri"/>
                          <a:cs typeface="Calibri"/>
                        </a:rPr>
                        <a:t>0,00888</a:t>
                      </a:r>
                      <a:endParaRPr sz="1300">
                        <a:latin typeface="Calibri"/>
                        <a:ea typeface="Calibri"/>
                        <a:cs typeface="Calibri"/>
                      </a:endParaRPr>
                    </a:p>
                  </a:txBody>
                  <a:tcPr marL="91440" marR="91440" marT="45720" marB="45720" anchor="ctr">
                    <a:lnL w="6350" cmpd="sng">
                      <a:solidFill>
                        <a:srgbClr val="D5DBE3"/>
                      </a:solidFill>
                      <a:prstDash val="solid"/>
                    </a:lnL>
                    <a:lnR w="6350" cmpd="sng">
                      <a:solidFill>
                        <a:srgbClr val="D5DBE3"/>
                      </a:solidFill>
                      <a:prstDash val="solid"/>
                    </a:lnR>
                    <a:lnT w="6350" cmpd="sng">
                      <a:solidFill>
                        <a:srgbClr val="D5DBE3"/>
                      </a:solidFill>
                      <a:prstDash val="solid"/>
                    </a:lnT>
                    <a:lnB w="6350" cmpd="sng">
                      <a:solidFill>
                        <a:srgbClr val="D5DBE3"/>
                      </a:solidFill>
                      <a:prstDash val="solid"/>
                    </a:lnB>
                    <a:solidFill>
                      <a:schemeClr val="bg1"/>
                    </a:solidFill>
                  </a:tcPr>
                </a:tc>
                <a:tc>
                  <a:txBody>
                    <a:bodyPr/>
                    <a:lstStyle/>
                    <a:p>
                      <a:pPr marL="0" indent="0" algn="ctr">
                        <a:buNone/>
                      </a:pPr>
                      <a:r>
                        <a:rPr sz="1300" b="1">
                          <a:solidFill>
                            <a:schemeClr val="tx1"/>
                          </a:solidFill>
                          <a:latin typeface="Calibri"/>
                          <a:ea typeface="Calibri"/>
                          <a:cs typeface="Calibri"/>
                        </a:rPr>
                        <a:t>[0,0007; 0,0355]</a:t>
                      </a:r>
                      <a:endParaRPr sz="1300">
                        <a:latin typeface="Calibri"/>
                        <a:ea typeface="Calibri"/>
                        <a:cs typeface="Calibri"/>
                      </a:endParaRPr>
                    </a:p>
                  </a:txBody>
                  <a:tcPr marL="91440" marR="91440" marT="45720" marB="45720" anchor="ctr">
                    <a:lnL w="6350" cmpd="sng">
                      <a:solidFill>
                        <a:srgbClr val="D5DBE3"/>
                      </a:solidFill>
                      <a:prstDash val="solid"/>
                    </a:lnL>
                    <a:lnR w="6350" cmpd="sng">
                      <a:solidFill>
                        <a:srgbClr val="D5DBE3"/>
                      </a:solidFill>
                      <a:prstDash val="solid"/>
                    </a:lnR>
                    <a:lnT w="6350" cmpd="sng">
                      <a:solidFill>
                        <a:srgbClr val="D5DBE3"/>
                      </a:solidFill>
                      <a:prstDash val="solid"/>
                    </a:lnT>
                    <a:lnB w="6350" cmpd="sng">
                      <a:solidFill>
                        <a:srgbClr val="D5DBE3"/>
                      </a:solidFill>
                      <a:prstDash val="solid"/>
                    </a:lnB>
                    <a:solidFill>
                      <a:schemeClr val="bg1"/>
                    </a:solidFill>
                  </a:tcPr>
                </a:tc>
              </a:tr>
            </a:tbl>
          </a:graphicData>
        </a:graphic>
      </p:graphicFrame>
      <p:sp>
        <p:nvSpPr>
          <p:cNvPr id="4" name="Tarjeta recta numérica">
            <a:extLst xmlns:a="http://schemas.openxmlformats.org/drawingml/2006/main">
              <a:ext uri="{FF2B5EF4-FFF2-40B4-BE49-F238E27FC236}">
                <a16:creationId xmlns:a16="http://schemas.microsoft.com/office/drawing/2014/main" id="{DD03157D-1262-40A6-9F2B-A3B6EE9203C8}"/>
              </a:ext>
            </a:extLst>
          </p:cNvPr>
          <p:cNvSpPr>
            <a:spLocks xmlns:a="http://schemas.openxmlformats.org/drawingml/2006/main" noGrp="1"/>
          </p:cNvSpPr>
          <p:nvPr/>
        </p:nvSpPr>
        <p:spPr>
          <a:xfrm xmlns:a="http://schemas.openxmlformats.org/drawingml/2006/main">
            <a:off x="457200" y="2834640"/>
            <a:ext cx="8229600" cy="1691640"/>
          </a:xfrm>
          <a:prstGeom xmlns:a="http://schemas.openxmlformats.org/drawingml/2006/main" prst="roundRect">
            <a:avLst>
              <a:gd name="adj" fmla="val 4324"/>
            </a:avLst>
          </a:prstGeom>
          <a:solidFill xmlns:a="http://schemas.openxmlformats.org/drawingml/2006/main">
            <a:schemeClr val="bg2"/>
          </a:solidFill>
        </p:spPr>
      </p:sp>
      <p:sp>
        <p:nvSpPr>
          <p:cNvPr id="5" name="Text 2">
            <a:extLst xmlns:a="http://schemas.openxmlformats.org/drawingml/2006/main">
              <a:ext uri="{FF2B5EF4-FFF2-40B4-BE49-F238E27FC236}">
                <a16:creationId xmlns:a16="http://schemas.microsoft.com/office/drawing/2014/main" id="{65A68BF8-36B1-48C9-8707-5ADD85E79C57}"/>
              </a:ext>
            </a:extLst>
          </p:cNvPr>
          <p:cNvSpPr>
            <a:spLocks xmlns:a="http://schemas.openxmlformats.org/drawingml/2006/main" noGrp="1"/>
          </p:cNvSpPr>
          <p:nvPr/>
        </p:nvSpPr>
        <p:spPr>
          <a:xfrm xmlns:a="http://schemas.openxmlformats.org/drawingml/2006/main">
            <a:off x="685800" y="2926080"/>
            <a:ext cx="4572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b="1">
                <a:solidFill>
                  <a:schemeClr val="tx1"/>
                </a:solidFill>
              </a:rPr>
              <a:t>IC 95% de Δ = μM − μB (puntos)</a:t>
            </a:r>
            <a:endParaRPr sz="1400"/>
          </a:p>
        </p:txBody>
      </p:sp>
      <p:sp>
        <p:nvSpPr>
          <p:cNvPr id="6" name="Eje">
            <a:extLst xmlns:a="http://schemas.openxmlformats.org/drawingml/2006/main">
              <a:ext uri="{FF2B5EF4-FFF2-40B4-BE49-F238E27FC236}">
                <a16:creationId xmlns:a16="http://schemas.microsoft.com/office/drawing/2014/main" id="{FA1E14D2-D459-440E-8091-6A7019C898CF}"/>
              </a:ext>
            </a:extLst>
          </p:cNvPr>
          <p:cNvSpPr>
            <a:spLocks xmlns:a="http://schemas.openxmlformats.org/drawingml/2006/main" noGrp="1"/>
          </p:cNvSpPr>
          <p:nvPr/>
        </p:nvSpPr>
        <p:spPr>
          <a:xfrm xmlns:a="http://schemas.openxmlformats.org/drawingml/2006/main">
            <a:off x="914400" y="3886200"/>
            <a:ext cx="7315200" cy="0"/>
          </a:xfrm>
          <a:prstGeom xmlns:a="http://schemas.openxmlformats.org/drawingml/2006/main" prst="line">
            <a:avLst/>
          </a:prstGeom>
          <a:noFill xmlns:a="http://schemas.openxmlformats.org/drawingml/2006/main"/>
          <a:ln xmlns:a="http://schemas.openxmlformats.org/drawingml/2006/main" w="15875">
            <a:solidFill>
              <a:schemeClr val="accent4"/>
            </a:solidFill>
            <a:prstDash val="solid"/>
          </a:ln>
        </p:spPr>
      </p:sp>
      <p:sp>
        <p:nvSpPr>
          <p:cNvPr id="7" name="Marca 0">
            <a:extLst xmlns:a="http://schemas.openxmlformats.org/drawingml/2006/main">
              <a:ext uri="{FF2B5EF4-FFF2-40B4-BE49-F238E27FC236}">
                <a16:creationId xmlns:a16="http://schemas.microsoft.com/office/drawing/2014/main" id="{F8B28346-A985-4042-BEFF-49B0AA078C2E}"/>
              </a:ext>
            </a:extLst>
          </p:cNvPr>
          <p:cNvSpPr>
            <a:spLocks xmlns:a="http://schemas.openxmlformats.org/drawingml/2006/main" noGrp="1"/>
          </p:cNvSpPr>
          <p:nvPr/>
        </p:nvSpPr>
        <p:spPr>
          <a:xfrm xmlns:a="http://schemas.openxmlformats.org/drawingml/2006/main">
            <a:off x="914400" y="3886200"/>
            <a:ext cx="0" cy="91440"/>
          </a:xfrm>
          <a:prstGeom xmlns:a="http://schemas.openxmlformats.org/drawingml/2006/main" prst="line">
            <a:avLst/>
          </a:prstGeom>
          <a:noFill xmlns:a="http://schemas.openxmlformats.org/drawingml/2006/main"/>
          <a:ln xmlns:a="http://schemas.openxmlformats.org/drawingml/2006/main" w="12700">
            <a:solidFill>
              <a:schemeClr val="accent4"/>
            </a:solidFill>
            <a:prstDash val="solid"/>
          </a:ln>
        </p:spPr>
      </p:sp>
      <p:sp>
        <p:nvSpPr>
          <p:cNvPr id="8" name="Text 5">
            <a:extLst xmlns:a="http://schemas.openxmlformats.org/drawingml/2006/main">
              <a:ext uri="{FF2B5EF4-FFF2-40B4-BE49-F238E27FC236}">
                <a16:creationId xmlns:a16="http://schemas.microsoft.com/office/drawing/2014/main" id="{131D4B1A-AD9A-4DA2-88B7-8BC8D953B163}"/>
              </a:ext>
            </a:extLst>
          </p:cNvPr>
          <p:cNvSpPr>
            <a:spLocks xmlns:a="http://schemas.openxmlformats.org/drawingml/2006/main" noGrp="1"/>
          </p:cNvSpPr>
          <p:nvPr/>
        </p:nvSpPr>
        <p:spPr>
          <a:xfrm xmlns:a="http://schemas.openxmlformats.org/drawingml/2006/main">
            <a:off x="594360" y="4005072"/>
            <a:ext cx="6400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00">
                <a:solidFill>
                  <a:schemeClr val="accent4"/>
                </a:solidFill>
              </a:rPr>
              <a:t>−0,005</a:t>
            </a:r>
            <a:endParaRPr sz="1000"/>
          </a:p>
        </p:txBody>
      </p:sp>
      <p:sp>
        <p:nvSpPr>
          <p:cNvPr id="9" name="Marca 1">
            <a:extLst xmlns:a="http://schemas.openxmlformats.org/drawingml/2006/main">
              <a:ext uri="{FF2B5EF4-FFF2-40B4-BE49-F238E27FC236}">
                <a16:creationId xmlns:a16="http://schemas.microsoft.com/office/drawing/2014/main" id="{C8FA178F-297C-4E77-BE08-83DFA31C2A23}"/>
              </a:ext>
            </a:extLst>
          </p:cNvPr>
          <p:cNvSpPr>
            <a:spLocks xmlns:a="http://schemas.openxmlformats.org/drawingml/2006/main" noGrp="1"/>
          </p:cNvSpPr>
          <p:nvPr/>
        </p:nvSpPr>
        <p:spPr>
          <a:xfrm xmlns:a="http://schemas.openxmlformats.org/drawingml/2006/main">
            <a:off x="1727200" y="3886200"/>
            <a:ext cx="0" cy="91440"/>
          </a:xfrm>
          <a:prstGeom xmlns:a="http://schemas.openxmlformats.org/drawingml/2006/main" prst="line">
            <a:avLst/>
          </a:prstGeom>
          <a:noFill xmlns:a="http://schemas.openxmlformats.org/drawingml/2006/main"/>
          <a:ln xmlns:a="http://schemas.openxmlformats.org/drawingml/2006/main" w="12700">
            <a:solidFill>
              <a:schemeClr val="accent4"/>
            </a:solidFill>
            <a:prstDash val="solid"/>
          </a:ln>
        </p:spPr>
      </p:sp>
      <p:sp>
        <p:nvSpPr>
          <p:cNvPr id="10" name="Text 7">
            <a:extLst xmlns:a="http://schemas.openxmlformats.org/drawingml/2006/main">
              <a:ext uri="{FF2B5EF4-FFF2-40B4-BE49-F238E27FC236}">
                <a16:creationId xmlns:a16="http://schemas.microsoft.com/office/drawing/2014/main" id="{BF33FD0A-A6BD-4C1C-8F99-F475F86FF94C}"/>
              </a:ext>
            </a:extLst>
          </p:cNvPr>
          <p:cNvSpPr>
            <a:spLocks xmlns:a="http://schemas.openxmlformats.org/drawingml/2006/main" noGrp="1"/>
          </p:cNvSpPr>
          <p:nvPr/>
        </p:nvSpPr>
        <p:spPr>
          <a:xfrm xmlns:a="http://schemas.openxmlformats.org/drawingml/2006/main">
            <a:off x="1407160" y="4005072"/>
            <a:ext cx="6400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00">
                <a:solidFill>
                  <a:schemeClr val="accent4"/>
                </a:solidFill>
              </a:rPr>
              <a:t>0</a:t>
            </a:r>
            <a:endParaRPr sz="1000"/>
          </a:p>
        </p:txBody>
      </p:sp>
      <p:sp>
        <p:nvSpPr>
          <p:cNvPr id="11" name="Marca 2">
            <a:extLst xmlns:a="http://schemas.openxmlformats.org/drawingml/2006/main">
              <a:ext uri="{FF2B5EF4-FFF2-40B4-BE49-F238E27FC236}">
                <a16:creationId xmlns:a16="http://schemas.microsoft.com/office/drawing/2014/main" id="{D3DFADD3-712C-4C92-941D-1D8FBF5D70C3}"/>
              </a:ext>
            </a:extLst>
          </p:cNvPr>
          <p:cNvSpPr>
            <a:spLocks xmlns:a="http://schemas.openxmlformats.org/drawingml/2006/main" noGrp="1"/>
          </p:cNvSpPr>
          <p:nvPr/>
        </p:nvSpPr>
        <p:spPr>
          <a:xfrm xmlns:a="http://schemas.openxmlformats.org/drawingml/2006/main">
            <a:off x="3352800" y="3886200"/>
            <a:ext cx="0" cy="91440"/>
          </a:xfrm>
          <a:prstGeom xmlns:a="http://schemas.openxmlformats.org/drawingml/2006/main" prst="line">
            <a:avLst/>
          </a:prstGeom>
          <a:noFill xmlns:a="http://schemas.openxmlformats.org/drawingml/2006/main"/>
          <a:ln xmlns:a="http://schemas.openxmlformats.org/drawingml/2006/main" w="12700">
            <a:solidFill>
              <a:schemeClr val="accent4"/>
            </a:solidFill>
            <a:prstDash val="solid"/>
          </a:ln>
        </p:spPr>
      </p:sp>
      <p:sp>
        <p:nvSpPr>
          <p:cNvPr id="12" name="Text 9">
            <a:extLst xmlns:a="http://schemas.openxmlformats.org/drawingml/2006/main">
              <a:ext uri="{FF2B5EF4-FFF2-40B4-BE49-F238E27FC236}">
                <a16:creationId xmlns:a16="http://schemas.microsoft.com/office/drawing/2014/main" id="{4EC70EAC-1A0C-4B87-B979-94049548C279}"/>
              </a:ext>
            </a:extLst>
          </p:cNvPr>
          <p:cNvSpPr>
            <a:spLocks xmlns:a="http://schemas.openxmlformats.org/drawingml/2006/main" noGrp="1"/>
          </p:cNvSpPr>
          <p:nvPr/>
        </p:nvSpPr>
        <p:spPr>
          <a:xfrm xmlns:a="http://schemas.openxmlformats.org/drawingml/2006/main">
            <a:off x="3032760" y="4005072"/>
            <a:ext cx="6400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00">
                <a:solidFill>
                  <a:schemeClr val="accent4"/>
                </a:solidFill>
              </a:rPr>
              <a:t>0,01</a:t>
            </a:r>
            <a:endParaRPr sz="1000"/>
          </a:p>
        </p:txBody>
      </p:sp>
      <p:sp>
        <p:nvSpPr>
          <p:cNvPr id="13" name="Marca 3">
            <a:extLst xmlns:a="http://schemas.openxmlformats.org/drawingml/2006/main">
              <a:ext uri="{FF2B5EF4-FFF2-40B4-BE49-F238E27FC236}">
                <a16:creationId xmlns:a16="http://schemas.microsoft.com/office/drawing/2014/main" id="{F3DF9BFC-8EE6-4B06-A7FB-FA39B648EDC2}"/>
              </a:ext>
            </a:extLst>
          </p:cNvPr>
          <p:cNvSpPr>
            <a:spLocks xmlns:a="http://schemas.openxmlformats.org/drawingml/2006/main" noGrp="1"/>
          </p:cNvSpPr>
          <p:nvPr/>
        </p:nvSpPr>
        <p:spPr>
          <a:xfrm xmlns:a="http://schemas.openxmlformats.org/drawingml/2006/main">
            <a:off x="4978400" y="3886200"/>
            <a:ext cx="0" cy="91440"/>
          </a:xfrm>
          <a:prstGeom xmlns:a="http://schemas.openxmlformats.org/drawingml/2006/main" prst="line">
            <a:avLst/>
          </a:prstGeom>
          <a:noFill xmlns:a="http://schemas.openxmlformats.org/drawingml/2006/main"/>
          <a:ln xmlns:a="http://schemas.openxmlformats.org/drawingml/2006/main" w="12700">
            <a:solidFill>
              <a:schemeClr val="accent4"/>
            </a:solidFill>
            <a:prstDash val="solid"/>
          </a:ln>
        </p:spPr>
      </p:sp>
      <p:sp>
        <p:nvSpPr>
          <p:cNvPr id="14" name="Text 11">
            <a:extLst xmlns:a="http://schemas.openxmlformats.org/drawingml/2006/main">
              <a:ext uri="{FF2B5EF4-FFF2-40B4-BE49-F238E27FC236}">
                <a16:creationId xmlns:a16="http://schemas.microsoft.com/office/drawing/2014/main" id="{57091007-4E52-49DA-A554-4F9B76C7A5BA}"/>
              </a:ext>
            </a:extLst>
          </p:cNvPr>
          <p:cNvSpPr>
            <a:spLocks xmlns:a="http://schemas.openxmlformats.org/drawingml/2006/main" noGrp="1"/>
          </p:cNvSpPr>
          <p:nvPr/>
        </p:nvSpPr>
        <p:spPr>
          <a:xfrm xmlns:a="http://schemas.openxmlformats.org/drawingml/2006/main">
            <a:off x="4658360" y="4005072"/>
            <a:ext cx="6400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00">
                <a:solidFill>
                  <a:schemeClr val="accent4"/>
                </a:solidFill>
              </a:rPr>
              <a:t>0,02</a:t>
            </a:r>
            <a:endParaRPr sz="1000"/>
          </a:p>
        </p:txBody>
      </p:sp>
      <p:sp>
        <p:nvSpPr>
          <p:cNvPr id="15" name="Marca 4">
            <a:extLst xmlns:a="http://schemas.openxmlformats.org/drawingml/2006/main">
              <a:ext uri="{FF2B5EF4-FFF2-40B4-BE49-F238E27FC236}">
                <a16:creationId xmlns:a16="http://schemas.microsoft.com/office/drawing/2014/main" id="{17BF4CC1-8B0F-4A75-AB4D-18656B615DC3}"/>
              </a:ext>
            </a:extLst>
          </p:cNvPr>
          <p:cNvSpPr>
            <a:spLocks xmlns:a="http://schemas.openxmlformats.org/drawingml/2006/main" noGrp="1"/>
          </p:cNvSpPr>
          <p:nvPr/>
        </p:nvSpPr>
        <p:spPr>
          <a:xfrm xmlns:a="http://schemas.openxmlformats.org/drawingml/2006/main">
            <a:off x="6604000" y="3886200"/>
            <a:ext cx="0" cy="91440"/>
          </a:xfrm>
          <a:prstGeom xmlns:a="http://schemas.openxmlformats.org/drawingml/2006/main" prst="line">
            <a:avLst/>
          </a:prstGeom>
          <a:noFill xmlns:a="http://schemas.openxmlformats.org/drawingml/2006/main"/>
          <a:ln xmlns:a="http://schemas.openxmlformats.org/drawingml/2006/main" w="12700">
            <a:solidFill>
              <a:schemeClr val="accent4"/>
            </a:solidFill>
            <a:prstDash val="solid"/>
          </a:ln>
        </p:spPr>
      </p:sp>
      <p:sp>
        <p:nvSpPr>
          <p:cNvPr id="16" name="Text 13">
            <a:extLst xmlns:a="http://schemas.openxmlformats.org/drawingml/2006/main">
              <a:ext uri="{FF2B5EF4-FFF2-40B4-BE49-F238E27FC236}">
                <a16:creationId xmlns:a16="http://schemas.microsoft.com/office/drawing/2014/main" id="{0ECF0444-9BBE-4F40-80C1-3E694EB9CA14}"/>
              </a:ext>
            </a:extLst>
          </p:cNvPr>
          <p:cNvSpPr>
            <a:spLocks xmlns:a="http://schemas.openxmlformats.org/drawingml/2006/main" noGrp="1"/>
          </p:cNvSpPr>
          <p:nvPr/>
        </p:nvSpPr>
        <p:spPr>
          <a:xfrm xmlns:a="http://schemas.openxmlformats.org/drawingml/2006/main">
            <a:off x="6283960" y="4005072"/>
            <a:ext cx="6400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00">
                <a:solidFill>
                  <a:schemeClr val="accent4"/>
                </a:solidFill>
              </a:rPr>
              <a:t>0,03</a:t>
            </a:r>
            <a:endParaRPr sz="1000"/>
          </a:p>
        </p:txBody>
      </p:sp>
      <p:sp>
        <p:nvSpPr>
          <p:cNvPr id="17" name="Marca 5">
            <a:extLst xmlns:a="http://schemas.openxmlformats.org/drawingml/2006/main">
              <a:ext uri="{FF2B5EF4-FFF2-40B4-BE49-F238E27FC236}">
                <a16:creationId xmlns:a16="http://schemas.microsoft.com/office/drawing/2014/main" id="{9363AF46-E4C1-4C61-BBB5-058A0BE15864}"/>
              </a:ext>
            </a:extLst>
          </p:cNvPr>
          <p:cNvSpPr>
            <a:spLocks xmlns:a="http://schemas.openxmlformats.org/drawingml/2006/main" noGrp="1"/>
          </p:cNvSpPr>
          <p:nvPr/>
        </p:nvSpPr>
        <p:spPr>
          <a:xfrm xmlns:a="http://schemas.openxmlformats.org/drawingml/2006/main">
            <a:off x="8229600" y="3886200"/>
            <a:ext cx="0" cy="91440"/>
          </a:xfrm>
          <a:prstGeom xmlns:a="http://schemas.openxmlformats.org/drawingml/2006/main" prst="line">
            <a:avLst/>
          </a:prstGeom>
          <a:noFill xmlns:a="http://schemas.openxmlformats.org/drawingml/2006/main"/>
          <a:ln xmlns:a="http://schemas.openxmlformats.org/drawingml/2006/main" w="12700">
            <a:solidFill>
              <a:schemeClr val="accent4"/>
            </a:solidFill>
            <a:prstDash val="solid"/>
          </a:ln>
        </p:spPr>
      </p:sp>
      <p:sp>
        <p:nvSpPr>
          <p:cNvPr id="18" name="Text 15">
            <a:extLst xmlns:a="http://schemas.openxmlformats.org/drawingml/2006/main">
              <a:ext uri="{FF2B5EF4-FFF2-40B4-BE49-F238E27FC236}">
                <a16:creationId xmlns:a16="http://schemas.microsoft.com/office/drawing/2014/main" id="{1B020735-9A83-42CC-A572-960F27BEEB2F}"/>
              </a:ext>
            </a:extLst>
          </p:cNvPr>
          <p:cNvSpPr>
            <a:spLocks xmlns:a="http://schemas.openxmlformats.org/drawingml/2006/main" noGrp="1"/>
          </p:cNvSpPr>
          <p:nvPr/>
        </p:nvSpPr>
        <p:spPr>
          <a:xfrm xmlns:a="http://schemas.openxmlformats.org/drawingml/2006/main">
            <a:off x="7909560" y="4005072"/>
            <a:ext cx="6400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00">
                <a:solidFill>
                  <a:schemeClr val="accent4"/>
                </a:solidFill>
              </a:rPr>
              <a:t>0,04</a:t>
            </a:r>
            <a:endParaRPr sz="1000"/>
          </a:p>
        </p:txBody>
      </p:sp>
      <p:sp>
        <p:nvSpPr>
          <p:cNvPr id="19" name="Línea cero">
            <a:extLst xmlns:a="http://schemas.openxmlformats.org/drawingml/2006/main">
              <a:ext uri="{FF2B5EF4-FFF2-40B4-BE49-F238E27FC236}">
                <a16:creationId xmlns:a16="http://schemas.microsoft.com/office/drawing/2014/main" id="{FB4EAED2-876F-469B-B434-C624002BB0AA}"/>
              </a:ext>
            </a:extLst>
          </p:cNvPr>
          <p:cNvSpPr>
            <a:spLocks xmlns:a="http://schemas.openxmlformats.org/drawingml/2006/main" noGrp="1"/>
          </p:cNvSpPr>
          <p:nvPr/>
        </p:nvSpPr>
        <p:spPr>
          <a:xfrm xmlns:a="http://schemas.openxmlformats.org/drawingml/2006/main">
            <a:off x="1727200" y="3246120"/>
            <a:ext cx="0" cy="640080"/>
          </a:xfrm>
          <a:prstGeom xmlns:a="http://schemas.openxmlformats.org/drawingml/2006/main" prst="line">
            <a:avLst/>
          </a:prstGeom>
          <a:noFill xmlns:a="http://schemas.openxmlformats.org/drawingml/2006/main"/>
          <a:ln xmlns:a="http://schemas.openxmlformats.org/drawingml/2006/main" w="19050">
            <a:solidFill>
              <a:schemeClr val="accent2"/>
            </a:solidFill>
            <a:prstDash val="dash"/>
          </a:ln>
        </p:spPr>
      </p:sp>
      <p:sp>
        <p:nvSpPr>
          <p:cNvPr id="20" name="Text 17">
            <a:extLst xmlns:a="http://schemas.openxmlformats.org/drawingml/2006/main">
              <a:ext uri="{FF2B5EF4-FFF2-40B4-BE49-F238E27FC236}">
                <a16:creationId xmlns:a16="http://schemas.microsoft.com/office/drawing/2014/main" id="{1C695FF5-FF94-40CD-B87D-13ED183B60A8}"/>
              </a:ext>
            </a:extLst>
          </p:cNvPr>
          <p:cNvSpPr>
            <a:spLocks xmlns:a="http://schemas.openxmlformats.org/drawingml/2006/main" noGrp="1"/>
          </p:cNvSpPr>
          <p:nvPr/>
        </p:nvSpPr>
        <p:spPr>
          <a:xfrm xmlns:a="http://schemas.openxmlformats.org/drawingml/2006/main">
            <a:off x="1178560" y="3246120"/>
            <a:ext cx="50292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100" b="1">
                <a:solidFill>
                  <a:schemeClr val="accent2"/>
                </a:solidFill>
              </a:rPr>
              <a:t>Δ = 0</a:t>
            </a:r>
            <a:endParaRPr sz="1100"/>
          </a:p>
        </p:txBody>
      </p:sp>
      <p:sp>
        <p:nvSpPr>
          <p:cNvPr id="21" name="Barra IC">
            <a:extLst xmlns:a="http://schemas.openxmlformats.org/drawingml/2006/main">
              <a:ext uri="{FF2B5EF4-FFF2-40B4-BE49-F238E27FC236}">
                <a16:creationId xmlns:a16="http://schemas.microsoft.com/office/drawing/2014/main" id="{591A0BEF-EA50-4020-9E9F-0F0D4E09348C}"/>
              </a:ext>
            </a:extLst>
          </p:cNvPr>
          <p:cNvSpPr>
            <a:spLocks xmlns:a="http://schemas.openxmlformats.org/drawingml/2006/main" noGrp="1"/>
          </p:cNvSpPr>
          <p:nvPr/>
        </p:nvSpPr>
        <p:spPr>
          <a:xfrm xmlns:a="http://schemas.openxmlformats.org/drawingml/2006/main">
            <a:off x="1835302" y="3739896"/>
            <a:ext cx="5655462" cy="292608"/>
          </a:xfrm>
          <a:prstGeom xmlns:a="http://schemas.openxmlformats.org/drawingml/2006/main" prst="rect">
            <a:avLst/>
          </a:prstGeom>
          <a:solidFill xmlns:a="http://schemas.openxmlformats.org/drawingml/2006/main">
            <a:schemeClr val="accent3">
              <a:alpha val="75000"/>
            </a:schemeClr>
          </a:solidFill>
        </p:spPr>
      </p:sp>
      <p:sp>
        <p:nvSpPr>
          <p:cNvPr id="22" name="Estimación">
            <a:extLst xmlns:a="http://schemas.openxmlformats.org/drawingml/2006/main">
              <a:ext uri="{FF2B5EF4-FFF2-40B4-BE49-F238E27FC236}">
                <a16:creationId xmlns:a16="http://schemas.microsoft.com/office/drawing/2014/main" id="{DBDD9DE4-2C48-4D26-BC3A-D8CBA42562D9}"/>
              </a:ext>
            </a:extLst>
          </p:cNvPr>
          <p:cNvSpPr>
            <a:spLocks xmlns:a="http://schemas.openxmlformats.org/drawingml/2006/main" noGrp="1"/>
          </p:cNvSpPr>
          <p:nvPr/>
        </p:nvSpPr>
        <p:spPr>
          <a:xfrm xmlns:a="http://schemas.openxmlformats.org/drawingml/2006/main">
            <a:off x="4553306" y="3776472"/>
            <a:ext cx="219456" cy="219456"/>
          </a:xfrm>
          <a:prstGeom xmlns:a="http://schemas.openxmlformats.org/drawingml/2006/main" prst="ellipse">
            <a:avLst/>
          </a:prstGeom>
          <a:solidFill xmlns:a="http://schemas.openxmlformats.org/drawingml/2006/main">
            <a:schemeClr val="bg1"/>
          </a:solidFill>
          <a:ln xmlns:a="http://schemas.openxmlformats.org/drawingml/2006/main" w="31750">
            <a:solidFill>
              <a:schemeClr val="accent3"/>
            </a:solidFill>
            <a:prstDash val="solid"/>
          </a:ln>
        </p:spPr>
      </p:sp>
      <p:sp>
        <p:nvSpPr>
          <p:cNvPr id="23" name="Text 20">
            <a:extLst xmlns:a="http://schemas.openxmlformats.org/drawingml/2006/main">
              <a:ext uri="{FF2B5EF4-FFF2-40B4-BE49-F238E27FC236}">
                <a16:creationId xmlns:a16="http://schemas.microsoft.com/office/drawing/2014/main" id="{E0255FCB-49F4-4D4F-848C-BEC2120F92D5}"/>
              </a:ext>
            </a:extLst>
          </p:cNvPr>
          <p:cNvSpPr>
            <a:spLocks xmlns:a="http://schemas.openxmlformats.org/drawingml/2006/main" noGrp="1"/>
          </p:cNvSpPr>
          <p:nvPr/>
        </p:nvSpPr>
        <p:spPr>
          <a:xfrm xmlns:a="http://schemas.openxmlformats.org/drawingml/2006/main">
            <a:off x="3931514" y="3310128"/>
            <a:ext cx="14630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400" b="1">
                <a:solidFill>
                  <a:schemeClr val="accent3"/>
                </a:solidFill>
              </a:rPr>
              <a:t>Δ̂ = 0,0181</a:t>
            </a:r>
            <a:endParaRPr sz="1400"/>
          </a:p>
        </p:txBody>
      </p:sp>
      <p:sp>
        <p:nvSpPr>
          <p:cNvPr id="24" name="Text 21">
            <a:extLst xmlns:a="http://schemas.openxmlformats.org/drawingml/2006/main">
              <a:ext uri="{FF2B5EF4-FFF2-40B4-BE49-F238E27FC236}">
                <a16:creationId xmlns:a16="http://schemas.microsoft.com/office/drawing/2014/main" id="{5700A7F9-D728-4CC3-B373-01AB55770200}"/>
              </a:ext>
            </a:extLst>
          </p:cNvPr>
          <p:cNvSpPr>
            <a:spLocks xmlns:a="http://schemas.openxmlformats.org/drawingml/2006/main" noGrp="1"/>
          </p:cNvSpPr>
          <p:nvPr/>
        </p:nvSpPr>
        <p:spPr>
          <a:xfrm xmlns:a="http://schemas.openxmlformats.org/drawingml/2006/main">
            <a:off x="4754880" y="2926080"/>
            <a:ext cx="37490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200">
                <a:solidFill>
                  <a:schemeClr val="accent4"/>
                </a:solidFill>
              </a:rPr>
              <a:t>El límite inferior (0,0007) queda muy cerca de cero.</a:t>
            </a:r>
            <a:endParaRPr sz="1200"/>
          </a:p>
        </p:txBody>
      </p:sp>
      <p:sp>
        <p:nvSpPr>
          <p:cNvPr id="25" name="Slide Number Placeholder 0">
            <a:extLst xmlns:a="http://schemas.openxmlformats.org/drawingml/2006/main">
              <a:ext uri="{FF2B5EF4-FFF2-40B4-BE49-F238E27FC236}">
                <a16:creationId xmlns:a16="http://schemas.microsoft.com/office/drawing/2014/main" id="{6702D1A5-898C-41EC-8362-027524CC8FA6}"/>
              </a:ext>
            </a:extLst>
          </p:cNvPr>
          <p:cNvSpPr>
            <a:spLocks xmlns:a="http://schemas.openxmlformats.org/drawingml/2006/main" noGrp="1"/>
          </p:cNvSpPr>
          <p:nvPr>
            <p:ph type="sldNum" idx="4294967295"/>
          </p:nvPr>
        </p:nvSpPr>
        <p:spPr>
          <a:xfrm xmlns:a="http://schemas.openxmlformats.org/drawingml/2006/main">
            <a:off x="8229600" y="4754880"/>
            <a:ext cx="457200" cy="228600"/>
          </a:xfrm>
          <a:prstGeom xmlns:a="http://schemas.openxmlformats.org/drawingml/2006/main" prst="rect">
            <a:avLst/>
          </a:prstGeom>
        </p:spPr>
        <p:txBody>
          <a:bodyPr xmlns:a="http://schemas.openxmlformats.org/drawingml/2006/main"/>
          <a:lstStyle xmlns:a="http://schemas.openxmlformats.org/drawingml/2006/main">
            <a:lvl1pPr>
              <a:buNone/>
              <a:defRPr sz="1000">
                <a:solidFill>
                  <a:schemeClr val="accent4"/>
                </a:solidFill>
              </a:defRPr>
            </a:lvl1pPr>
          </a:lstStyle>
          <a:p xmlns:a="http://schemas.openxmlformats.org/drawingml/2006/main">
            <a:pPr algn="r">
              <a:buNone/>
            </a:pPr>
            <a:fld id="{F7021451-1387-4CA6-816F-3879F97B5CBC}" type="slidenum">
              <a:rPr b="0"/>
              <a:t>5</a:t>
            </a:fld>
            <a:endParaRPr/>
          </a:p>
        </p:txBody>
      </p:sp>
    </p:spTree>
    <p:extLst>
      <p:ext uri="{BB962C8B-B14F-4D97-AF65-F5344CB8AC3E}">
        <p14:creationId xmlns:p14="http://schemas.microsoft.com/office/powerpoint/2010/main" val="8867087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73112C33-896D-413B-9CB5-D2066B128198}"/>
              </a:ext>
            </a:extLst>
          </p:cNvPr>
          <p:cNvSpPr>
            <a:spLocks xmlns:a="http://schemas.openxmlformats.org/drawingml/2006/main" noGrp="1"/>
          </p:cNvSpPr>
          <p:nvPr>
            <p:ph type="title" idx="101" hasCustomPrompt="1"/>
          </p:nvPr>
        </p:nvSpPr>
        <p:spPr>
          <a:xfrm xmlns:a="http://schemas.openxmlformats.org/drawingml/2006/main">
            <a:off x="457200" y="274320"/>
            <a:ext cx="82296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3000" b="1">
                <a:solidFill>
                  <a:schemeClr val="tx1"/>
                </a:solidFill>
              </a:rPr>
              <a:t>Procedimiento de bootstrap</a:t>
            </a:r>
            <a:endParaRPr sz="3000"/>
          </a:p>
        </p:txBody>
      </p:sp>
      <p:sp>
        <p:nvSpPr>
          <p:cNvPr id="3" name="Tarjeta paso 1">
            <a:extLst xmlns:a="http://schemas.openxmlformats.org/drawingml/2006/main">
              <a:ext uri="{FF2B5EF4-FFF2-40B4-BE49-F238E27FC236}">
                <a16:creationId xmlns:a16="http://schemas.microsoft.com/office/drawing/2014/main" id="{8AF22DF7-1051-4F50-9492-C773BE852A4C}"/>
              </a:ext>
            </a:extLst>
          </p:cNvPr>
          <p:cNvSpPr>
            <a:spLocks xmlns:a="http://schemas.openxmlformats.org/drawingml/2006/main" noGrp="1"/>
          </p:cNvSpPr>
          <p:nvPr/>
        </p:nvSpPr>
        <p:spPr>
          <a:xfrm xmlns:a="http://schemas.openxmlformats.org/drawingml/2006/main">
            <a:off x="457200" y="1143000"/>
            <a:ext cx="1517904" cy="2103120"/>
          </a:xfrm>
          <a:prstGeom xmlns:a="http://schemas.openxmlformats.org/drawingml/2006/main" prst="roundRect">
            <a:avLst>
              <a:gd name="adj" fmla="val 4819"/>
            </a:avLst>
          </a:prstGeom>
          <a:solidFill xmlns:a="http://schemas.openxmlformats.org/drawingml/2006/main">
            <a:schemeClr val="bg2"/>
          </a:solidFill>
        </p:spPr>
      </p:sp>
      <p:sp>
        <p:nvSpPr>
          <p:cNvPr id="4" name="Ficha paso 1">
            <a:extLst xmlns:a="http://schemas.openxmlformats.org/drawingml/2006/main">
              <a:ext uri="{FF2B5EF4-FFF2-40B4-BE49-F238E27FC236}">
                <a16:creationId xmlns:a16="http://schemas.microsoft.com/office/drawing/2014/main" id="{1494BBA2-2E1E-4A79-B642-E168E4FE172E}"/>
              </a:ext>
            </a:extLst>
          </p:cNvPr>
          <p:cNvSpPr>
            <a:spLocks xmlns:a="http://schemas.openxmlformats.org/drawingml/2006/main" noGrp="1"/>
          </p:cNvSpPr>
          <p:nvPr/>
        </p:nvSpPr>
        <p:spPr>
          <a:xfrm xmlns:a="http://schemas.openxmlformats.org/drawingml/2006/main">
            <a:off x="566928" y="1280160"/>
            <a:ext cx="365760" cy="365760"/>
          </a:xfrm>
          <a:prstGeom xmlns:a="http://schemas.openxmlformats.org/drawingml/2006/main" prst="ellipse">
            <a:avLst/>
          </a:prstGeom>
          <a:solidFill xmlns:a="http://schemas.openxmlformats.org/drawingml/2006/main">
            <a:srgbClr val="6B7A8C"/>
          </a:solidFill>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chemeClr val="bg1"/>
                </a:solidFill>
              </a:rPr>
              <a:t>1</a:t>
            </a:r>
            <a:endParaRPr sz="1400"/>
          </a:p>
        </p:txBody>
      </p:sp>
      <p:sp>
        <p:nvSpPr>
          <p:cNvPr id="5" name="Text 3">
            <a:extLst xmlns:a="http://schemas.openxmlformats.org/drawingml/2006/main">
              <a:ext uri="{FF2B5EF4-FFF2-40B4-BE49-F238E27FC236}">
                <a16:creationId xmlns:a16="http://schemas.microsoft.com/office/drawing/2014/main" id="{E8681948-B851-4B11-8CF7-70B178045484}"/>
              </a:ext>
            </a:extLst>
          </p:cNvPr>
          <p:cNvSpPr>
            <a:spLocks xmlns:a="http://schemas.openxmlformats.org/drawingml/2006/main" noGrp="1"/>
          </p:cNvSpPr>
          <p:nvPr/>
        </p:nvSpPr>
        <p:spPr>
          <a:xfrm xmlns:a="http://schemas.openxmlformats.org/drawingml/2006/main">
            <a:off x="566928" y="1737360"/>
            <a:ext cx="129844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b="1">
                <a:solidFill>
                  <a:schemeClr val="tx1"/>
                </a:solidFill>
              </a:rPr>
              <a:t>Datos</a:t>
            </a:r>
            <a:endParaRPr sz="1400"/>
          </a:p>
        </p:txBody>
      </p:sp>
      <p:sp>
        <p:nvSpPr>
          <p:cNvPr id="6" name="Text 4">
            <a:extLst xmlns:a="http://schemas.openxmlformats.org/drawingml/2006/main">
              <a:ext uri="{FF2B5EF4-FFF2-40B4-BE49-F238E27FC236}">
                <a16:creationId xmlns:a16="http://schemas.microsoft.com/office/drawing/2014/main" id="{E7F56F35-3141-4E04-B32A-E7553C172A58}"/>
              </a:ext>
            </a:extLst>
          </p:cNvPr>
          <p:cNvSpPr>
            <a:spLocks xmlns:a="http://schemas.openxmlformats.org/drawingml/2006/main" noGrp="1"/>
          </p:cNvSpPr>
          <p:nvPr/>
        </p:nvSpPr>
        <p:spPr>
          <a:xfrm xmlns:a="http://schemas.openxmlformats.org/drawingml/2006/main">
            <a:off x="566928" y="2057400"/>
            <a:ext cx="1298448"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a:solidFill>
                  <a:schemeClr val="tx1"/>
                </a:solidFill>
              </a:rPr>
              <a:t>nM = 43.418 y nB = 41.515 calificaciones observadas.</a:t>
            </a:r>
            <a:endParaRPr sz="1300"/>
          </a:p>
        </p:txBody>
      </p:sp>
      <p:sp>
        <p:nvSpPr>
          <p:cNvPr id="7" name="Tarjeta paso 2">
            <a:extLst xmlns:a="http://schemas.openxmlformats.org/drawingml/2006/main">
              <a:ext uri="{FF2B5EF4-FFF2-40B4-BE49-F238E27FC236}">
                <a16:creationId xmlns:a16="http://schemas.microsoft.com/office/drawing/2014/main" id="{0F08C70F-655E-4A47-9B92-6C49DDED5E27}"/>
              </a:ext>
            </a:extLst>
          </p:cNvPr>
          <p:cNvSpPr>
            <a:spLocks xmlns:a="http://schemas.openxmlformats.org/drawingml/2006/main" noGrp="1"/>
          </p:cNvSpPr>
          <p:nvPr/>
        </p:nvSpPr>
        <p:spPr>
          <a:xfrm xmlns:a="http://schemas.openxmlformats.org/drawingml/2006/main">
            <a:off x="2135124" y="1143000"/>
            <a:ext cx="1517904" cy="2103120"/>
          </a:xfrm>
          <a:prstGeom xmlns:a="http://schemas.openxmlformats.org/drawingml/2006/main" prst="roundRect">
            <a:avLst>
              <a:gd name="adj" fmla="val 4819"/>
            </a:avLst>
          </a:prstGeom>
          <a:solidFill xmlns:a="http://schemas.openxmlformats.org/drawingml/2006/main">
            <a:schemeClr val="bg2"/>
          </a:solidFill>
        </p:spPr>
      </p:sp>
      <p:sp>
        <p:nvSpPr>
          <p:cNvPr id="8" name="Ficha paso 2">
            <a:extLst xmlns:a="http://schemas.openxmlformats.org/drawingml/2006/main">
              <a:ext uri="{FF2B5EF4-FFF2-40B4-BE49-F238E27FC236}">
                <a16:creationId xmlns:a16="http://schemas.microsoft.com/office/drawing/2014/main" id="{B84564E8-E2D9-40AA-8CDD-C9ECF3A3A21D}"/>
              </a:ext>
            </a:extLst>
          </p:cNvPr>
          <p:cNvSpPr>
            <a:spLocks xmlns:a="http://schemas.openxmlformats.org/drawingml/2006/main" noGrp="1"/>
          </p:cNvSpPr>
          <p:nvPr/>
        </p:nvSpPr>
        <p:spPr>
          <a:xfrm xmlns:a="http://schemas.openxmlformats.org/drawingml/2006/main">
            <a:off x="2244852" y="1280160"/>
            <a:ext cx="365760" cy="365760"/>
          </a:xfrm>
          <a:prstGeom xmlns:a="http://schemas.openxmlformats.org/drawingml/2006/main" prst="ellipse">
            <a:avLst/>
          </a:prstGeom>
          <a:solidFill xmlns:a="http://schemas.openxmlformats.org/drawingml/2006/main">
            <a:srgbClr val="087E8B"/>
          </a:solidFill>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chemeClr val="bg1"/>
                </a:solidFill>
              </a:rPr>
              <a:t>2</a:t>
            </a:r>
            <a:endParaRPr sz="1400"/>
          </a:p>
        </p:txBody>
      </p:sp>
      <p:sp>
        <p:nvSpPr>
          <p:cNvPr id="9" name="Text 7">
            <a:extLst xmlns:a="http://schemas.openxmlformats.org/drawingml/2006/main">
              <a:ext uri="{FF2B5EF4-FFF2-40B4-BE49-F238E27FC236}">
                <a16:creationId xmlns:a16="http://schemas.microsoft.com/office/drawing/2014/main" id="{43F702E8-7DF6-42E2-BD0B-B5547A967A88}"/>
              </a:ext>
            </a:extLst>
          </p:cNvPr>
          <p:cNvSpPr>
            <a:spLocks xmlns:a="http://schemas.openxmlformats.org/drawingml/2006/main" noGrp="1"/>
          </p:cNvSpPr>
          <p:nvPr/>
        </p:nvSpPr>
        <p:spPr>
          <a:xfrm xmlns:a="http://schemas.openxmlformats.org/drawingml/2006/main">
            <a:off x="2244852" y="1737360"/>
            <a:ext cx="129844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b="1">
                <a:solidFill>
                  <a:schemeClr val="tx1"/>
                </a:solidFill>
              </a:rPr>
              <a:t>Remuestrear</a:t>
            </a:r>
            <a:endParaRPr sz="1400"/>
          </a:p>
        </p:txBody>
      </p:sp>
      <p:sp>
        <p:nvSpPr>
          <p:cNvPr id="10" name="Text 8">
            <a:extLst xmlns:a="http://schemas.openxmlformats.org/drawingml/2006/main">
              <a:ext uri="{FF2B5EF4-FFF2-40B4-BE49-F238E27FC236}">
                <a16:creationId xmlns:a16="http://schemas.microsoft.com/office/drawing/2014/main" id="{16326544-194F-4A0E-9F00-6E455442DA14}"/>
              </a:ext>
            </a:extLst>
          </p:cNvPr>
          <p:cNvSpPr>
            <a:spLocks xmlns:a="http://schemas.openxmlformats.org/drawingml/2006/main" noGrp="1"/>
          </p:cNvSpPr>
          <p:nvPr/>
        </p:nvSpPr>
        <p:spPr>
          <a:xfrm xmlns:a="http://schemas.openxmlformats.org/drawingml/2006/main">
            <a:off x="2244852" y="2057400"/>
            <a:ext cx="1298448"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a:solidFill>
                  <a:schemeClr val="tx1"/>
                </a:solidFill>
              </a:rPr>
              <a:t>Sortear con reemplazo, del mismo tamaño, en cada distrito.</a:t>
            </a:r>
            <a:endParaRPr sz="1300"/>
          </a:p>
        </p:txBody>
      </p:sp>
      <p:sp>
        <p:nvSpPr>
          <p:cNvPr id="11" name="Tarjeta paso 3">
            <a:extLst xmlns:a="http://schemas.openxmlformats.org/drawingml/2006/main">
              <a:ext uri="{FF2B5EF4-FFF2-40B4-BE49-F238E27FC236}">
                <a16:creationId xmlns:a16="http://schemas.microsoft.com/office/drawing/2014/main" id="{AE7EE6BD-7324-444C-88BC-4A1B088FED72}"/>
              </a:ext>
            </a:extLst>
          </p:cNvPr>
          <p:cNvSpPr>
            <a:spLocks xmlns:a="http://schemas.openxmlformats.org/drawingml/2006/main" noGrp="1"/>
          </p:cNvSpPr>
          <p:nvPr/>
        </p:nvSpPr>
        <p:spPr>
          <a:xfrm xmlns:a="http://schemas.openxmlformats.org/drawingml/2006/main">
            <a:off x="3813048" y="1143000"/>
            <a:ext cx="1517904" cy="2103120"/>
          </a:xfrm>
          <a:prstGeom xmlns:a="http://schemas.openxmlformats.org/drawingml/2006/main" prst="roundRect">
            <a:avLst>
              <a:gd name="adj" fmla="val 4819"/>
            </a:avLst>
          </a:prstGeom>
          <a:solidFill xmlns:a="http://schemas.openxmlformats.org/drawingml/2006/main">
            <a:schemeClr val="bg2"/>
          </a:solidFill>
        </p:spPr>
      </p:sp>
      <p:sp>
        <p:nvSpPr>
          <p:cNvPr id="12" name="Ficha paso 3">
            <a:extLst xmlns:a="http://schemas.openxmlformats.org/drawingml/2006/main">
              <a:ext uri="{FF2B5EF4-FFF2-40B4-BE49-F238E27FC236}">
                <a16:creationId xmlns:a16="http://schemas.microsoft.com/office/drawing/2014/main" id="{82DA6988-7F01-4106-8AA5-0EEEDBED9285}"/>
              </a:ext>
            </a:extLst>
          </p:cNvPr>
          <p:cNvSpPr>
            <a:spLocks xmlns:a="http://schemas.openxmlformats.org/drawingml/2006/main" noGrp="1"/>
          </p:cNvSpPr>
          <p:nvPr/>
        </p:nvSpPr>
        <p:spPr>
          <a:xfrm xmlns:a="http://schemas.openxmlformats.org/drawingml/2006/main">
            <a:off x="3922776" y="1280160"/>
            <a:ext cx="365760" cy="365760"/>
          </a:xfrm>
          <a:prstGeom xmlns:a="http://schemas.openxmlformats.org/drawingml/2006/main" prst="ellipse">
            <a:avLst/>
          </a:prstGeom>
          <a:solidFill xmlns:a="http://schemas.openxmlformats.org/drawingml/2006/main">
            <a:srgbClr val="C85A43"/>
          </a:solidFill>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chemeClr val="bg1"/>
                </a:solidFill>
              </a:rPr>
              <a:t>3</a:t>
            </a:r>
            <a:endParaRPr sz="1400"/>
          </a:p>
        </p:txBody>
      </p:sp>
      <p:sp>
        <p:nvSpPr>
          <p:cNvPr id="13" name="Text 11">
            <a:extLst xmlns:a="http://schemas.openxmlformats.org/drawingml/2006/main">
              <a:ext uri="{FF2B5EF4-FFF2-40B4-BE49-F238E27FC236}">
                <a16:creationId xmlns:a16="http://schemas.microsoft.com/office/drawing/2014/main" id="{02B9905D-6BDD-4465-BE1D-2A00C0CD4F9E}"/>
              </a:ext>
            </a:extLst>
          </p:cNvPr>
          <p:cNvSpPr>
            <a:spLocks xmlns:a="http://schemas.openxmlformats.org/drawingml/2006/main" noGrp="1"/>
          </p:cNvSpPr>
          <p:nvPr/>
        </p:nvSpPr>
        <p:spPr>
          <a:xfrm xmlns:a="http://schemas.openxmlformats.org/drawingml/2006/main">
            <a:off x="3922776" y="1737360"/>
            <a:ext cx="129844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b="1">
                <a:solidFill>
                  <a:schemeClr val="tx1"/>
                </a:solidFill>
              </a:rPr>
              <a:t>Calcular</a:t>
            </a:r>
            <a:endParaRPr sz="1400"/>
          </a:p>
        </p:txBody>
      </p:sp>
      <p:sp>
        <p:nvSpPr>
          <p:cNvPr id="14" name="Text 12">
            <a:extLst xmlns:a="http://schemas.openxmlformats.org/drawingml/2006/main">
              <a:ext uri="{FF2B5EF4-FFF2-40B4-BE49-F238E27FC236}">
                <a16:creationId xmlns:a16="http://schemas.microsoft.com/office/drawing/2014/main" id="{FE81BDD4-6B91-472A-8765-018177FC796D}"/>
              </a:ext>
            </a:extLst>
          </p:cNvPr>
          <p:cNvSpPr>
            <a:spLocks xmlns:a="http://schemas.openxmlformats.org/drawingml/2006/main" noGrp="1"/>
          </p:cNvSpPr>
          <p:nvPr/>
        </p:nvSpPr>
        <p:spPr>
          <a:xfrm xmlns:a="http://schemas.openxmlformats.org/drawingml/2006/main">
            <a:off x="3922776" y="2057400"/>
            <a:ext cx="1298448"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a:solidFill>
                  <a:schemeClr val="tx1"/>
                </a:solidFill>
              </a:rPr>
              <a:t>Ȳ*M, Ȳ*B y Δ* = Ȳ*M − Ȳ*B en cada remuestra.</a:t>
            </a:r>
            <a:endParaRPr sz="1300"/>
          </a:p>
        </p:txBody>
      </p:sp>
      <p:sp>
        <p:nvSpPr>
          <p:cNvPr id="15" name="Tarjeta paso 4">
            <a:extLst xmlns:a="http://schemas.openxmlformats.org/drawingml/2006/main">
              <a:ext uri="{FF2B5EF4-FFF2-40B4-BE49-F238E27FC236}">
                <a16:creationId xmlns:a16="http://schemas.microsoft.com/office/drawing/2014/main" id="{78868F9D-85CD-44D2-99FD-6BD386422ED9}"/>
              </a:ext>
            </a:extLst>
          </p:cNvPr>
          <p:cNvSpPr>
            <a:spLocks xmlns:a="http://schemas.openxmlformats.org/drawingml/2006/main" noGrp="1"/>
          </p:cNvSpPr>
          <p:nvPr/>
        </p:nvSpPr>
        <p:spPr>
          <a:xfrm xmlns:a="http://schemas.openxmlformats.org/drawingml/2006/main">
            <a:off x="5490972" y="1143000"/>
            <a:ext cx="1517904" cy="2103120"/>
          </a:xfrm>
          <a:prstGeom xmlns:a="http://schemas.openxmlformats.org/drawingml/2006/main" prst="roundRect">
            <a:avLst>
              <a:gd name="adj" fmla="val 4819"/>
            </a:avLst>
          </a:prstGeom>
          <a:solidFill xmlns:a="http://schemas.openxmlformats.org/drawingml/2006/main">
            <a:schemeClr val="bg2"/>
          </a:solidFill>
        </p:spPr>
      </p:sp>
      <p:sp>
        <p:nvSpPr>
          <p:cNvPr id="16" name="Ficha paso 4">
            <a:extLst xmlns:a="http://schemas.openxmlformats.org/drawingml/2006/main">
              <a:ext uri="{FF2B5EF4-FFF2-40B4-BE49-F238E27FC236}">
                <a16:creationId xmlns:a16="http://schemas.microsoft.com/office/drawing/2014/main" id="{442A7C07-2421-4A4C-8622-6C825229ECE5}"/>
              </a:ext>
            </a:extLst>
          </p:cNvPr>
          <p:cNvSpPr>
            <a:spLocks xmlns:a="http://schemas.openxmlformats.org/drawingml/2006/main" noGrp="1"/>
          </p:cNvSpPr>
          <p:nvPr/>
        </p:nvSpPr>
        <p:spPr>
          <a:xfrm xmlns:a="http://schemas.openxmlformats.org/drawingml/2006/main">
            <a:off x="5600700" y="1280160"/>
            <a:ext cx="365760" cy="365760"/>
          </a:xfrm>
          <a:prstGeom xmlns:a="http://schemas.openxmlformats.org/drawingml/2006/main" prst="ellipse">
            <a:avLst/>
          </a:prstGeom>
          <a:solidFill xmlns:a="http://schemas.openxmlformats.org/drawingml/2006/main">
            <a:srgbClr val="493C73"/>
          </a:solidFill>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chemeClr val="bg1"/>
                </a:solidFill>
              </a:rPr>
              <a:t>4</a:t>
            </a:r>
            <a:endParaRPr sz="1400"/>
          </a:p>
        </p:txBody>
      </p:sp>
      <p:sp>
        <p:nvSpPr>
          <p:cNvPr id="17" name="Text 15">
            <a:extLst xmlns:a="http://schemas.openxmlformats.org/drawingml/2006/main">
              <a:ext uri="{FF2B5EF4-FFF2-40B4-BE49-F238E27FC236}">
                <a16:creationId xmlns:a16="http://schemas.microsoft.com/office/drawing/2014/main" id="{39677ADA-B24E-45C6-BB40-D16ADCA89E98}"/>
              </a:ext>
            </a:extLst>
          </p:cNvPr>
          <p:cNvSpPr>
            <a:spLocks xmlns:a="http://schemas.openxmlformats.org/drawingml/2006/main" noGrp="1"/>
          </p:cNvSpPr>
          <p:nvPr/>
        </p:nvSpPr>
        <p:spPr>
          <a:xfrm xmlns:a="http://schemas.openxmlformats.org/drawingml/2006/main">
            <a:off x="5600700" y="1737360"/>
            <a:ext cx="129844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b="1">
                <a:solidFill>
                  <a:schemeClr val="tx1"/>
                </a:solidFill>
              </a:rPr>
              <a:t>Repetir</a:t>
            </a:r>
            <a:endParaRPr sz="1400"/>
          </a:p>
        </p:txBody>
      </p:sp>
      <p:sp>
        <p:nvSpPr>
          <p:cNvPr id="18" name="Text 16">
            <a:extLst xmlns:a="http://schemas.openxmlformats.org/drawingml/2006/main">
              <a:ext uri="{FF2B5EF4-FFF2-40B4-BE49-F238E27FC236}">
                <a16:creationId xmlns:a16="http://schemas.microsoft.com/office/drawing/2014/main" id="{D89D8779-6552-4224-A0D8-C7AE403A31C1}"/>
              </a:ext>
            </a:extLst>
          </p:cNvPr>
          <p:cNvSpPr>
            <a:spLocks xmlns:a="http://schemas.openxmlformats.org/drawingml/2006/main" noGrp="1"/>
          </p:cNvSpPr>
          <p:nvPr/>
        </p:nvSpPr>
        <p:spPr>
          <a:xfrm xmlns:a="http://schemas.openxmlformats.org/drawingml/2006/main">
            <a:off x="5600700" y="2057400"/>
            <a:ext cx="1298448"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a:solidFill>
                  <a:schemeClr val="tx1"/>
                </a:solidFill>
              </a:rPr>
              <a:t>B = 20.000 veces. Guardar los estadísticos.</a:t>
            </a:r>
            <a:endParaRPr sz="1300"/>
          </a:p>
        </p:txBody>
      </p:sp>
      <p:sp>
        <p:nvSpPr>
          <p:cNvPr id="19" name="Tarjeta paso 5">
            <a:extLst xmlns:a="http://schemas.openxmlformats.org/drawingml/2006/main">
              <a:ext uri="{FF2B5EF4-FFF2-40B4-BE49-F238E27FC236}">
                <a16:creationId xmlns:a16="http://schemas.microsoft.com/office/drawing/2014/main" id="{DBA887C2-24F2-4207-B885-95AE96BCB257}"/>
              </a:ext>
            </a:extLst>
          </p:cNvPr>
          <p:cNvSpPr>
            <a:spLocks xmlns:a="http://schemas.openxmlformats.org/drawingml/2006/main" noGrp="1"/>
          </p:cNvSpPr>
          <p:nvPr/>
        </p:nvSpPr>
        <p:spPr>
          <a:xfrm xmlns:a="http://schemas.openxmlformats.org/drawingml/2006/main">
            <a:off x="7168896" y="1143000"/>
            <a:ext cx="1517904" cy="2103120"/>
          </a:xfrm>
          <a:prstGeom xmlns:a="http://schemas.openxmlformats.org/drawingml/2006/main" prst="roundRect">
            <a:avLst>
              <a:gd name="adj" fmla="val 4819"/>
            </a:avLst>
          </a:prstGeom>
          <a:solidFill xmlns:a="http://schemas.openxmlformats.org/drawingml/2006/main">
            <a:schemeClr val="bg2"/>
          </a:solidFill>
        </p:spPr>
      </p:sp>
      <p:sp>
        <p:nvSpPr>
          <p:cNvPr id="20" name="Ficha paso 5">
            <a:extLst xmlns:a="http://schemas.openxmlformats.org/drawingml/2006/main">
              <a:ext uri="{FF2B5EF4-FFF2-40B4-BE49-F238E27FC236}">
                <a16:creationId xmlns:a16="http://schemas.microsoft.com/office/drawing/2014/main" id="{028A727E-C2E8-428A-B9CF-CC9F820459DA}"/>
              </a:ext>
            </a:extLst>
          </p:cNvPr>
          <p:cNvSpPr>
            <a:spLocks xmlns:a="http://schemas.openxmlformats.org/drawingml/2006/main" noGrp="1"/>
          </p:cNvSpPr>
          <p:nvPr/>
        </p:nvSpPr>
        <p:spPr>
          <a:xfrm xmlns:a="http://schemas.openxmlformats.org/drawingml/2006/main">
            <a:off x="7278624" y="1280160"/>
            <a:ext cx="365760" cy="365760"/>
          </a:xfrm>
          <a:prstGeom xmlns:a="http://schemas.openxmlformats.org/drawingml/2006/main" prst="ellipse">
            <a:avLst/>
          </a:prstGeom>
          <a:solidFill xmlns:a="http://schemas.openxmlformats.org/drawingml/2006/main">
            <a:srgbClr val="1F2A37"/>
          </a:solidFill>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chemeClr val="bg1"/>
                </a:solidFill>
              </a:rPr>
              <a:t>5</a:t>
            </a:r>
            <a:endParaRPr sz="1400"/>
          </a:p>
        </p:txBody>
      </p:sp>
      <p:sp>
        <p:nvSpPr>
          <p:cNvPr id="21" name="Text 19">
            <a:extLst xmlns:a="http://schemas.openxmlformats.org/drawingml/2006/main">
              <a:ext uri="{FF2B5EF4-FFF2-40B4-BE49-F238E27FC236}">
                <a16:creationId xmlns:a16="http://schemas.microsoft.com/office/drawing/2014/main" id="{D533D8FD-1672-49EC-9DE0-FB7E44174F13}"/>
              </a:ext>
            </a:extLst>
          </p:cNvPr>
          <p:cNvSpPr>
            <a:spLocks xmlns:a="http://schemas.openxmlformats.org/drawingml/2006/main" noGrp="1"/>
          </p:cNvSpPr>
          <p:nvPr/>
        </p:nvSpPr>
        <p:spPr>
          <a:xfrm xmlns:a="http://schemas.openxmlformats.org/drawingml/2006/main">
            <a:off x="7278624" y="1737360"/>
            <a:ext cx="129844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b="1">
                <a:solidFill>
                  <a:schemeClr val="tx1"/>
                </a:solidFill>
              </a:rPr>
              <a:t>Resumir</a:t>
            </a:r>
            <a:endParaRPr sz="1400"/>
          </a:p>
        </p:txBody>
      </p:sp>
      <p:sp>
        <p:nvSpPr>
          <p:cNvPr id="22" name="Text 20">
            <a:extLst xmlns:a="http://schemas.openxmlformats.org/drawingml/2006/main">
              <a:ext uri="{FF2B5EF4-FFF2-40B4-BE49-F238E27FC236}">
                <a16:creationId xmlns:a16="http://schemas.microsoft.com/office/drawing/2014/main" id="{A84B93FF-43A5-43EB-92B7-3CB5FD97C567}"/>
              </a:ext>
            </a:extLst>
          </p:cNvPr>
          <p:cNvSpPr>
            <a:spLocks xmlns:a="http://schemas.openxmlformats.org/drawingml/2006/main" noGrp="1"/>
          </p:cNvSpPr>
          <p:nvPr/>
        </p:nvSpPr>
        <p:spPr>
          <a:xfrm xmlns:a="http://schemas.openxmlformats.org/drawingml/2006/main">
            <a:off x="7278624" y="2057400"/>
            <a:ext cx="1298448"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a:solidFill>
                  <a:schemeClr val="tx1"/>
                </a:solidFill>
              </a:rPr>
              <a:t>EE = desv. estándar de las réplicas. IC = percentiles 2,5 y 97,5.</a:t>
            </a:r>
            <a:endParaRPr sz="1300"/>
          </a:p>
        </p:txBody>
      </p:sp>
      <p:sp>
        <p:nvSpPr>
          <p:cNvPr id="23" name="Text 21">
            <a:extLst xmlns:a="http://schemas.openxmlformats.org/drawingml/2006/main">
              <a:ext uri="{FF2B5EF4-FFF2-40B4-BE49-F238E27FC236}">
                <a16:creationId xmlns:a16="http://schemas.microsoft.com/office/drawing/2014/main" id="{37C824E8-65A3-40B4-83E8-E1C90CC19094}"/>
              </a:ext>
            </a:extLst>
          </p:cNvPr>
          <p:cNvSpPr>
            <a:spLocks xmlns:a="http://schemas.openxmlformats.org/drawingml/2006/main" noGrp="1"/>
          </p:cNvSpPr>
          <p:nvPr/>
        </p:nvSpPr>
        <p:spPr>
          <a:xfrm xmlns:a="http://schemas.openxmlformats.org/drawingml/2006/main">
            <a:off x="457200" y="3520440"/>
            <a:ext cx="26060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b="1">
                <a:solidFill>
                  <a:schemeClr val="accent3"/>
                </a:solidFill>
              </a:rPr>
              <a:t>Origen y uso actual</a:t>
            </a:r>
            <a:endParaRPr sz="1400"/>
          </a:p>
        </p:txBody>
      </p:sp>
      <p:sp>
        <p:nvSpPr>
          <p:cNvPr id="24" name="Text 22">
            <a:extLst xmlns:a="http://schemas.openxmlformats.org/drawingml/2006/main">
              <a:ext uri="{FF2B5EF4-FFF2-40B4-BE49-F238E27FC236}">
                <a16:creationId xmlns:a16="http://schemas.microsoft.com/office/drawing/2014/main" id="{FCA54597-848F-4C83-AD2D-B12FD28DE65F}"/>
              </a:ext>
            </a:extLst>
          </p:cNvPr>
          <p:cNvSpPr>
            <a:spLocks xmlns:a="http://schemas.openxmlformats.org/drawingml/2006/main" noGrp="1"/>
          </p:cNvSpPr>
          <p:nvPr/>
        </p:nvSpPr>
        <p:spPr>
          <a:xfrm xmlns:a="http://schemas.openxmlformats.org/drawingml/2006/main">
            <a:off x="457200" y="3822192"/>
            <a:ext cx="260604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chemeClr val="tx1"/>
                </a:solidFill>
              </a:rPr>
              <a:t>Efron (1979). Estima errores estándar e intervalos de estadísticas con distribución difícil de derivar.</a:t>
            </a:r>
            <a:endParaRPr sz="1200"/>
          </a:p>
        </p:txBody>
      </p:sp>
      <p:sp>
        <p:nvSpPr>
          <p:cNvPr id="25" name="Text 23">
            <a:extLst xmlns:a="http://schemas.openxmlformats.org/drawingml/2006/main">
              <a:ext uri="{FF2B5EF4-FFF2-40B4-BE49-F238E27FC236}">
                <a16:creationId xmlns:a16="http://schemas.microsoft.com/office/drawing/2014/main" id="{D6B3C62C-AD46-4BBC-8ED6-C94AA7A4E0E4}"/>
              </a:ext>
            </a:extLst>
          </p:cNvPr>
          <p:cNvSpPr>
            <a:spLocks xmlns:a="http://schemas.openxmlformats.org/drawingml/2006/main" noGrp="1"/>
          </p:cNvSpPr>
          <p:nvPr/>
        </p:nvSpPr>
        <p:spPr>
          <a:xfrm xmlns:a="http://schemas.openxmlformats.org/drawingml/2006/main">
            <a:off x="3246120" y="3520440"/>
            <a:ext cx="26060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b="1">
                <a:solidFill>
                  <a:schemeClr val="accent3"/>
                </a:solidFill>
              </a:rPr>
              <a:t>Implementación propia</a:t>
            </a:r>
            <a:endParaRPr sz="1400"/>
          </a:p>
        </p:txBody>
      </p:sp>
      <p:sp>
        <p:nvSpPr>
          <p:cNvPr id="26" name="Text 24">
            <a:extLst xmlns:a="http://schemas.openxmlformats.org/drawingml/2006/main">
              <a:ext uri="{FF2B5EF4-FFF2-40B4-BE49-F238E27FC236}">
                <a16:creationId xmlns:a16="http://schemas.microsoft.com/office/drawing/2014/main" id="{53994022-C538-423A-925A-5239716B2D53}"/>
              </a:ext>
            </a:extLst>
          </p:cNvPr>
          <p:cNvSpPr>
            <a:spLocks xmlns:a="http://schemas.openxmlformats.org/drawingml/2006/main" noGrp="1"/>
          </p:cNvSpPr>
          <p:nvPr/>
        </p:nvSpPr>
        <p:spPr>
          <a:xfrm xmlns:a="http://schemas.openxmlformats.org/drawingml/2006/main">
            <a:off x="3246120" y="3822192"/>
            <a:ext cx="260604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chemeClr val="tx1"/>
                </a:solidFill>
              </a:rPr>
              <a:t>Función propia en NumPy que sortea índices con reemplazo. B = 20.000 réplicas por distrito.</a:t>
            </a:r>
            <a:endParaRPr sz="1200"/>
          </a:p>
        </p:txBody>
      </p:sp>
      <p:sp>
        <p:nvSpPr>
          <p:cNvPr id="27" name="Text 25">
            <a:extLst xmlns:a="http://schemas.openxmlformats.org/drawingml/2006/main">
              <a:ext uri="{FF2B5EF4-FFF2-40B4-BE49-F238E27FC236}">
                <a16:creationId xmlns:a16="http://schemas.microsoft.com/office/drawing/2014/main" id="{43723A91-8E85-4D11-B59B-51DA838BC2C6}"/>
              </a:ext>
            </a:extLst>
          </p:cNvPr>
          <p:cNvSpPr>
            <a:spLocks xmlns:a="http://schemas.openxmlformats.org/drawingml/2006/main" noGrp="1"/>
          </p:cNvSpPr>
          <p:nvPr/>
        </p:nvSpPr>
        <p:spPr>
          <a:xfrm xmlns:a="http://schemas.openxmlformats.org/drawingml/2006/main">
            <a:off x="6035040" y="3520440"/>
            <a:ext cx="26060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b="1">
                <a:solidFill>
                  <a:schemeClr val="accent3"/>
                </a:solidFill>
              </a:rPr>
              <a:t>Relevancia moderna</a:t>
            </a:r>
            <a:endParaRPr sz="1400"/>
          </a:p>
        </p:txBody>
      </p:sp>
      <p:sp>
        <p:nvSpPr>
          <p:cNvPr id="28" name="Text 26">
            <a:extLst xmlns:a="http://schemas.openxmlformats.org/drawingml/2006/main">
              <a:ext uri="{FF2B5EF4-FFF2-40B4-BE49-F238E27FC236}">
                <a16:creationId xmlns:a16="http://schemas.microsoft.com/office/drawing/2014/main" id="{FD5770F5-B2E5-4E80-B819-A730FB450C03}"/>
              </a:ext>
            </a:extLst>
          </p:cNvPr>
          <p:cNvSpPr>
            <a:spLocks xmlns:a="http://schemas.openxmlformats.org/drawingml/2006/main" noGrp="1"/>
          </p:cNvSpPr>
          <p:nvPr/>
        </p:nvSpPr>
        <p:spPr>
          <a:xfrm xmlns:a="http://schemas.openxmlformats.org/drawingml/2006/main">
            <a:off x="6035040" y="3822192"/>
            <a:ext cx="260604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chemeClr val="tx1"/>
                </a:solidFill>
              </a:rPr>
              <a:t>Se aplica a medianas, cuantiles y regresión. Su validez depende de los supuestos de muestreo.</a:t>
            </a:r>
            <a:endParaRPr sz="1200"/>
          </a:p>
        </p:txBody>
      </p:sp>
      <p:sp>
        <p:nvSpPr>
          <p:cNvPr id="29" name="Slide Number Placeholder 0">
            <a:extLst xmlns:a="http://schemas.openxmlformats.org/drawingml/2006/main">
              <a:ext uri="{FF2B5EF4-FFF2-40B4-BE49-F238E27FC236}">
                <a16:creationId xmlns:a16="http://schemas.microsoft.com/office/drawing/2014/main" id="{9D0F3E8C-1B47-468A-84F5-8DC291E64519}"/>
              </a:ext>
            </a:extLst>
          </p:cNvPr>
          <p:cNvSpPr>
            <a:spLocks xmlns:a="http://schemas.openxmlformats.org/drawingml/2006/main" noGrp="1"/>
          </p:cNvSpPr>
          <p:nvPr>
            <p:ph type="sldNum" idx="4294967295"/>
          </p:nvPr>
        </p:nvSpPr>
        <p:spPr>
          <a:xfrm xmlns:a="http://schemas.openxmlformats.org/drawingml/2006/main">
            <a:off x="8229600" y="4754880"/>
            <a:ext cx="457200" cy="228600"/>
          </a:xfrm>
          <a:prstGeom xmlns:a="http://schemas.openxmlformats.org/drawingml/2006/main" prst="rect">
            <a:avLst/>
          </a:prstGeom>
        </p:spPr>
        <p:txBody>
          <a:bodyPr xmlns:a="http://schemas.openxmlformats.org/drawingml/2006/main"/>
          <a:lstStyle xmlns:a="http://schemas.openxmlformats.org/drawingml/2006/main">
            <a:lvl1pPr>
              <a:buNone/>
              <a:defRPr sz="1000">
                <a:solidFill>
                  <a:schemeClr val="accent4"/>
                </a:solidFill>
              </a:defRPr>
            </a:lvl1pPr>
          </a:lstStyle>
          <a:p xmlns:a="http://schemas.openxmlformats.org/drawingml/2006/main">
            <a:pPr algn="r">
              <a:buNone/>
            </a:pPr>
            <a:fld id="{F7021451-1387-4CA6-816F-3879F97B5CBC}" type="slidenum">
              <a:rPr b="0"/>
              <a:t>6</a:t>
            </a:fld>
            <a:endParaRPr/>
          </a:p>
        </p:txBody>
      </p:sp>
    </p:spTree>
    <p:extLst>
      <p:ext uri="{BB962C8B-B14F-4D97-AF65-F5344CB8AC3E}">
        <p14:creationId xmlns:p14="http://schemas.microsoft.com/office/powerpoint/2010/main" val="103677022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6991E91B-BDCD-45D8-A1CB-06E607CE402D}"/>
              </a:ext>
            </a:extLst>
          </p:cNvPr>
          <p:cNvSpPr>
            <a:spLocks xmlns:a="http://schemas.openxmlformats.org/drawingml/2006/main" noGrp="1"/>
          </p:cNvSpPr>
          <p:nvPr>
            <p:ph type="title" idx="101" hasCustomPrompt="1"/>
          </p:nvPr>
        </p:nvSpPr>
        <p:spPr>
          <a:xfrm xmlns:a="http://schemas.openxmlformats.org/drawingml/2006/main">
            <a:off x="457200" y="274320"/>
            <a:ext cx="82296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3000" b="1">
                <a:solidFill>
                  <a:schemeClr val="tx1"/>
                </a:solidFill>
              </a:rPr>
              <a:t>Distribución de las réplicas bootstrap</a:t>
            </a:r>
            <a:endParaRPr sz="3000"/>
          </a:p>
        </p:txBody>
      </p:sp>
      <p:sp>
        <p:nvSpPr>
          <p:cNvPr id="5" name="Tarjeta cifra 1">
            <a:extLst xmlns:a="http://schemas.openxmlformats.org/drawingml/2006/main">
              <a:ext uri="{FF2B5EF4-FFF2-40B4-BE49-F238E27FC236}">
                <a16:creationId xmlns:a16="http://schemas.microsoft.com/office/drawing/2014/main" id="{CDA43996-3811-41A4-8255-6C665640DEB7}"/>
              </a:ext>
            </a:extLst>
          </p:cNvPr>
          <p:cNvSpPr>
            <a:spLocks xmlns:a="http://schemas.openxmlformats.org/drawingml/2006/main" noGrp="1"/>
          </p:cNvSpPr>
          <p:nvPr/>
        </p:nvSpPr>
        <p:spPr>
          <a:xfrm xmlns:a="http://schemas.openxmlformats.org/drawingml/2006/main">
            <a:off x="457200" y="3703320"/>
            <a:ext cx="2651760" cy="868680"/>
          </a:xfrm>
          <a:prstGeom xmlns:a="http://schemas.openxmlformats.org/drawingml/2006/main" prst="roundRect">
            <a:avLst>
              <a:gd name="adj" fmla="val 8421"/>
            </a:avLst>
          </a:prstGeom>
          <a:solidFill xmlns:a="http://schemas.openxmlformats.org/drawingml/2006/main">
            <a:schemeClr val="bg2"/>
          </a:solidFill>
        </p:spPr>
      </p:sp>
      <p:sp>
        <p:nvSpPr>
          <p:cNvPr id="6" name="Text 2">
            <a:extLst xmlns:a="http://schemas.openxmlformats.org/drawingml/2006/main">
              <a:ext uri="{FF2B5EF4-FFF2-40B4-BE49-F238E27FC236}">
                <a16:creationId xmlns:a16="http://schemas.microsoft.com/office/drawing/2014/main" id="{8E4176D8-2A9C-4821-893F-7A41B4AD4217}"/>
              </a:ext>
            </a:extLst>
          </p:cNvPr>
          <p:cNvSpPr>
            <a:spLocks xmlns:a="http://schemas.openxmlformats.org/drawingml/2006/main" noGrp="1"/>
          </p:cNvSpPr>
          <p:nvPr/>
        </p:nvSpPr>
        <p:spPr>
          <a:xfrm xmlns:a="http://schemas.openxmlformats.org/drawingml/2006/main">
            <a:off x="566928" y="3749040"/>
            <a:ext cx="2432304"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493C73"/>
                </a:solidFill>
                <a:latin typeface="Cambria"/>
                <a:ea typeface="Cambria"/>
                <a:cs typeface="Cambria"/>
              </a:rPr>
              <a:t>0,00884</a:t>
            </a:r>
            <a:endParaRPr sz="2000"/>
          </a:p>
        </p:txBody>
      </p:sp>
      <p:sp>
        <p:nvSpPr>
          <p:cNvPr id="7" name="Text 3">
            <a:extLst xmlns:a="http://schemas.openxmlformats.org/drawingml/2006/main">
              <a:ext uri="{FF2B5EF4-FFF2-40B4-BE49-F238E27FC236}">
                <a16:creationId xmlns:a16="http://schemas.microsoft.com/office/drawing/2014/main" id="{0BA48E98-7B70-41A2-A0AD-EA0236730473}"/>
              </a:ext>
            </a:extLst>
          </p:cNvPr>
          <p:cNvSpPr>
            <a:spLocks xmlns:a="http://schemas.openxmlformats.org/drawingml/2006/main" noGrp="1"/>
          </p:cNvSpPr>
          <p:nvPr/>
        </p:nvSpPr>
        <p:spPr>
          <a:xfrm xmlns:a="http://schemas.openxmlformats.org/drawingml/2006/main">
            <a:off x="566928" y="4206240"/>
            <a:ext cx="2432304"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chemeClr val="tx1"/>
                </a:solidFill>
              </a:rPr>
              <a:t>EE bootstrap de Δ</a:t>
            </a:r>
            <a:endParaRPr sz="1100"/>
          </a:p>
        </p:txBody>
      </p:sp>
      <p:sp>
        <p:nvSpPr>
          <p:cNvPr id="8" name="Tarjeta cifra 2">
            <a:extLst xmlns:a="http://schemas.openxmlformats.org/drawingml/2006/main">
              <a:ext uri="{FF2B5EF4-FFF2-40B4-BE49-F238E27FC236}">
                <a16:creationId xmlns:a16="http://schemas.microsoft.com/office/drawing/2014/main" id="{19666519-FF17-4FC3-988A-A62D7602FCAE}"/>
              </a:ext>
            </a:extLst>
          </p:cNvPr>
          <p:cNvSpPr>
            <a:spLocks xmlns:a="http://schemas.openxmlformats.org/drawingml/2006/main" noGrp="1"/>
          </p:cNvSpPr>
          <p:nvPr/>
        </p:nvSpPr>
        <p:spPr>
          <a:xfrm xmlns:a="http://schemas.openxmlformats.org/drawingml/2006/main">
            <a:off x="3246120" y="3703320"/>
            <a:ext cx="2651760" cy="868680"/>
          </a:xfrm>
          <a:prstGeom xmlns:a="http://schemas.openxmlformats.org/drawingml/2006/main" prst="roundRect">
            <a:avLst>
              <a:gd name="adj" fmla="val 8421"/>
            </a:avLst>
          </a:prstGeom>
          <a:solidFill xmlns:a="http://schemas.openxmlformats.org/drawingml/2006/main">
            <a:schemeClr val="bg2"/>
          </a:solidFill>
        </p:spPr>
      </p:sp>
      <p:sp>
        <p:nvSpPr>
          <p:cNvPr id="9" name="Text 5">
            <a:extLst xmlns:a="http://schemas.openxmlformats.org/drawingml/2006/main">
              <a:ext uri="{FF2B5EF4-FFF2-40B4-BE49-F238E27FC236}">
                <a16:creationId xmlns:a16="http://schemas.microsoft.com/office/drawing/2014/main" id="{70FA2BAE-ED2E-4A55-ABFB-6DC844AA55B5}"/>
              </a:ext>
            </a:extLst>
          </p:cNvPr>
          <p:cNvSpPr>
            <a:spLocks xmlns:a="http://schemas.openxmlformats.org/drawingml/2006/main" noGrp="1"/>
          </p:cNvSpPr>
          <p:nvPr/>
        </p:nvSpPr>
        <p:spPr>
          <a:xfrm xmlns:a="http://schemas.openxmlformats.org/drawingml/2006/main">
            <a:off x="3355848" y="3749040"/>
            <a:ext cx="2432304"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493C73"/>
                </a:solidFill>
                <a:latin typeface="Cambria"/>
                <a:ea typeface="Cambria"/>
                <a:cs typeface="Cambria"/>
              </a:rPr>
              <a:t>[0,0006; 0,0354]</a:t>
            </a:r>
            <a:endParaRPr sz="2000"/>
          </a:p>
        </p:txBody>
      </p:sp>
      <p:sp>
        <p:nvSpPr>
          <p:cNvPr id="10" name="Text 6">
            <a:extLst xmlns:a="http://schemas.openxmlformats.org/drawingml/2006/main">
              <a:ext uri="{FF2B5EF4-FFF2-40B4-BE49-F238E27FC236}">
                <a16:creationId xmlns:a16="http://schemas.microsoft.com/office/drawing/2014/main" id="{CFD021E2-9B81-4BA4-8DEA-CFC9BA3F8BD6}"/>
              </a:ext>
            </a:extLst>
          </p:cNvPr>
          <p:cNvSpPr>
            <a:spLocks xmlns:a="http://schemas.openxmlformats.org/drawingml/2006/main" noGrp="1"/>
          </p:cNvSpPr>
          <p:nvPr/>
        </p:nvSpPr>
        <p:spPr>
          <a:xfrm xmlns:a="http://schemas.openxmlformats.org/drawingml/2006/main">
            <a:off x="3355848" y="4206240"/>
            <a:ext cx="2432304"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chemeClr val="tx1"/>
                </a:solidFill>
              </a:rPr>
              <a:t>IC percentil 95% (barras oscuras)</a:t>
            </a:r>
            <a:endParaRPr sz="1100"/>
          </a:p>
        </p:txBody>
      </p:sp>
      <p:sp>
        <p:nvSpPr>
          <p:cNvPr id="11" name="Tarjeta cifra 3">
            <a:extLst xmlns:a="http://schemas.openxmlformats.org/drawingml/2006/main">
              <a:ext uri="{FF2B5EF4-FFF2-40B4-BE49-F238E27FC236}">
                <a16:creationId xmlns:a16="http://schemas.microsoft.com/office/drawing/2014/main" id="{C6C4B0D7-F477-46A9-9D61-AB3938C2FDE9}"/>
              </a:ext>
            </a:extLst>
          </p:cNvPr>
          <p:cNvSpPr>
            <a:spLocks xmlns:a="http://schemas.openxmlformats.org/drawingml/2006/main" noGrp="1"/>
          </p:cNvSpPr>
          <p:nvPr/>
        </p:nvSpPr>
        <p:spPr>
          <a:xfrm xmlns:a="http://schemas.openxmlformats.org/drawingml/2006/main">
            <a:off x="6035040" y="3703320"/>
            <a:ext cx="2651760" cy="868680"/>
          </a:xfrm>
          <a:prstGeom xmlns:a="http://schemas.openxmlformats.org/drawingml/2006/main" prst="roundRect">
            <a:avLst>
              <a:gd name="adj" fmla="val 8421"/>
            </a:avLst>
          </a:prstGeom>
          <a:solidFill xmlns:a="http://schemas.openxmlformats.org/drawingml/2006/main">
            <a:schemeClr val="bg2"/>
          </a:solidFill>
        </p:spPr>
      </p:sp>
      <p:sp>
        <p:nvSpPr>
          <p:cNvPr id="12" name="Text 8">
            <a:extLst xmlns:a="http://schemas.openxmlformats.org/drawingml/2006/main">
              <a:ext uri="{FF2B5EF4-FFF2-40B4-BE49-F238E27FC236}">
                <a16:creationId xmlns:a16="http://schemas.microsoft.com/office/drawing/2014/main" id="{B85682C2-1969-417E-8728-57CB837B33D9}"/>
              </a:ext>
            </a:extLst>
          </p:cNvPr>
          <p:cNvSpPr>
            <a:spLocks xmlns:a="http://schemas.openxmlformats.org/drawingml/2006/main" noGrp="1"/>
          </p:cNvSpPr>
          <p:nvPr/>
        </p:nvSpPr>
        <p:spPr>
          <a:xfrm xmlns:a="http://schemas.openxmlformats.org/drawingml/2006/main">
            <a:off x="6144768" y="3749040"/>
            <a:ext cx="2432304"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6B7A8C"/>
                </a:solidFill>
                <a:latin typeface="Cambria"/>
                <a:ea typeface="Cambria"/>
                <a:cs typeface="Cambria"/>
              </a:rPr>
              <a:t>0,00004</a:t>
            </a:r>
            <a:endParaRPr sz="2000"/>
          </a:p>
        </p:txBody>
      </p:sp>
      <p:sp>
        <p:nvSpPr>
          <p:cNvPr id="13" name="Text 9">
            <a:extLst xmlns:a="http://schemas.openxmlformats.org/drawingml/2006/main">
              <a:ext uri="{FF2B5EF4-FFF2-40B4-BE49-F238E27FC236}">
                <a16:creationId xmlns:a16="http://schemas.microsoft.com/office/drawing/2014/main" id="{2ACCE8E8-9BFE-4A78-A0BC-9520A5221D0F}"/>
              </a:ext>
            </a:extLst>
          </p:cNvPr>
          <p:cNvSpPr>
            <a:spLocks xmlns:a="http://schemas.openxmlformats.org/drawingml/2006/main" noGrp="1"/>
          </p:cNvSpPr>
          <p:nvPr/>
        </p:nvSpPr>
        <p:spPr>
          <a:xfrm xmlns:a="http://schemas.openxmlformats.org/drawingml/2006/main">
            <a:off x="6144768" y="4206240"/>
            <a:ext cx="2432304"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chemeClr val="tx1"/>
                </a:solidFill>
              </a:rPr>
              <a:t>desplazamiento numérico por B finito; sesgo teórico 0</a:t>
            </a:r>
            <a:endParaRPr sz="1100"/>
          </a:p>
        </p:txBody>
      </p:sp>
      <p:sp>
        <p:nvSpPr>
          <p:cNvPr id="25" name="Slide Number Placeholder 0">
            <a:extLst xmlns:a="http://schemas.openxmlformats.org/drawingml/2006/main">
              <a:ext uri="{FF2B5EF4-FFF2-40B4-BE49-F238E27FC236}">
                <a16:creationId xmlns:a16="http://schemas.microsoft.com/office/drawing/2014/main" id="{CCA2E542-15AD-48CC-932A-B3C213D0E4C5}"/>
              </a:ext>
            </a:extLst>
          </p:cNvPr>
          <p:cNvSpPr>
            <a:spLocks xmlns:a="http://schemas.openxmlformats.org/drawingml/2006/main" noGrp="1"/>
          </p:cNvSpPr>
          <p:nvPr>
            <p:ph type="sldNum" idx="4294967295"/>
          </p:nvPr>
        </p:nvSpPr>
        <p:spPr>
          <a:xfrm xmlns:a="http://schemas.openxmlformats.org/drawingml/2006/main">
            <a:off x="8229600" y="4754880"/>
            <a:ext cx="457200" cy="228600"/>
          </a:xfrm>
          <a:prstGeom xmlns:a="http://schemas.openxmlformats.org/drawingml/2006/main" prst="rect">
            <a:avLst/>
          </a:prstGeom>
        </p:spPr>
        <p:txBody>
          <a:bodyPr xmlns:a="http://schemas.openxmlformats.org/drawingml/2006/main"/>
          <a:lstStyle xmlns:a="http://schemas.openxmlformats.org/drawingml/2006/main">
            <a:lvl1pPr>
              <a:buNone/>
              <a:defRPr sz="1000">
                <a:solidFill>
                  <a:schemeClr val="accent4"/>
                </a:solidFill>
              </a:defRPr>
            </a:lvl1pPr>
          </a:lstStyle>
          <a:p xmlns:a="http://schemas.openxmlformats.org/drawingml/2006/main">
            <a:pPr algn="r">
              <a:buNone/>
            </a:pPr>
            <a:fld id="{F7021451-1387-4CA6-816F-3879F97B5CBC}" type="slidenum">
              <a:rPr b="0"/>
              <a:t>7</a:t>
            </a:fld>
            <a:endParaRPr/>
          </a:p>
        </p:txBody>
      </p:sp>
      <p:graphicFrame>
        <p:nvGraphicFramePr>
          <p:cNvPr id="39" name="Chart"/>
          <p:cNvGraphicFramePr/>
          <p:nvPr/>
        </p:nvGraphicFramePr>
        <p:xfrm>
          <a:off xmlns:a="http://schemas.openxmlformats.org/drawingml/2006/main" x="457200" y="1051560"/>
          <a:ext xmlns:a="http://schemas.openxmlformats.org/drawingml/2006/main" cx="4114800" cy="2571750"/>
        </p:xfrm>
        <a:graphic xmlns:a="http://schemas.openxmlformats.org/drawingml/2006/main">
          <a:graphicData uri="http://schemas.openxmlformats.org/drawingml/2006/chart">
            <c:chart xmlns:r="http://schemas.openxmlformats.org/officeDocument/2006/relationships" xmlns:c="http://schemas.openxmlformats.org/drawingml/2006/chart" r:id="R5babe73798714467"/>
          </a:graphicData>
        </a:graphic>
      </p:graphicFrame>
      <p:graphicFrame>
        <p:nvGraphicFramePr>
          <p:cNvPr id="40" name="Chart"/>
          <p:cNvGraphicFramePr/>
          <p:nvPr/>
        </p:nvGraphicFramePr>
        <p:xfrm>
          <a:off xmlns:a="http://schemas.openxmlformats.org/drawingml/2006/main" x="4663440" y="1051560"/>
          <a:ext xmlns:a="http://schemas.openxmlformats.org/drawingml/2006/main" cx="4023360" cy="2571750"/>
        </p:xfrm>
        <a:graphic xmlns:a="http://schemas.openxmlformats.org/drawingml/2006/main">
          <a:graphicData uri="http://schemas.openxmlformats.org/drawingml/2006/chart">
            <c:chart xmlns:r="http://schemas.openxmlformats.org/officeDocument/2006/relationships" xmlns:c="http://schemas.openxmlformats.org/drawingml/2006/chart" r:id="R0c9fef45704147cc"/>
          </a:graphicData>
        </a:graphic>
      </p:graphicFrame>
    </p:spTree>
    <p:extLst>
      <p:ext uri="{BB962C8B-B14F-4D97-AF65-F5344CB8AC3E}">
        <p14:creationId xmlns:p14="http://schemas.microsoft.com/office/powerpoint/2010/main" val="205144717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DDBB7101-A86E-4497-AEB5-308176ED2315}"/>
              </a:ext>
            </a:extLst>
          </p:cNvPr>
          <p:cNvSpPr>
            <a:spLocks xmlns:a="http://schemas.openxmlformats.org/drawingml/2006/main" noGrp="1"/>
          </p:cNvSpPr>
          <p:nvPr>
            <p:ph type="title" idx="101" hasCustomPrompt="1"/>
          </p:nvPr>
        </p:nvSpPr>
        <p:spPr>
          <a:xfrm xmlns:a="http://schemas.openxmlformats.org/drawingml/2006/main">
            <a:off x="457200" y="274320"/>
            <a:ext cx="82296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3000" b="1">
                <a:solidFill>
                  <a:schemeClr val="tx1"/>
                </a:solidFill>
              </a:rPr>
              <a:t>Clásico y bootstrap coinciden</a:t>
            </a:r>
            <a:endParaRPr sz="3000"/>
          </a:p>
        </p:txBody>
      </p:sp>
      <p:graphicFrame>
        <p:nvGraphicFramePr>
          <p:cNvPr id="28" name="Table 0"/>
          <p:cNvGraphicFramePr/>
          <p:nvPr/>
        </p:nvGraphicFramePr>
        <p:xfrm>
          <a:off xmlns:a="http://schemas.openxmlformats.org/drawingml/2006/main" x="457200" y="1143000"/>
          <a:ext xmlns:a="http://schemas.openxmlformats.org/drawingml/2006/main" cx="4297680" cy="914400"/>
        </p:xfrm>
        <a:graphic xmlns:a="http://schemas.openxmlformats.org/drawingml/2006/main">
          <a:graphicData uri="http://schemas.openxmlformats.org/drawingml/2006/table">
            <a:tbl>
              <a:tblPr/>
              <a:tblGrid>
                <a:gridCol w="1828800"/>
                <a:gridCol w="1234440"/>
                <a:gridCol w="1234440"/>
              </a:tblGrid>
              <a:tr h="365760">
                <a:tc>
                  <a:txBody>
                    <a:bodyPr/>
                    <a:lstStyle/>
                    <a:p>
                      <a:pPr marL="0" indent="0" algn="ctr">
                        <a:buNone/>
                      </a:pPr>
                      <a:r>
                        <a:rPr sz="1300" b="1">
                          <a:solidFill>
                            <a:schemeClr val="bg1"/>
                          </a:solidFill>
                          <a:latin typeface="Calibri"/>
                          <a:ea typeface="Calibri"/>
                          <a:cs typeface="Calibri"/>
                        </a:rPr>
                        <a:t>Para Δ</a:t>
                      </a:r>
                      <a:endParaRPr sz="1300">
                        <a:latin typeface="Calibri"/>
                        <a:ea typeface="Calibri"/>
                        <a:cs typeface="Calibri"/>
                      </a:endParaRPr>
                    </a:p>
                  </a:txBody>
                  <a:tcPr marL="91440" marR="91440" marT="45720" marB="45720" anchor="ctr">
                    <a:lnL w="6350" cmpd="sng">
                      <a:solidFill>
                        <a:srgbClr val="D5DBE3"/>
                      </a:solidFill>
                      <a:prstDash val="solid"/>
                    </a:lnL>
                    <a:lnR w="6350" cmpd="sng">
                      <a:solidFill>
                        <a:srgbClr val="D5DBE3"/>
                      </a:solidFill>
                      <a:prstDash val="solid"/>
                    </a:lnR>
                    <a:lnT w="6350" cmpd="sng">
                      <a:solidFill>
                        <a:srgbClr val="D5DBE3"/>
                      </a:solidFill>
                      <a:prstDash val="solid"/>
                    </a:lnT>
                    <a:lnB w="6350" cmpd="sng">
                      <a:solidFill>
                        <a:srgbClr val="D5DBE3"/>
                      </a:solidFill>
                      <a:prstDash val="solid"/>
                    </a:lnB>
                    <a:solidFill>
                      <a:schemeClr val="tx1"/>
                    </a:solidFill>
                  </a:tcPr>
                </a:tc>
                <a:tc>
                  <a:txBody>
                    <a:bodyPr/>
                    <a:lstStyle/>
                    <a:p>
                      <a:pPr marL="0" indent="0" algn="ctr">
                        <a:buNone/>
                      </a:pPr>
                      <a:r>
                        <a:rPr sz="1300" b="1">
                          <a:solidFill>
                            <a:schemeClr val="bg1"/>
                          </a:solidFill>
                          <a:latin typeface="Calibri"/>
                          <a:ea typeface="Calibri"/>
                          <a:cs typeface="Calibri"/>
                        </a:rPr>
                        <a:t>Clásico</a:t>
                      </a:r>
                      <a:endParaRPr sz="1300">
                        <a:latin typeface="Calibri"/>
                        <a:ea typeface="Calibri"/>
                        <a:cs typeface="Calibri"/>
                      </a:endParaRPr>
                    </a:p>
                  </a:txBody>
                  <a:tcPr marL="91440" marR="91440" marT="45720" marB="45720" anchor="ctr">
                    <a:lnL w="6350" cmpd="sng">
                      <a:solidFill>
                        <a:srgbClr val="D5DBE3"/>
                      </a:solidFill>
                      <a:prstDash val="solid"/>
                    </a:lnL>
                    <a:lnR w="6350" cmpd="sng">
                      <a:solidFill>
                        <a:srgbClr val="D5DBE3"/>
                      </a:solidFill>
                      <a:prstDash val="solid"/>
                    </a:lnR>
                    <a:lnT w="6350" cmpd="sng">
                      <a:solidFill>
                        <a:srgbClr val="D5DBE3"/>
                      </a:solidFill>
                      <a:prstDash val="solid"/>
                    </a:lnT>
                    <a:lnB w="6350" cmpd="sng">
                      <a:solidFill>
                        <a:srgbClr val="D5DBE3"/>
                      </a:solidFill>
                      <a:prstDash val="solid"/>
                    </a:lnB>
                    <a:solidFill>
                      <a:schemeClr val="tx1"/>
                    </a:solidFill>
                  </a:tcPr>
                </a:tc>
                <a:tc>
                  <a:txBody>
                    <a:bodyPr/>
                    <a:lstStyle/>
                    <a:p>
                      <a:pPr marL="0" indent="0" algn="ctr">
                        <a:buNone/>
                      </a:pPr>
                      <a:r>
                        <a:rPr sz="1300" b="1">
                          <a:solidFill>
                            <a:schemeClr val="bg1"/>
                          </a:solidFill>
                          <a:latin typeface="Calibri"/>
                          <a:ea typeface="Calibri"/>
                          <a:cs typeface="Calibri"/>
                        </a:rPr>
                        <a:t>Bootstrap</a:t>
                      </a:r>
                      <a:endParaRPr sz="1300">
                        <a:latin typeface="Calibri"/>
                        <a:ea typeface="Calibri"/>
                        <a:cs typeface="Calibri"/>
                      </a:endParaRPr>
                    </a:p>
                  </a:txBody>
                  <a:tcPr marL="91440" marR="91440" marT="45720" marB="45720" anchor="ctr">
                    <a:lnL w="6350" cmpd="sng">
                      <a:solidFill>
                        <a:srgbClr val="D5DBE3"/>
                      </a:solidFill>
                      <a:prstDash val="solid"/>
                    </a:lnL>
                    <a:lnR w="6350" cmpd="sng">
                      <a:solidFill>
                        <a:srgbClr val="D5DBE3"/>
                      </a:solidFill>
                      <a:prstDash val="solid"/>
                    </a:lnR>
                    <a:lnT w="6350" cmpd="sng">
                      <a:solidFill>
                        <a:srgbClr val="D5DBE3"/>
                      </a:solidFill>
                      <a:prstDash val="solid"/>
                    </a:lnT>
                    <a:lnB w="6350" cmpd="sng">
                      <a:solidFill>
                        <a:srgbClr val="D5DBE3"/>
                      </a:solidFill>
                      <a:prstDash val="solid"/>
                    </a:lnB>
                    <a:solidFill>
                      <a:schemeClr val="tx1"/>
                    </a:solidFill>
                  </a:tcPr>
                </a:tc>
              </a:tr>
              <a:tr h="365760">
                <a:tc>
                  <a:txBody>
                    <a:bodyPr/>
                    <a:lstStyle/>
                    <a:p>
                      <a:pPr marL="0" indent="0" algn="l">
                        <a:buNone/>
                      </a:pPr>
                      <a:r>
                        <a:rPr sz="1300">
                          <a:solidFill>
                            <a:schemeClr val="tx1"/>
                          </a:solidFill>
                          <a:latin typeface="Calibri"/>
                          <a:ea typeface="Calibri"/>
                          <a:cs typeface="Calibri"/>
                        </a:rPr>
                        <a:t>Error estándar</a:t>
                      </a:r>
                      <a:endParaRPr sz="1300">
                        <a:latin typeface="Calibri"/>
                        <a:ea typeface="Calibri"/>
                        <a:cs typeface="Calibri"/>
                      </a:endParaRPr>
                    </a:p>
                  </a:txBody>
                  <a:tcPr marL="91440" marR="91440" marT="45720" marB="45720" anchor="ctr">
                    <a:lnL w="6350" cmpd="sng">
                      <a:solidFill>
                        <a:srgbClr val="D5DBE3"/>
                      </a:solidFill>
                      <a:prstDash val="solid"/>
                    </a:lnL>
                    <a:lnR w="6350" cmpd="sng">
                      <a:solidFill>
                        <a:srgbClr val="D5DBE3"/>
                      </a:solidFill>
                      <a:prstDash val="solid"/>
                    </a:lnR>
                    <a:lnT w="6350" cmpd="sng">
                      <a:solidFill>
                        <a:srgbClr val="D5DBE3"/>
                      </a:solidFill>
                      <a:prstDash val="solid"/>
                    </a:lnT>
                    <a:lnB w="6350" cmpd="sng">
                      <a:solidFill>
                        <a:srgbClr val="D5DBE3"/>
                      </a:solidFill>
                      <a:prstDash val="solid"/>
                    </a:lnB>
                    <a:solidFill>
                      <a:schemeClr val="bg1"/>
                    </a:solidFill>
                  </a:tcPr>
                </a:tc>
                <a:tc>
                  <a:txBody>
                    <a:bodyPr/>
                    <a:lstStyle/>
                    <a:p>
                      <a:pPr marL="0" indent="0" algn="ctr">
                        <a:buNone/>
                      </a:pPr>
                      <a:r>
                        <a:rPr sz="1300">
                          <a:solidFill>
                            <a:schemeClr val="tx1"/>
                          </a:solidFill>
                          <a:latin typeface="Calibri"/>
                          <a:ea typeface="Calibri"/>
                          <a:cs typeface="Calibri"/>
                        </a:rPr>
                        <a:t>0,008875</a:t>
                      </a:r>
                      <a:endParaRPr sz="1300">
                        <a:latin typeface="Calibri"/>
                        <a:ea typeface="Calibri"/>
                        <a:cs typeface="Calibri"/>
                      </a:endParaRPr>
                    </a:p>
                  </a:txBody>
                  <a:tcPr marL="91440" marR="91440" marT="45720" marB="45720" anchor="ctr">
                    <a:lnL w="6350" cmpd="sng">
                      <a:solidFill>
                        <a:srgbClr val="D5DBE3"/>
                      </a:solidFill>
                      <a:prstDash val="solid"/>
                    </a:lnL>
                    <a:lnR w="6350" cmpd="sng">
                      <a:solidFill>
                        <a:srgbClr val="D5DBE3"/>
                      </a:solidFill>
                      <a:prstDash val="solid"/>
                    </a:lnR>
                    <a:lnT w="6350" cmpd="sng">
                      <a:solidFill>
                        <a:srgbClr val="D5DBE3"/>
                      </a:solidFill>
                      <a:prstDash val="solid"/>
                    </a:lnT>
                    <a:lnB w="6350" cmpd="sng">
                      <a:solidFill>
                        <a:srgbClr val="D5DBE3"/>
                      </a:solidFill>
                      <a:prstDash val="solid"/>
                    </a:lnB>
                    <a:solidFill>
                      <a:schemeClr val="bg1"/>
                    </a:solidFill>
                  </a:tcPr>
                </a:tc>
                <a:tc>
                  <a:txBody>
                    <a:bodyPr/>
                    <a:lstStyle/>
                    <a:p>
                      <a:pPr marL="0" indent="0" algn="ctr">
                        <a:buNone/>
                      </a:pPr>
                      <a:r>
                        <a:rPr sz="1300">
                          <a:solidFill>
                            <a:schemeClr val="tx1"/>
                          </a:solidFill>
                          <a:latin typeface="Calibri"/>
                          <a:ea typeface="Calibri"/>
                          <a:cs typeface="Calibri"/>
                        </a:rPr>
                        <a:t>0,008844</a:t>
                      </a:r>
                      <a:endParaRPr sz="1300">
                        <a:latin typeface="Calibri"/>
                        <a:ea typeface="Calibri"/>
                        <a:cs typeface="Calibri"/>
                      </a:endParaRPr>
                    </a:p>
                  </a:txBody>
                  <a:tcPr marL="91440" marR="91440" marT="45720" marB="45720" anchor="ctr">
                    <a:lnL w="6350" cmpd="sng">
                      <a:solidFill>
                        <a:srgbClr val="D5DBE3"/>
                      </a:solidFill>
                      <a:prstDash val="solid"/>
                    </a:lnL>
                    <a:lnR w="6350" cmpd="sng">
                      <a:solidFill>
                        <a:srgbClr val="D5DBE3"/>
                      </a:solidFill>
                      <a:prstDash val="solid"/>
                    </a:lnR>
                    <a:lnT w="6350" cmpd="sng">
                      <a:solidFill>
                        <a:srgbClr val="D5DBE3"/>
                      </a:solidFill>
                      <a:prstDash val="solid"/>
                    </a:lnT>
                    <a:lnB w="6350" cmpd="sng">
                      <a:solidFill>
                        <a:srgbClr val="D5DBE3"/>
                      </a:solidFill>
                      <a:prstDash val="solid"/>
                    </a:lnB>
                    <a:solidFill>
                      <a:schemeClr val="bg1"/>
                    </a:solidFill>
                  </a:tcPr>
                </a:tc>
              </a:tr>
              <a:tr h="365760">
                <a:tc>
                  <a:txBody>
                    <a:bodyPr/>
                    <a:lstStyle/>
                    <a:p>
                      <a:pPr marL="0" indent="0" algn="l">
                        <a:buNone/>
                      </a:pPr>
                      <a:r>
                        <a:rPr sz="1300">
                          <a:solidFill>
                            <a:schemeClr val="tx1"/>
                          </a:solidFill>
                          <a:latin typeface="Calibri"/>
                          <a:ea typeface="Calibri"/>
                          <a:cs typeface="Calibri"/>
                        </a:rPr>
                        <a:t>Límite inferior 95%</a:t>
                      </a:r>
                      <a:endParaRPr sz="1300">
                        <a:latin typeface="Calibri"/>
                        <a:ea typeface="Calibri"/>
                        <a:cs typeface="Calibri"/>
                      </a:endParaRPr>
                    </a:p>
                  </a:txBody>
                  <a:tcPr marL="91440" marR="91440" marT="45720" marB="45720" anchor="ctr">
                    <a:lnL w="6350" cmpd="sng">
                      <a:solidFill>
                        <a:srgbClr val="D5DBE3"/>
                      </a:solidFill>
                      <a:prstDash val="solid"/>
                    </a:lnL>
                    <a:lnR w="6350" cmpd="sng">
                      <a:solidFill>
                        <a:srgbClr val="D5DBE3"/>
                      </a:solidFill>
                      <a:prstDash val="solid"/>
                    </a:lnR>
                    <a:lnT w="6350" cmpd="sng">
                      <a:solidFill>
                        <a:srgbClr val="D5DBE3"/>
                      </a:solidFill>
                      <a:prstDash val="solid"/>
                    </a:lnT>
                    <a:lnB w="6350" cmpd="sng">
                      <a:solidFill>
                        <a:srgbClr val="D5DBE3"/>
                      </a:solidFill>
                      <a:prstDash val="solid"/>
                    </a:lnB>
                    <a:solidFill>
                      <a:schemeClr val="bg1"/>
                    </a:solidFill>
                  </a:tcPr>
                </a:tc>
                <a:tc>
                  <a:txBody>
                    <a:bodyPr/>
                    <a:lstStyle/>
                    <a:p>
                      <a:pPr marL="0" indent="0" algn="ctr">
                        <a:buNone/>
                      </a:pPr>
                      <a:r>
                        <a:rPr sz="1300">
                          <a:solidFill>
                            <a:schemeClr val="tx1"/>
                          </a:solidFill>
                          <a:latin typeface="Calibri"/>
                          <a:ea typeface="Calibri"/>
                          <a:cs typeface="Calibri"/>
                        </a:rPr>
                        <a:t>0,000665</a:t>
                      </a:r>
                      <a:endParaRPr sz="1300">
                        <a:latin typeface="Calibri"/>
                        <a:ea typeface="Calibri"/>
                        <a:cs typeface="Calibri"/>
                      </a:endParaRPr>
                    </a:p>
                  </a:txBody>
                  <a:tcPr marL="91440" marR="91440" marT="45720" marB="45720" anchor="ctr">
                    <a:lnL w="6350" cmpd="sng">
                      <a:solidFill>
                        <a:srgbClr val="D5DBE3"/>
                      </a:solidFill>
                      <a:prstDash val="solid"/>
                    </a:lnL>
                    <a:lnR w="6350" cmpd="sng">
                      <a:solidFill>
                        <a:srgbClr val="D5DBE3"/>
                      </a:solidFill>
                      <a:prstDash val="solid"/>
                    </a:lnR>
                    <a:lnT w="6350" cmpd="sng">
                      <a:solidFill>
                        <a:srgbClr val="D5DBE3"/>
                      </a:solidFill>
                      <a:prstDash val="solid"/>
                    </a:lnT>
                    <a:lnB w="6350" cmpd="sng">
                      <a:solidFill>
                        <a:srgbClr val="D5DBE3"/>
                      </a:solidFill>
                      <a:prstDash val="solid"/>
                    </a:lnB>
                    <a:solidFill>
                      <a:schemeClr val="bg1"/>
                    </a:solidFill>
                  </a:tcPr>
                </a:tc>
                <a:tc>
                  <a:txBody>
                    <a:bodyPr/>
                    <a:lstStyle/>
                    <a:p>
                      <a:pPr marL="0" indent="0" algn="ctr">
                        <a:buNone/>
                      </a:pPr>
                      <a:r>
                        <a:rPr sz="1300">
                          <a:solidFill>
                            <a:schemeClr val="tx1"/>
                          </a:solidFill>
                          <a:latin typeface="Calibri"/>
                          <a:ea typeface="Calibri"/>
                          <a:cs typeface="Calibri"/>
                        </a:rPr>
                        <a:t>0,000550</a:t>
                      </a:r>
                      <a:endParaRPr sz="1300">
                        <a:latin typeface="Calibri"/>
                        <a:ea typeface="Calibri"/>
                        <a:cs typeface="Calibri"/>
                      </a:endParaRPr>
                    </a:p>
                  </a:txBody>
                  <a:tcPr marL="91440" marR="91440" marT="45720" marB="45720" anchor="ctr">
                    <a:lnL w="6350" cmpd="sng">
                      <a:solidFill>
                        <a:srgbClr val="D5DBE3"/>
                      </a:solidFill>
                      <a:prstDash val="solid"/>
                    </a:lnL>
                    <a:lnR w="6350" cmpd="sng">
                      <a:solidFill>
                        <a:srgbClr val="D5DBE3"/>
                      </a:solidFill>
                      <a:prstDash val="solid"/>
                    </a:lnR>
                    <a:lnT w="6350" cmpd="sng">
                      <a:solidFill>
                        <a:srgbClr val="D5DBE3"/>
                      </a:solidFill>
                      <a:prstDash val="solid"/>
                    </a:lnT>
                    <a:lnB w="6350" cmpd="sng">
                      <a:solidFill>
                        <a:srgbClr val="D5DBE3"/>
                      </a:solidFill>
                      <a:prstDash val="solid"/>
                    </a:lnB>
                    <a:solidFill>
                      <a:schemeClr val="bg1"/>
                    </a:solidFill>
                  </a:tcPr>
                </a:tc>
              </a:tr>
              <a:tr h="365760">
                <a:tc>
                  <a:txBody>
                    <a:bodyPr/>
                    <a:lstStyle/>
                    <a:p>
                      <a:pPr marL="0" indent="0" algn="l">
                        <a:buNone/>
                      </a:pPr>
                      <a:r>
                        <a:rPr sz="1300">
                          <a:solidFill>
                            <a:schemeClr val="tx1"/>
                          </a:solidFill>
                          <a:latin typeface="Calibri"/>
                          <a:ea typeface="Calibri"/>
                          <a:cs typeface="Calibri"/>
                        </a:rPr>
                        <a:t>Límite superior 95%</a:t>
                      </a:r>
                      <a:endParaRPr sz="1300">
                        <a:latin typeface="Calibri"/>
                        <a:ea typeface="Calibri"/>
                        <a:cs typeface="Calibri"/>
                      </a:endParaRPr>
                    </a:p>
                  </a:txBody>
                  <a:tcPr marL="91440" marR="91440" marT="45720" marB="45720" anchor="ctr">
                    <a:lnL w="6350" cmpd="sng">
                      <a:solidFill>
                        <a:srgbClr val="D5DBE3"/>
                      </a:solidFill>
                      <a:prstDash val="solid"/>
                    </a:lnL>
                    <a:lnR w="6350" cmpd="sng">
                      <a:solidFill>
                        <a:srgbClr val="D5DBE3"/>
                      </a:solidFill>
                      <a:prstDash val="solid"/>
                    </a:lnR>
                    <a:lnT w="6350" cmpd="sng">
                      <a:solidFill>
                        <a:srgbClr val="D5DBE3"/>
                      </a:solidFill>
                      <a:prstDash val="solid"/>
                    </a:lnT>
                    <a:lnB w="6350" cmpd="sng">
                      <a:solidFill>
                        <a:srgbClr val="D5DBE3"/>
                      </a:solidFill>
                      <a:prstDash val="solid"/>
                    </a:lnB>
                    <a:solidFill>
                      <a:schemeClr val="bg1"/>
                    </a:solidFill>
                  </a:tcPr>
                </a:tc>
                <a:tc>
                  <a:txBody>
                    <a:bodyPr/>
                    <a:lstStyle/>
                    <a:p>
                      <a:pPr marL="0" indent="0" algn="ctr">
                        <a:buNone/>
                      </a:pPr>
                      <a:r>
                        <a:rPr sz="1300">
                          <a:solidFill>
                            <a:schemeClr val="tx1"/>
                          </a:solidFill>
                          <a:latin typeface="Calibri"/>
                          <a:ea typeface="Calibri"/>
                          <a:cs typeface="Calibri"/>
                        </a:rPr>
                        <a:t>0,035455</a:t>
                      </a:r>
                      <a:endParaRPr sz="1300">
                        <a:latin typeface="Calibri"/>
                        <a:ea typeface="Calibri"/>
                        <a:cs typeface="Calibri"/>
                      </a:endParaRPr>
                    </a:p>
                  </a:txBody>
                  <a:tcPr marL="91440" marR="91440" marT="45720" marB="45720" anchor="ctr">
                    <a:lnL w="6350" cmpd="sng">
                      <a:solidFill>
                        <a:srgbClr val="D5DBE3"/>
                      </a:solidFill>
                      <a:prstDash val="solid"/>
                    </a:lnL>
                    <a:lnR w="6350" cmpd="sng">
                      <a:solidFill>
                        <a:srgbClr val="D5DBE3"/>
                      </a:solidFill>
                      <a:prstDash val="solid"/>
                    </a:lnR>
                    <a:lnT w="6350" cmpd="sng">
                      <a:solidFill>
                        <a:srgbClr val="D5DBE3"/>
                      </a:solidFill>
                      <a:prstDash val="solid"/>
                    </a:lnT>
                    <a:lnB w="6350" cmpd="sng">
                      <a:solidFill>
                        <a:srgbClr val="D5DBE3"/>
                      </a:solidFill>
                      <a:prstDash val="solid"/>
                    </a:lnB>
                    <a:solidFill>
                      <a:schemeClr val="bg1"/>
                    </a:solidFill>
                  </a:tcPr>
                </a:tc>
                <a:tc>
                  <a:txBody>
                    <a:bodyPr/>
                    <a:lstStyle/>
                    <a:p>
                      <a:pPr marL="0" indent="0" algn="ctr">
                        <a:buNone/>
                      </a:pPr>
                      <a:r>
                        <a:rPr sz="1300">
                          <a:solidFill>
                            <a:schemeClr val="tx1"/>
                          </a:solidFill>
                          <a:latin typeface="Calibri"/>
                          <a:ea typeface="Calibri"/>
                          <a:cs typeface="Calibri"/>
                        </a:rPr>
                        <a:t>0,035416</a:t>
                      </a:r>
                      <a:endParaRPr sz="1300">
                        <a:latin typeface="Calibri"/>
                        <a:ea typeface="Calibri"/>
                        <a:cs typeface="Calibri"/>
                      </a:endParaRPr>
                    </a:p>
                  </a:txBody>
                  <a:tcPr marL="91440" marR="91440" marT="45720" marB="45720" anchor="ctr">
                    <a:lnL w="6350" cmpd="sng">
                      <a:solidFill>
                        <a:srgbClr val="D5DBE3"/>
                      </a:solidFill>
                      <a:prstDash val="solid"/>
                    </a:lnL>
                    <a:lnR w="6350" cmpd="sng">
                      <a:solidFill>
                        <a:srgbClr val="D5DBE3"/>
                      </a:solidFill>
                      <a:prstDash val="solid"/>
                    </a:lnR>
                    <a:lnT w="6350" cmpd="sng">
                      <a:solidFill>
                        <a:srgbClr val="D5DBE3"/>
                      </a:solidFill>
                      <a:prstDash val="solid"/>
                    </a:lnT>
                    <a:lnB w="6350" cmpd="sng">
                      <a:solidFill>
                        <a:srgbClr val="D5DBE3"/>
                      </a:solidFill>
                      <a:prstDash val="solid"/>
                    </a:lnB>
                    <a:solidFill>
                      <a:schemeClr val="bg1"/>
                    </a:solidFill>
                  </a:tcPr>
                </a:tc>
              </a:tr>
            </a:tbl>
          </a:graphicData>
        </a:graphic>
      </p:graphicFrame>
      <p:sp>
        <p:nvSpPr>
          <p:cNvPr id="4" name="Tarjeta razón EE">
            <a:extLst xmlns:a="http://schemas.openxmlformats.org/drawingml/2006/main">
              <a:ext uri="{FF2B5EF4-FFF2-40B4-BE49-F238E27FC236}">
                <a16:creationId xmlns:a16="http://schemas.microsoft.com/office/drawing/2014/main" id="{51BD501F-8560-4A48-9159-124822691F15}"/>
              </a:ext>
            </a:extLst>
          </p:cNvPr>
          <p:cNvSpPr>
            <a:spLocks xmlns:a="http://schemas.openxmlformats.org/drawingml/2006/main" noGrp="1"/>
          </p:cNvSpPr>
          <p:nvPr/>
        </p:nvSpPr>
        <p:spPr>
          <a:xfrm xmlns:a="http://schemas.openxmlformats.org/drawingml/2006/main">
            <a:off x="457200" y="2834640"/>
            <a:ext cx="4297680" cy="914400"/>
          </a:xfrm>
          <a:prstGeom xmlns:a="http://schemas.openxmlformats.org/drawingml/2006/main" prst="roundRect">
            <a:avLst>
              <a:gd name="adj" fmla="val 8000"/>
            </a:avLst>
          </a:prstGeom>
          <a:solidFill xmlns:a="http://schemas.openxmlformats.org/drawingml/2006/main">
            <a:schemeClr val="bg2"/>
          </a:solidFill>
        </p:spPr>
      </p:sp>
      <p:sp>
        <p:nvSpPr>
          <p:cNvPr id="5" name="Text 2">
            <a:extLst xmlns:a="http://schemas.openxmlformats.org/drawingml/2006/main">
              <a:ext uri="{FF2B5EF4-FFF2-40B4-BE49-F238E27FC236}">
                <a16:creationId xmlns:a16="http://schemas.microsoft.com/office/drawing/2014/main" id="{3DD2A78F-2187-42BE-8C4E-C7BE17FD0202}"/>
              </a:ext>
            </a:extLst>
          </p:cNvPr>
          <p:cNvSpPr>
            <a:spLocks xmlns:a="http://schemas.openxmlformats.org/drawingml/2006/main" noGrp="1"/>
          </p:cNvSpPr>
          <p:nvPr/>
        </p:nvSpPr>
        <p:spPr>
          <a:xfrm xmlns:a="http://schemas.openxmlformats.org/drawingml/2006/main">
            <a:off x="640080" y="2880360"/>
            <a:ext cx="13716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600" b="1">
                <a:solidFill>
                  <a:schemeClr val="accent3"/>
                </a:solidFill>
                <a:latin typeface="Cambria"/>
                <a:ea typeface="Cambria"/>
                <a:cs typeface="Cambria"/>
              </a:rPr>
              <a:t>0,996</a:t>
            </a:r>
            <a:endParaRPr sz="3600"/>
          </a:p>
        </p:txBody>
      </p:sp>
      <p:sp>
        <p:nvSpPr>
          <p:cNvPr id="6" name="Text 3">
            <a:extLst xmlns:a="http://schemas.openxmlformats.org/drawingml/2006/main">
              <a:ext uri="{FF2B5EF4-FFF2-40B4-BE49-F238E27FC236}">
                <a16:creationId xmlns:a16="http://schemas.microsoft.com/office/drawing/2014/main" id="{8331F4C0-4C49-415C-8816-298FD1300EA5}"/>
              </a:ext>
            </a:extLst>
          </p:cNvPr>
          <p:cNvSpPr>
            <a:spLocks xmlns:a="http://schemas.openxmlformats.org/drawingml/2006/main" noGrp="1"/>
          </p:cNvSpPr>
          <p:nvPr/>
        </p:nvSpPr>
        <p:spPr>
          <a:xfrm xmlns:a="http://schemas.openxmlformats.org/drawingml/2006/main">
            <a:off x="2011680" y="2926080"/>
            <a:ext cx="26517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chemeClr val="tx1"/>
                </a:solidFill>
              </a:rPr>
              <a:t>razón entre errores estándar (bootstrap / clásico)</a:t>
            </a:r>
            <a:endParaRPr sz="1300"/>
          </a:p>
        </p:txBody>
      </p:sp>
      <p:sp>
        <p:nvSpPr>
          <p:cNvPr id="7" name="Text 4">
            <a:extLst xmlns:a="http://schemas.openxmlformats.org/drawingml/2006/main">
              <a:ext uri="{FF2B5EF4-FFF2-40B4-BE49-F238E27FC236}">
                <a16:creationId xmlns:a16="http://schemas.microsoft.com/office/drawing/2014/main" id="{BACA4F3F-7B1F-4A63-B1F0-FC57FE419BAC}"/>
              </a:ext>
            </a:extLst>
          </p:cNvPr>
          <p:cNvSpPr>
            <a:spLocks xmlns:a="http://schemas.openxmlformats.org/drawingml/2006/main" noGrp="1"/>
          </p:cNvSpPr>
          <p:nvPr/>
        </p:nvSpPr>
        <p:spPr>
          <a:xfrm xmlns:a="http://schemas.openxmlformats.org/drawingml/2006/main">
            <a:off x="457200" y="3840480"/>
            <a:ext cx="429768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chemeClr val="tx1"/>
                </a:solidFill>
              </a:rPr>
              <a:t>Con B = 20.000, el EE simulado (0,008844) está a 0,35% de la fórmula exacta condicional (0,008875). Con B = 500 y 2.500, el límite inferior aún era negativo.</a:t>
            </a:r>
            <a:endParaRPr sz="1200"/>
          </a:p>
        </p:txBody>
      </p:sp>
      <p:sp>
        <p:nvSpPr>
          <p:cNvPr id="8" name="Text 5">
            <a:extLst xmlns:a="http://schemas.openxmlformats.org/drawingml/2006/main">
              <a:ext uri="{FF2B5EF4-FFF2-40B4-BE49-F238E27FC236}">
                <a16:creationId xmlns:a16="http://schemas.microsoft.com/office/drawing/2014/main" id="{A1FCE3AB-44D0-44B8-881D-A9E80DCB1B79}"/>
              </a:ext>
            </a:extLst>
          </p:cNvPr>
          <p:cNvSpPr>
            <a:spLocks xmlns:a="http://schemas.openxmlformats.org/drawingml/2006/main" noGrp="1"/>
          </p:cNvSpPr>
          <p:nvPr/>
        </p:nvSpPr>
        <p:spPr>
          <a:xfrm xmlns:a="http://schemas.openxmlformats.org/drawingml/2006/main">
            <a:off x="5029200" y="1143000"/>
            <a:ext cx="3657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chemeClr val="tx1"/>
                </a:solidFill>
                <a:latin typeface="Cambria"/>
                <a:ea typeface="Cambria"/>
                <a:cs typeface="Cambria"/>
              </a:rPr>
              <a:t>¿Por qué coinciden?</a:t>
            </a:r>
            <a:endParaRPr sz="1600"/>
          </a:p>
        </p:txBody>
      </p:sp>
      <p:sp>
        <p:nvSpPr>
          <p:cNvPr id="9" name="Text 6">
            <a:extLst xmlns:a="http://schemas.openxmlformats.org/drawingml/2006/main">
              <a:ext uri="{FF2B5EF4-FFF2-40B4-BE49-F238E27FC236}">
                <a16:creationId xmlns:a16="http://schemas.microsoft.com/office/drawing/2014/main" id="{8DD356C9-41CA-4C0B-87EE-B451FCF13E89}"/>
              </a:ext>
            </a:extLst>
          </p:cNvPr>
          <p:cNvSpPr>
            <a:spLocks xmlns:a="http://schemas.openxmlformats.org/drawingml/2006/main" noGrp="1"/>
          </p:cNvSpPr>
          <p:nvPr/>
        </p:nvSpPr>
        <p:spPr>
          <a:xfrm xmlns:a="http://schemas.openxmlformats.org/drawingml/2006/main">
            <a:off x="5029200" y="1463040"/>
            <a:ext cx="36576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a:solidFill>
                  <a:schemeClr val="tx1"/>
                </a:solidFill>
              </a:rPr>
              <a:t>El estimador es una media y las muestras son grandes: ambos métodos aproximan lo mismo.</a:t>
            </a:r>
            <a:endParaRPr sz="1300"/>
          </a:p>
        </p:txBody>
      </p:sp>
      <p:sp>
        <p:nvSpPr>
          <p:cNvPr id="10" name="Text 7">
            <a:extLst xmlns:a="http://schemas.openxmlformats.org/drawingml/2006/main">
              <a:ext uri="{FF2B5EF4-FFF2-40B4-BE49-F238E27FC236}">
                <a16:creationId xmlns:a16="http://schemas.microsoft.com/office/drawing/2014/main" id="{5AFD3948-FAA7-4A2A-A995-148A578E4229}"/>
              </a:ext>
            </a:extLst>
          </p:cNvPr>
          <p:cNvSpPr>
            <a:spLocks xmlns:a="http://schemas.openxmlformats.org/drawingml/2006/main" noGrp="1"/>
          </p:cNvSpPr>
          <p:nvPr/>
        </p:nvSpPr>
        <p:spPr>
          <a:xfrm xmlns:a="http://schemas.openxmlformats.org/drawingml/2006/main">
            <a:off x="5029200" y="2194560"/>
            <a:ext cx="3657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chemeClr val="accent1"/>
                </a:solidFill>
                <a:latin typeface="Cambria"/>
                <a:ea typeface="Cambria"/>
                <a:cs typeface="Cambria"/>
              </a:rPr>
              <a:t>Ventajas del bootstrap aquí</a:t>
            </a:r>
            <a:endParaRPr sz="1600"/>
          </a:p>
        </p:txBody>
      </p:sp>
      <p:sp>
        <p:nvSpPr>
          <p:cNvPr id="11" name="Text 8">
            <a:extLst xmlns:a="http://schemas.openxmlformats.org/drawingml/2006/main">
              <a:ext uri="{FF2B5EF4-FFF2-40B4-BE49-F238E27FC236}">
                <a16:creationId xmlns:a16="http://schemas.microsoft.com/office/drawing/2014/main" id="{2F580B7C-D99A-4D57-9C65-C8331D145338}"/>
              </a:ext>
            </a:extLst>
          </p:cNvPr>
          <p:cNvSpPr>
            <a:spLocks xmlns:a="http://schemas.openxmlformats.org/drawingml/2006/main" noGrp="1"/>
          </p:cNvSpPr>
          <p:nvPr/>
        </p:nvSpPr>
        <p:spPr>
          <a:xfrm xmlns:a="http://schemas.openxmlformats.org/drawingml/2006/main">
            <a:off x="5029200" y="2514600"/>
            <a:ext cx="36576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a:solidFill>
                  <a:schemeClr val="tx1"/>
                </a:solidFill>
              </a:rPr>
              <a:t>Muestra la distribución completa y se extiende a estadísticos sin fórmula simple.</a:t>
            </a:r>
            <a:endParaRPr sz="1300"/>
          </a:p>
        </p:txBody>
      </p:sp>
      <p:sp>
        <p:nvSpPr>
          <p:cNvPr id="12" name="Text 9">
            <a:extLst xmlns:a="http://schemas.openxmlformats.org/drawingml/2006/main">
              <a:ext uri="{FF2B5EF4-FFF2-40B4-BE49-F238E27FC236}">
                <a16:creationId xmlns:a16="http://schemas.microsoft.com/office/drawing/2014/main" id="{AB0EC282-37B1-49D1-811A-EFFB9D61F31E}"/>
              </a:ext>
            </a:extLst>
          </p:cNvPr>
          <p:cNvSpPr>
            <a:spLocks xmlns:a="http://schemas.openxmlformats.org/drawingml/2006/main" noGrp="1"/>
          </p:cNvSpPr>
          <p:nvPr/>
        </p:nvSpPr>
        <p:spPr>
          <a:xfrm xmlns:a="http://schemas.openxmlformats.org/drawingml/2006/main">
            <a:off x="5029200" y="3200400"/>
            <a:ext cx="3657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chemeClr val="accent2"/>
                </a:solidFill>
                <a:latin typeface="Cambria"/>
                <a:ea typeface="Cambria"/>
                <a:cs typeface="Cambria"/>
              </a:rPr>
              <a:t>Límites</a:t>
            </a:r>
            <a:endParaRPr sz="1600"/>
          </a:p>
        </p:txBody>
      </p:sp>
      <p:sp>
        <p:nvSpPr>
          <p:cNvPr id="13" name="Text 10">
            <a:extLst xmlns:a="http://schemas.openxmlformats.org/drawingml/2006/main">
              <a:ext uri="{FF2B5EF4-FFF2-40B4-BE49-F238E27FC236}">
                <a16:creationId xmlns:a16="http://schemas.microsoft.com/office/drawing/2014/main" id="{6A35A802-E82D-4689-9AF2-9C5F5C4D8154}"/>
              </a:ext>
            </a:extLst>
          </p:cNvPr>
          <p:cNvSpPr>
            <a:spLocks xmlns:a="http://schemas.openxmlformats.org/drawingml/2006/main" noGrp="1"/>
          </p:cNvSpPr>
          <p:nvPr/>
        </p:nvSpPr>
        <p:spPr>
          <a:xfrm xmlns:a="http://schemas.openxmlformats.org/drawingml/2006/main">
            <a:off x="5029200" y="3520440"/>
            <a:ext cx="36576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a:solidFill>
                  <a:schemeClr val="tx1"/>
                </a:solidFill>
              </a:rPr>
              <a:t>B finito deja error numérico. No agrega datos ni corrige selección, dependencia o faltantes.</a:t>
            </a:r>
            <a:endParaRPr sz="1300"/>
          </a:p>
        </p:txBody>
      </p:sp>
      <p:sp>
        <p:nvSpPr>
          <p:cNvPr id="25" name="Slide Number Placeholder 0">
            <a:extLst xmlns:a="http://schemas.openxmlformats.org/drawingml/2006/main">
              <a:ext uri="{FF2B5EF4-FFF2-40B4-BE49-F238E27FC236}">
                <a16:creationId xmlns:a16="http://schemas.microsoft.com/office/drawing/2014/main" id="{CA99B0BB-DD92-4DF4-AA3D-D00F23E8E98E}"/>
              </a:ext>
            </a:extLst>
          </p:cNvPr>
          <p:cNvSpPr>
            <a:spLocks xmlns:a="http://schemas.openxmlformats.org/drawingml/2006/main" noGrp="1"/>
          </p:cNvSpPr>
          <p:nvPr>
            <p:ph type="sldNum" idx="4294967295"/>
          </p:nvPr>
        </p:nvSpPr>
        <p:spPr>
          <a:xfrm xmlns:a="http://schemas.openxmlformats.org/drawingml/2006/main">
            <a:off x="8229600" y="4754880"/>
            <a:ext cx="457200" cy="228600"/>
          </a:xfrm>
          <a:prstGeom xmlns:a="http://schemas.openxmlformats.org/drawingml/2006/main" prst="rect">
            <a:avLst/>
          </a:prstGeom>
        </p:spPr>
        <p:txBody>
          <a:bodyPr xmlns:a="http://schemas.openxmlformats.org/drawingml/2006/main"/>
          <a:lstStyle xmlns:a="http://schemas.openxmlformats.org/drawingml/2006/main">
            <a:lvl1pPr>
              <a:buNone/>
              <a:defRPr sz="1000">
                <a:solidFill>
                  <a:schemeClr val="accent4"/>
                </a:solidFill>
              </a:defRPr>
            </a:lvl1pPr>
          </a:lstStyle>
          <a:p xmlns:a="http://schemas.openxmlformats.org/drawingml/2006/main">
            <a:pPr algn="r">
              <a:buNone/>
            </a:pPr>
            <a:fld id="{F7021451-1387-4CA6-816F-3879F97B5CBC}" type="slidenum">
              <a:rPr b="0"/>
              <a:t>8</a:t>
            </a:fld>
            <a:endParaRPr/>
          </a:p>
        </p:txBody>
      </p:sp>
    </p:spTree>
    <p:extLst>
      <p:ext uri="{BB962C8B-B14F-4D97-AF65-F5344CB8AC3E}">
        <p14:creationId xmlns:p14="http://schemas.microsoft.com/office/powerpoint/2010/main" val="131631566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E261E3C8-62B8-4767-A7F9-48EEC567A647}"/>
              </a:ext>
            </a:extLst>
          </p:cNvPr>
          <p:cNvSpPr>
            <a:spLocks xmlns:a="http://schemas.openxmlformats.org/drawingml/2006/main" noGrp="1"/>
          </p:cNvSpPr>
          <p:nvPr>
            <p:ph type="title" idx="101" hasCustomPrompt="1"/>
          </p:nvPr>
        </p:nvSpPr>
        <p:spPr>
          <a:xfrm xmlns:a="http://schemas.openxmlformats.org/drawingml/2006/main">
            <a:off x="457200" y="274320"/>
            <a:ext cx="82296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3000" b="1">
                <a:solidFill>
                  <a:schemeClr val="tx1"/>
                </a:solidFill>
              </a:rPr>
              <a:t>Monte Carlo: el modelo</a:t>
            </a:r>
            <a:endParaRPr sz="3000"/>
          </a:p>
        </p:txBody>
      </p:sp>
      <p:sp>
        <p:nvSpPr>
          <p:cNvPr id="3" name="Text 1">
            <a:extLst xmlns:a="http://schemas.openxmlformats.org/drawingml/2006/main">
              <a:ext uri="{FF2B5EF4-FFF2-40B4-BE49-F238E27FC236}">
                <a16:creationId xmlns:a16="http://schemas.microsoft.com/office/drawing/2014/main" id="{536B0438-AD1B-4F46-8998-A6830AC20907}"/>
              </a:ext>
            </a:extLst>
          </p:cNvPr>
          <p:cNvSpPr>
            <a:spLocks xmlns:a="http://schemas.openxmlformats.org/drawingml/2006/main" noGrp="1"/>
          </p:cNvSpPr>
          <p:nvPr/>
        </p:nvSpPr>
        <p:spPr>
          <a:xfrm xmlns:a="http://schemas.openxmlformats.org/drawingml/2006/main">
            <a:off x="457200" y="1097280"/>
            <a:ext cx="4206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chemeClr val="tx1"/>
                </a:solidFill>
              </a:rPr>
              <a:t>Idea: repetir muchas veces un modelo aleatorio explícito para estimar probabilidades y precisión.</a:t>
            </a:r>
            <a:endParaRPr sz="1400"/>
          </a:p>
        </p:txBody>
      </p:sp>
      <p:sp>
        <p:nvSpPr>
          <p:cNvPr id="4" name="Tarjeta multinomial">
            <a:extLst xmlns:a="http://schemas.openxmlformats.org/drawingml/2006/main">
              <a:ext uri="{FF2B5EF4-FFF2-40B4-BE49-F238E27FC236}">
                <a16:creationId xmlns:a16="http://schemas.microsoft.com/office/drawing/2014/main" id="{CF349A1A-3DCA-410E-9903-C8CD3B25AE7C}"/>
              </a:ext>
            </a:extLst>
          </p:cNvPr>
          <p:cNvSpPr>
            <a:spLocks xmlns:a="http://schemas.openxmlformats.org/drawingml/2006/main" noGrp="1"/>
          </p:cNvSpPr>
          <p:nvPr/>
        </p:nvSpPr>
        <p:spPr>
          <a:xfrm xmlns:a="http://schemas.openxmlformats.org/drawingml/2006/main">
            <a:off x="457200" y="1828800"/>
            <a:ext cx="4206240" cy="1005840"/>
          </a:xfrm>
          <a:prstGeom xmlns:a="http://schemas.openxmlformats.org/drawingml/2006/main" prst="roundRect">
            <a:avLst>
              <a:gd name="adj" fmla="val 7273"/>
            </a:avLst>
          </a:prstGeom>
          <a:solidFill xmlns:a="http://schemas.openxmlformats.org/drawingml/2006/main">
            <a:schemeClr val="bg2"/>
          </a:solidFill>
        </p:spPr>
      </p:sp>
      <p:sp>
        <p:nvSpPr>
          <p:cNvPr id="5" name="Text 3">
            <a:extLst xmlns:a="http://schemas.openxmlformats.org/drawingml/2006/main">
              <a:ext uri="{FF2B5EF4-FFF2-40B4-BE49-F238E27FC236}">
                <a16:creationId xmlns:a16="http://schemas.microsoft.com/office/drawing/2014/main" id="{4D19CF1D-7C88-4CEF-8ECD-BB9962EA6FF3}"/>
              </a:ext>
            </a:extLst>
          </p:cNvPr>
          <p:cNvSpPr>
            <a:spLocks xmlns:a="http://schemas.openxmlformats.org/drawingml/2006/main" noGrp="1"/>
          </p:cNvSpPr>
          <p:nvPr/>
        </p:nvSpPr>
        <p:spPr>
          <a:xfrm xmlns:a="http://schemas.openxmlformats.org/drawingml/2006/main">
            <a:off x="594360" y="1874520"/>
            <a:ext cx="39319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chemeClr val="tx1"/>
                </a:solidFill>
              </a:rPr>
              <a:t>Puntuación ∈ {1,…,5} con probabilidades observadas. En cada distrito:</a:t>
            </a:r>
            <a:endParaRPr sz="1200"/>
          </a:p>
        </p:txBody>
      </p:sp>
      <p:sp>
        <p:nvSpPr>
          <p:cNvPr id="6" name="Text 4">
            <a:extLst xmlns:a="http://schemas.openxmlformats.org/drawingml/2006/main">
              <a:ext uri="{FF2B5EF4-FFF2-40B4-BE49-F238E27FC236}">
                <a16:creationId xmlns:a16="http://schemas.microsoft.com/office/drawing/2014/main" id="{6A57BBFA-0484-47F6-B8E8-F9CD30BE611D}"/>
              </a:ext>
            </a:extLst>
          </p:cNvPr>
          <p:cNvSpPr>
            <a:spLocks xmlns:a="http://schemas.openxmlformats.org/drawingml/2006/main" noGrp="1"/>
          </p:cNvSpPr>
          <p:nvPr/>
        </p:nvSpPr>
        <p:spPr>
          <a:xfrm xmlns:a="http://schemas.openxmlformats.org/drawingml/2006/main">
            <a:off x="594360" y="2286000"/>
            <a:ext cx="39319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b="1">
                <a:solidFill>
                  <a:schemeClr val="tx1"/>
                </a:solidFill>
              </a:rPr>
              <a:t>(C1,…,C5) ~ Multinomial(ng, p1,…,p5)</a:t>
            </a:r>
            <a:endParaRPr sz="1400"/>
          </a:p>
        </p:txBody>
      </p:sp>
      <p:sp>
        <p:nvSpPr>
          <p:cNvPr id="7" name="Text 5">
            <a:extLst xmlns:a="http://schemas.openxmlformats.org/drawingml/2006/main">
              <a:ext uri="{FF2B5EF4-FFF2-40B4-BE49-F238E27FC236}">
                <a16:creationId xmlns:a16="http://schemas.microsoft.com/office/drawing/2014/main" id="{8D4DEECC-D5BD-4FAD-A87C-8204D7147319}"/>
              </a:ext>
            </a:extLst>
          </p:cNvPr>
          <p:cNvSpPr>
            <a:spLocks xmlns:a="http://schemas.openxmlformats.org/drawingml/2006/main" noGrp="1"/>
          </p:cNvSpPr>
          <p:nvPr/>
        </p:nvSpPr>
        <p:spPr>
          <a:xfrm xmlns:a="http://schemas.openxmlformats.org/drawingml/2006/main">
            <a:off x="594360" y="2542032"/>
            <a:ext cx="39319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b="1">
                <a:solidFill>
                  <a:schemeClr val="tx1"/>
                </a:solidFill>
              </a:rPr>
              <a:t>Ȳg = Σ k·Ck / ng</a:t>
            </a:r>
            <a:endParaRPr sz="1400"/>
          </a:p>
        </p:txBody>
      </p:sp>
      <p:sp>
        <p:nvSpPr>
          <p:cNvPr id="8" name="Ficha ajustado">
            <a:extLst xmlns:a="http://schemas.openxmlformats.org/drawingml/2006/main">
              <a:ext uri="{FF2B5EF4-FFF2-40B4-BE49-F238E27FC236}">
                <a16:creationId xmlns:a16="http://schemas.microsoft.com/office/drawing/2014/main" id="{9CBCB530-B6FA-416B-A4C9-18D834E365D5}"/>
              </a:ext>
            </a:extLst>
          </p:cNvPr>
          <p:cNvSpPr>
            <a:spLocks xmlns:a="http://schemas.openxmlformats.org/drawingml/2006/main" noGrp="1"/>
          </p:cNvSpPr>
          <p:nvPr/>
        </p:nvSpPr>
        <p:spPr>
          <a:xfrm xmlns:a="http://schemas.openxmlformats.org/drawingml/2006/main">
            <a:off x="457200" y="3017520"/>
            <a:ext cx="329184" cy="329184"/>
          </a:xfrm>
          <a:prstGeom xmlns:a="http://schemas.openxmlformats.org/drawingml/2006/main" prst="ellipse">
            <a:avLst/>
          </a:prstGeom>
          <a:solidFill xmlns:a="http://schemas.openxmlformats.org/drawingml/2006/main">
            <a:srgbClr val="087E8B"/>
          </a:solidFill>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chemeClr val="bg1"/>
                </a:solidFill>
              </a:rPr>
              <a:t>A</a:t>
            </a:r>
            <a:endParaRPr sz="1200"/>
          </a:p>
        </p:txBody>
      </p:sp>
      <p:sp>
        <p:nvSpPr>
          <p:cNvPr id="9" name="Text 7">
            <a:extLst xmlns:a="http://schemas.openxmlformats.org/drawingml/2006/main">
              <a:ext uri="{FF2B5EF4-FFF2-40B4-BE49-F238E27FC236}">
                <a16:creationId xmlns:a16="http://schemas.microsoft.com/office/drawing/2014/main" id="{F3EBA039-1681-405D-B1B0-27C2BD44FB4E}"/>
              </a:ext>
            </a:extLst>
          </p:cNvPr>
          <p:cNvSpPr>
            <a:spLocks xmlns:a="http://schemas.openxmlformats.org/drawingml/2006/main" noGrp="1"/>
          </p:cNvSpPr>
          <p:nvPr/>
        </p:nvSpPr>
        <p:spPr>
          <a:xfrm xmlns:a="http://schemas.openxmlformats.org/drawingml/2006/main">
            <a:off x="914400" y="2971800"/>
            <a:ext cx="37490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chemeClr val="tx1"/>
                </a:solidFill>
              </a:rPr>
              <a:t>Modelo ajustado: cada distrito con su distribución observada (Δ0 = 0,0181).</a:t>
            </a:r>
            <a:endParaRPr sz="1200"/>
          </a:p>
        </p:txBody>
      </p:sp>
      <p:sp>
        <p:nvSpPr>
          <p:cNvPr id="10" name="Ficha nulo">
            <a:extLst xmlns:a="http://schemas.openxmlformats.org/drawingml/2006/main">
              <a:ext uri="{FF2B5EF4-FFF2-40B4-BE49-F238E27FC236}">
                <a16:creationId xmlns:a16="http://schemas.microsoft.com/office/drawing/2014/main" id="{018029DC-9BA3-4D21-A7D2-377381F9FB02}"/>
              </a:ext>
            </a:extLst>
          </p:cNvPr>
          <p:cNvSpPr>
            <a:spLocks xmlns:a="http://schemas.openxmlformats.org/drawingml/2006/main" noGrp="1"/>
          </p:cNvSpPr>
          <p:nvPr/>
        </p:nvSpPr>
        <p:spPr>
          <a:xfrm xmlns:a="http://schemas.openxmlformats.org/drawingml/2006/main">
            <a:off x="457200" y="3520440"/>
            <a:ext cx="329184" cy="329184"/>
          </a:xfrm>
          <a:prstGeom xmlns:a="http://schemas.openxmlformats.org/drawingml/2006/main" prst="ellipse">
            <a:avLst/>
          </a:prstGeom>
          <a:solidFill xmlns:a="http://schemas.openxmlformats.org/drawingml/2006/main">
            <a:srgbClr val="6B7A8C"/>
          </a:solidFill>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chemeClr val="bg1"/>
                </a:solidFill>
              </a:rPr>
              <a:t>N</a:t>
            </a:r>
            <a:endParaRPr sz="1200"/>
          </a:p>
        </p:txBody>
      </p:sp>
      <p:sp>
        <p:nvSpPr>
          <p:cNvPr id="11" name="Text 9">
            <a:extLst xmlns:a="http://schemas.openxmlformats.org/drawingml/2006/main">
              <a:ext uri="{FF2B5EF4-FFF2-40B4-BE49-F238E27FC236}">
                <a16:creationId xmlns:a16="http://schemas.microsoft.com/office/drawing/2014/main" id="{8D10B6E1-DF49-4B11-9BCA-8ABD28CDBD5A}"/>
              </a:ext>
            </a:extLst>
          </p:cNvPr>
          <p:cNvSpPr>
            <a:spLocks xmlns:a="http://schemas.openxmlformats.org/drawingml/2006/main" noGrp="1"/>
          </p:cNvSpPr>
          <p:nvPr/>
        </p:nvSpPr>
        <p:spPr>
          <a:xfrm xmlns:a="http://schemas.openxmlformats.org/drawingml/2006/main">
            <a:off x="914400" y="3474720"/>
            <a:ext cx="37490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chemeClr val="tx1"/>
                </a:solidFill>
              </a:rPr>
              <a:t>Modelo nulo: ambos con la distribución conjunta (Δ = 0), para medir falsos rechazos.</a:t>
            </a:r>
            <a:endParaRPr sz="1200"/>
          </a:p>
        </p:txBody>
      </p:sp>
      <p:sp>
        <p:nvSpPr>
          <p:cNvPr id="12" name="Text 10">
            <a:extLst xmlns:a="http://schemas.openxmlformats.org/drawingml/2006/main">
              <a:ext uri="{FF2B5EF4-FFF2-40B4-BE49-F238E27FC236}">
                <a16:creationId xmlns:a16="http://schemas.microsoft.com/office/drawing/2014/main" id="{E1AE748A-F1F9-404E-BF89-01DAA481E904}"/>
              </a:ext>
            </a:extLst>
          </p:cNvPr>
          <p:cNvSpPr>
            <a:spLocks xmlns:a="http://schemas.openxmlformats.org/drawingml/2006/main" noGrp="1"/>
          </p:cNvSpPr>
          <p:nvPr/>
        </p:nvSpPr>
        <p:spPr>
          <a:xfrm xmlns:a="http://schemas.openxmlformats.org/drawingml/2006/main">
            <a:off x="457200" y="4023360"/>
            <a:ext cx="42062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chemeClr val="accent3"/>
                </a:solidFill>
              </a:rPr>
              <a:t>Decisión: prueba de Welch bilateral con α = 5% en cada realización.</a:t>
            </a:r>
            <a:endParaRPr sz="1200"/>
          </a:p>
        </p:txBody>
      </p:sp>
      <p:sp>
        <p:nvSpPr>
          <p:cNvPr id="25" name="Slide Number Placeholder 0">
            <a:extLst xmlns:a="http://schemas.openxmlformats.org/drawingml/2006/main">
              <a:ext uri="{FF2B5EF4-FFF2-40B4-BE49-F238E27FC236}">
                <a16:creationId xmlns:a16="http://schemas.microsoft.com/office/drawing/2014/main" id="{2DB83095-0BC2-43DC-A202-7D850E8C68EB}"/>
              </a:ext>
            </a:extLst>
          </p:cNvPr>
          <p:cNvSpPr>
            <a:spLocks xmlns:a="http://schemas.openxmlformats.org/drawingml/2006/main" noGrp="1"/>
          </p:cNvSpPr>
          <p:nvPr>
            <p:ph type="sldNum" idx="4294967295"/>
          </p:nvPr>
        </p:nvSpPr>
        <p:spPr>
          <a:xfrm xmlns:a="http://schemas.openxmlformats.org/drawingml/2006/main">
            <a:off x="8229600" y="4754880"/>
            <a:ext cx="457200" cy="228600"/>
          </a:xfrm>
          <a:prstGeom xmlns:a="http://schemas.openxmlformats.org/drawingml/2006/main" prst="rect">
            <a:avLst/>
          </a:prstGeom>
        </p:spPr>
        <p:txBody>
          <a:bodyPr xmlns:a="http://schemas.openxmlformats.org/drawingml/2006/main"/>
          <a:lstStyle xmlns:a="http://schemas.openxmlformats.org/drawingml/2006/main">
            <a:lvl1pPr>
              <a:buNone/>
              <a:defRPr sz="1000">
                <a:solidFill>
                  <a:schemeClr val="accent4"/>
                </a:solidFill>
              </a:defRPr>
            </a:lvl1pPr>
          </a:lstStyle>
          <a:p xmlns:a="http://schemas.openxmlformats.org/drawingml/2006/main">
            <a:pPr algn="r">
              <a:buNone/>
            </a:pPr>
            <a:fld id="{F7021451-1387-4CA6-816F-3879F97B5CBC}" type="slidenum">
              <a:rPr b="0"/>
              <a:t>9</a:t>
            </a:fld>
            <a:endParaRPr/>
          </a:p>
        </p:txBody>
      </p:sp>
      <p:graphicFrame>
        <p:nvGraphicFramePr>
          <p:cNvPr id="39" name="Chart"/>
          <p:cNvGraphicFramePr/>
          <p:nvPr/>
        </p:nvGraphicFramePr>
        <p:xfrm>
          <a:off xmlns:a="http://schemas.openxmlformats.org/drawingml/2006/main" x="4937760" y="1097280"/>
          <a:ext xmlns:a="http://schemas.openxmlformats.org/drawingml/2006/main" cx="3749040" cy="3383280"/>
        </p:xfrm>
        <a:graphic xmlns:a="http://schemas.openxmlformats.org/drawingml/2006/main">
          <a:graphicData uri="http://schemas.openxmlformats.org/drawingml/2006/chart">
            <c:chart xmlns:r="http://schemas.openxmlformats.org/officeDocument/2006/relationships" xmlns:c="http://schemas.openxmlformats.org/drawingml/2006/chart" r:id="Refce37cb94ce467f"/>
          </a:graphicData>
        </a:graphic>
      </p:graphicFrame>
    </p:spTree>
    <p:extLst>
      <p:ext uri="{BB962C8B-B14F-4D97-AF65-F5344CB8AC3E}">
        <p14:creationId xmlns:p14="http://schemas.microsoft.com/office/powerpoint/2010/main" val="1415099840"/>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CEB33BBC-9799-4804-9332-C2237F59D08C}"/>
              </a:ext>
            </a:extLst>
          </p:cNvPr>
          <p:cNvSpPr>
            <a:spLocks xmlns:a="http://schemas.openxmlformats.org/drawingml/2006/main" noGrp="1"/>
          </p:cNvSpPr>
          <p:nvPr>
            <p:ph type="title" idx="101" hasCustomPrompt="1"/>
          </p:nvPr>
        </p:nvSpPr>
        <p:spPr>
          <a:xfrm xmlns:a="http://schemas.openxmlformats.org/drawingml/2006/main">
            <a:off x="457200" y="274320"/>
            <a:ext cx="82296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3000" b="1">
                <a:solidFill>
                  <a:schemeClr val="tx1"/>
                </a:solidFill>
              </a:rPr>
              <a:t>Más muestra, más poder de detección</a:t>
            </a:r>
            <a:endParaRPr sz="3000"/>
          </a:p>
        </p:txBody>
      </p:sp>
      <p:sp>
        <p:nvSpPr>
          <p:cNvPr id="4" name="Tarjeta cifra 1">
            <a:extLst xmlns:a="http://schemas.openxmlformats.org/drawingml/2006/main">
              <a:ext uri="{FF2B5EF4-FFF2-40B4-BE49-F238E27FC236}">
                <a16:creationId xmlns:a16="http://schemas.microsoft.com/office/drawing/2014/main" id="{7EA6AD10-3C69-413C-B096-6E4F43193010}"/>
              </a:ext>
            </a:extLst>
          </p:cNvPr>
          <p:cNvSpPr>
            <a:spLocks xmlns:a="http://schemas.openxmlformats.org/drawingml/2006/main" noGrp="1"/>
          </p:cNvSpPr>
          <p:nvPr/>
        </p:nvSpPr>
        <p:spPr>
          <a:xfrm xmlns:a="http://schemas.openxmlformats.org/drawingml/2006/main">
            <a:off x="5806440" y="1097280"/>
            <a:ext cx="2880360" cy="1097280"/>
          </a:xfrm>
          <a:prstGeom xmlns:a="http://schemas.openxmlformats.org/drawingml/2006/main" prst="roundRect">
            <a:avLst>
              <a:gd name="adj" fmla="val 6667"/>
            </a:avLst>
          </a:prstGeom>
          <a:solidFill xmlns:a="http://schemas.openxmlformats.org/drawingml/2006/main">
            <a:schemeClr val="bg2"/>
          </a:solidFill>
        </p:spPr>
      </p:sp>
      <p:sp>
        <p:nvSpPr>
          <p:cNvPr id="5" name="Text 2">
            <a:extLst xmlns:a="http://schemas.openxmlformats.org/drawingml/2006/main">
              <a:ext uri="{FF2B5EF4-FFF2-40B4-BE49-F238E27FC236}">
                <a16:creationId xmlns:a16="http://schemas.microsoft.com/office/drawing/2014/main" id="{D49DFBDF-C7D0-4E91-8385-489678C2D06C}"/>
              </a:ext>
            </a:extLst>
          </p:cNvPr>
          <p:cNvSpPr>
            <a:spLocks xmlns:a="http://schemas.openxmlformats.org/drawingml/2006/main" noGrp="1"/>
          </p:cNvSpPr>
          <p:nvPr/>
        </p:nvSpPr>
        <p:spPr>
          <a:xfrm xmlns:a="http://schemas.openxmlformats.org/drawingml/2006/main">
            <a:off x="5943600" y="1170432"/>
            <a:ext cx="26060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b="1">
                <a:solidFill>
                  <a:srgbClr val="087E8B"/>
                </a:solidFill>
                <a:latin typeface="Cambria"/>
                <a:ea typeface="Cambria"/>
                <a:cs typeface="Cambria"/>
              </a:rPr>
              <a:t>52,83%</a:t>
            </a:r>
            <a:endParaRPr sz="2400"/>
          </a:p>
        </p:txBody>
      </p:sp>
      <p:sp>
        <p:nvSpPr>
          <p:cNvPr id="6" name="Text 3">
            <a:extLst xmlns:a="http://schemas.openxmlformats.org/drawingml/2006/main">
              <a:ext uri="{FF2B5EF4-FFF2-40B4-BE49-F238E27FC236}">
                <a16:creationId xmlns:a16="http://schemas.microsoft.com/office/drawing/2014/main" id="{C952F938-6A36-4003-9AA2-DA03F847F50A}"/>
              </a:ext>
            </a:extLst>
          </p:cNvPr>
          <p:cNvSpPr>
            <a:spLocks xmlns:a="http://schemas.openxmlformats.org/drawingml/2006/main" noGrp="1"/>
          </p:cNvSpPr>
          <p:nvPr/>
        </p:nvSpPr>
        <p:spPr>
          <a:xfrm xmlns:a="http://schemas.openxmlformats.org/drawingml/2006/main">
            <a:off x="5943600" y="1645920"/>
            <a:ext cx="26060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chemeClr val="tx1"/>
                </a:solidFill>
              </a:rPr>
              <a:t>potencia bajo el modelo ajustado (≈53%); IC Monte Carlo [52,14%; 53,52%]</a:t>
            </a:r>
            <a:endParaRPr sz="1100"/>
          </a:p>
        </p:txBody>
      </p:sp>
      <p:sp>
        <p:nvSpPr>
          <p:cNvPr id="7" name="Tarjeta cifra 2">
            <a:extLst xmlns:a="http://schemas.openxmlformats.org/drawingml/2006/main">
              <a:ext uri="{FF2B5EF4-FFF2-40B4-BE49-F238E27FC236}">
                <a16:creationId xmlns:a16="http://schemas.microsoft.com/office/drawing/2014/main" id="{EC37B234-65FC-4712-A727-67D0B7D861EA}"/>
              </a:ext>
            </a:extLst>
          </p:cNvPr>
          <p:cNvSpPr>
            <a:spLocks xmlns:a="http://schemas.openxmlformats.org/drawingml/2006/main" noGrp="1"/>
          </p:cNvSpPr>
          <p:nvPr/>
        </p:nvSpPr>
        <p:spPr>
          <a:xfrm xmlns:a="http://schemas.openxmlformats.org/drawingml/2006/main">
            <a:off x="5806440" y="2286000"/>
            <a:ext cx="2880360" cy="1097280"/>
          </a:xfrm>
          <a:prstGeom xmlns:a="http://schemas.openxmlformats.org/drawingml/2006/main" prst="roundRect">
            <a:avLst>
              <a:gd name="adj" fmla="val 6667"/>
            </a:avLst>
          </a:prstGeom>
          <a:solidFill xmlns:a="http://schemas.openxmlformats.org/drawingml/2006/main">
            <a:schemeClr val="bg2"/>
          </a:solidFill>
        </p:spPr>
      </p:sp>
      <p:sp>
        <p:nvSpPr>
          <p:cNvPr id="8" name="Text 5">
            <a:extLst xmlns:a="http://schemas.openxmlformats.org/drawingml/2006/main">
              <a:ext uri="{FF2B5EF4-FFF2-40B4-BE49-F238E27FC236}">
                <a16:creationId xmlns:a16="http://schemas.microsoft.com/office/drawing/2014/main" id="{671CC6D6-C1CE-4784-9524-D681B3982058}"/>
              </a:ext>
            </a:extLst>
          </p:cNvPr>
          <p:cNvSpPr>
            <a:spLocks xmlns:a="http://schemas.openxmlformats.org/drawingml/2006/main" noGrp="1"/>
          </p:cNvSpPr>
          <p:nvPr/>
        </p:nvSpPr>
        <p:spPr>
          <a:xfrm xmlns:a="http://schemas.openxmlformats.org/drawingml/2006/main">
            <a:off x="5943600" y="2359152"/>
            <a:ext cx="26060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b="1">
                <a:solidFill>
                  <a:srgbClr val="6B7A8C"/>
                </a:solidFill>
                <a:latin typeface="Cambria"/>
                <a:ea typeface="Cambria"/>
                <a:cs typeface="Cambria"/>
              </a:rPr>
              <a:t>5,34%</a:t>
            </a:r>
            <a:endParaRPr sz="2400"/>
          </a:p>
        </p:txBody>
      </p:sp>
      <p:sp>
        <p:nvSpPr>
          <p:cNvPr id="9" name="Text 6">
            <a:extLst xmlns:a="http://schemas.openxmlformats.org/drawingml/2006/main">
              <a:ext uri="{FF2B5EF4-FFF2-40B4-BE49-F238E27FC236}">
                <a16:creationId xmlns:a16="http://schemas.microsoft.com/office/drawing/2014/main" id="{A6EFFA19-6F17-45BA-895E-DFEA677D2DF6}"/>
              </a:ext>
            </a:extLst>
          </p:cNvPr>
          <p:cNvSpPr>
            <a:spLocks xmlns:a="http://schemas.openxmlformats.org/drawingml/2006/main" noGrp="1"/>
          </p:cNvSpPr>
          <p:nvPr/>
        </p:nvSpPr>
        <p:spPr>
          <a:xfrm xmlns:a="http://schemas.openxmlformats.org/drawingml/2006/main">
            <a:off x="5943600" y="2834640"/>
            <a:ext cx="26060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chemeClr val="tx1"/>
                </a:solidFill>
              </a:rPr>
              <a:t>potencia con 200 anuncios por distrito: casi el nivel del 5%</a:t>
            </a:r>
            <a:endParaRPr sz="1100"/>
          </a:p>
        </p:txBody>
      </p:sp>
      <p:sp>
        <p:nvSpPr>
          <p:cNvPr id="10" name="Tarjeta cifra 3">
            <a:extLst xmlns:a="http://schemas.openxmlformats.org/drawingml/2006/main">
              <a:ext uri="{FF2B5EF4-FFF2-40B4-BE49-F238E27FC236}">
                <a16:creationId xmlns:a16="http://schemas.microsoft.com/office/drawing/2014/main" id="{1484C4BC-0F3C-41A2-B053-F00BBAF11542}"/>
              </a:ext>
            </a:extLst>
          </p:cNvPr>
          <p:cNvSpPr>
            <a:spLocks xmlns:a="http://schemas.openxmlformats.org/drawingml/2006/main" noGrp="1"/>
          </p:cNvSpPr>
          <p:nvPr/>
        </p:nvSpPr>
        <p:spPr>
          <a:xfrm xmlns:a="http://schemas.openxmlformats.org/drawingml/2006/main">
            <a:off x="5806440" y="3474720"/>
            <a:ext cx="2880360" cy="1097280"/>
          </a:xfrm>
          <a:prstGeom xmlns:a="http://schemas.openxmlformats.org/drawingml/2006/main" prst="roundRect">
            <a:avLst>
              <a:gd name="adj" fmla="val 6667"/>
            </a:avLst>
          </a:prstGeom>
          <a:solidFill xmlns:a="http://schemas.openxmlformats.org/drawingml/2006/main">
            <a:schemeClr val="bg2"/>
          </a:solidFill>
        </p:spPr>
      </p:sp>
      <p:sp>
        <p:nvSpPr>
          <p:cNvPr id="11" name="Text 8">
            <a:extLst xmlns:a="http://schemas.openxmlformats.org/drawingml/2006/main">
              <a:ext uri="{FF2B5EF4-FFF2-40B4-BE49-F238E27FC236}">
                <a16:creationId xmlns:a16="http://schemas.microsoft.com/office/drawing/2014/main" id="{CD6D8A3F-7A67-4A40-B751-E50CC740C18D}"/>
              </a:ext>
            </a:extLst>
          </p:cNvPr>
          <p:cNvSpPr>
            <a:spLocks xmlns:a="http://schemas.openxmlformats.org/drawingml/2006/main" noGrp="1"/>
          </p:cNvSpPr>
          <p:nvPr/>
        </p:nvSpPr>
        <p:spPr>
          <a:xfrm xmlns:a="http://schemas.openxmlformats.org/drawingml/2006/main">
            <a:off x="5943600" y="3547872"/>
            <a:ext cx="26060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b="1">
                <a:solidFill>
                  <a:srgbClr val="C85A43"/>
                </a:solidFill>
                <a:latin typeface="Cambria"/>
                <a:ea typeface="Cambria"/>
                <a:cs typeface="Cambria"/>
              </a:rPr>
              <a:t>4,97–5,40%</a:t>
            </a:r>
            <a:endParaRPr sz="2400"/>
          </a:p>
        </p:txBody>
      </p:sp>
      <p:sp>
        <p:nvSpPr>
          <p:cNvPr id="12" name="Text 9">
            <a:extLst xmlns:a="http://schemas.openxmlformats.org/drawingml/2006/main">
              <a:ext uri="{FF2B5EF4-FFF2-40B4-BE49-F238E27FC236}">
                <a16:creationId xmlns:a16="http://schemas.microsoft.com/office/drawing/2014/main" id="{BF93B1EB-D54C-488B-A330-DA0A4868820E}"/>
              </a:ext>
            </a:extLst>
          </p:cNvPr>
          <p:cNvSpPr>
            <a:spLocks xmlns:a="http://schemas.openxmlformats.org/drawingml/2006/main" noGrp="1"/>
          </p:cNvSpPr>
          <p:nvPr/>
        </p:nvSpPr>
        <p:spPr>
          <a:xfrm xmlns:a="http://schemas.openxmlformats.org/drawingml/2006/main">
            <a:off x="5943600" y="4023360"/>
            <a:ext cx="26060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chemeClr val="tx1"/>
                </a:solidFill>
              </a:rPr>
              <a:t>falsos rechazos del modelo nulo, cerca del 5% nominal</a:t>
            </a:r>
            <a:endParaRPr sz="1100"/>
          </a:p>
        </p:txBody>
      </p:sp>
      <p:sp>
        <p:nvSpPr>
          <p:cNvPr id="25" name="Slide Number Placeholder 0">
            <a:extLst xmlns:a="http://schemas.openxmlformats.org/drawingml/2006/main">
              <a:ext uri="{FF2B5EF4-FFF2-40B4-BE49-F238E27FC236}">
                <a16:creationId xmlns:a16="http://schemas.microsoft.com/office/drawing/2014/main" id="{9F6B06B2-4ECC-44D7-BC69-1F81A76A623D}"/>
              </a:ext>
            </a:extLst>
          </p:cNvPr>
          <p:cNvSpPr>
            <a:spLocks xmlns:a="http://schemas.openxmlformats.org/drawingml/2006/main" noGrp="1"/>
          </p:cNvSpPr>
          <p:nvPr>
            <p:ph type="sldNum" idx="4294967295"/>
          </p:nvPr>
        </p:nvSpPr>
        <p:spPr>
          <a:xfrm xmlns:a="http://schemas.openxmlformats.org/drawingml/2006/main">
            <a:off x="8229600" y="4754880"/>
            <a:ext cx="457200" cy="228600"/>
          </a:xfrm>
          <a:prstGeom xmlns:a="http://schemas.openxmlformats.org/drawingml/2006/main" prst="rect">
            <a:avLst/>
          </a:prstGeom>
        </p:spPr>
        <p:txBody>
          <a:bodyPr xmlns:a="http://schemas.openxmlformats.org/drawingml/2006/main"/>
          <a:lstStyle xmlns:a="http://schemas.openxmlformats.org/drawingml/2006/main">
            <a:lvl1pPr>
              <a:buNone/>
              <a:defRPr sz="1000">
                <a:solidFill>
                  <a:schemeClr val="accent4"/>
                </a:solidFill>
              </a:defRPr>
            </a:lvl1pPr>
          </a:lstStyle>
          <a:p xmlns:a="http://schemas.openxmlformats.org/drawingml/2006/main">
            <a:pPr algn="r">
              <a:buNone/>
            </a:pPr>
            <a:fld id="{F7021451-1387-4CA6-816F-3879F97B5CBC}" type="slidenum">
              <a:rPr b="0"/>
              <a:t>10</a:t>
            </a:fld>
            <a:endParaRPr/>
          </a:p>
        </p:txBody>
      </p:sp>
      <p:graphicFrame>
        <p:nvGraphicFramePr>
          <p:cNvPr id="38" name="Chart"/>
          <p:cNvGraphicFramePr/>
          <p:nvPr/>
        </p:nvGraphicFramePr>
        <p:xfrm>
          <a:off xmlns:a="http://schemas.openxmlformats.org/drawingml/2006/main" x="457200" y="1051560"/>
          <a:ext xmlns:a="http://schemas.openxmlformats.org/drawingml/2006/main" cx="5120640" cy="3520440"/>
        </p:xfrm>
        <a:graphic xmlns:a="http://schemas.openxmlformats.org/drawingml/2006/main">
          <a:graphicData uri="http://schemas.openxmlformats.org/drawingml/2006/chart">
            <c:chart xmlns:r="http://schemas.openxmlformats.org/officeDocument/2006/relationships" xmlns:c="http://schemas.openxmlformats.org/drawingml/2006/chart" r:id="R7e184006fc5b4ed9"/>
          </a:graphicData>
        </a:graphic>
      </p:graphicFrame>
    </p:spTree>
    <p:extLst>
      <p:ext uri="{BB962C8B-B14F-4D97-AF65-F5344CB8AC3E}">
        <p14:creationId xmlns:p14="http://schemas.microsoft.com/office/powerpoint/2010/main" val="1689497596"/>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84644D91-F28A-4687-A689-4CEC6457D356}"/>
              </a:ext>
            </a:extLst>
          </p:cNvPr>
          <p:cNvSpPr>
            <a:spLocks xmlns:a="http://schemas.openxmlformats.org/drawingml/2006/main" noGrp="1"/>
          </p:cNvSpPr>
          <p:nvPr>
            <p:ph type="title" idx="101" hasCustomPrompt="1"/>
          </p:nvPr>
        </p:nvSpPr>
        <p:spPr>
          <a:xfrm xmlns:a="http://schemas.openxmlformats.org/drawingml/2006/main">
            <a:off x="457200" y="274320"/>
            <a:ext cx="82296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3000" b="1">
                <a:solidFill>
                  <a:schemeClr val="tx1"/>
                </a:solidFill>
              </a:rPr>
              <a:t>Precisión y error de simulación</a:t>
            </a:r>
            <a:endParaRPr sz="3000"/>
          </a:p>
        </p:txBody>
      </p:sp>
      <p:sp>
        <p:nvSpPr>
          <p:cNvPr id="4" name="Text 1">
            <a:extLst xmlns:a="http://schemas.openxmlformats.org/drawingml/2006/main">
              <a:ext uri="{FF2B5EF4-FFF2-40B4-BE49-F238E27FC236}">
                <a16:creationId xmlns:a16="http://schemas.microsoft.com/office/drawing/2014/main" id="{66F1B7BA-1135-4215-B768-5BAAECC9A5F1}"/>
              </a:ext>
            </a:extLst>
          </p:cNvPr>
          <p:cNvSpPr>
            <a:spLocks xmlns:a="http://schemas.openxmlformats.org/drawingml/2006/main" noGrp="1"/>
          </p:cNvSpPr>
          <p:nvPr/>
        </p:nvSpPr>
        <p:spPr>
          <a:xfrm xmlns:a="http://schemas.openxmlformats.org/drawingml/2006/main">
            <a:off x="457200" y="3931920"/>
            <a:ext cx="4297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chemeClr val="tx1"/>
                </a:solidFill>
              </a:rPr>
              <a:t>Con tamaños originales, el evento ocurrió en las 20.000 realizaciones; límite inferior Wilson: 99,98%. Es condicional al modelo, no una certeza.</a:t>
            </a:r>
            <a:endParaRPr sz="1200"/>
          </a:p>
        </p:txBody>
      </p:sp>
      <p:sp>
        <p:nvSpPr>
          <p:cNvPr id="5" name="Text 2">
            <a:extLst xmlns:a="http://schemas.openxmlformats.org/drawingml/2006/main">
              <a:ext uri="{FF2B5EF4-FFF2-40B4-BE49-F238E27FC236}">
                <a16:creationId xmlns:a16="http://schemas.microsoft.com/office/drawing/2014/main" id="{BEBFD8A9-4290-4946-B67C-5B1ADE5BF83C}"/>
              </a:ext>
            </a:extLst>
          </p:cNvPr>
          <p:cNvSpPr>
            <a:spLocks xmlns:a="http://schemas.openxmlformats.org/drawingml/2006/main" noGrp="1"/>
          </p:cNvSpPr>
          <p:nvPr/>
        </p:nvSpPr>
        <p:spPr>
          <a:xfrm xmlns:a="http://schemas.openxmlformats.org/drawingml/2006/main">
            <a:off x="5029200" y="1097280"/>
            <a:ext cx="3657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chemeClr val="tx1"/>
                </a:solidFill>
                <a:latin typeface="Cambria"/>
                <a:ea typeface="Cambria"/>
                <a:cs typeface="Cambria"/>
              </a:rPr>
              <a:t>¿Cuántas realizaciones R?</a:t>
            </a:r>
            <a:endParaRPr sz="1600"/>
          </a:p>
        </p:txBody>
      </p:sp>
      <p:graphicFrame>
        <p:nvGraphicFramePr>
          <p:cNvPr id="32" name="Table 0"/>
          <p:cNvGraphicFramePr/>
          <p:nvPr/>
        </p:nvGraphicFramePr>
        <p:xfrm>
          <a:off xmlns:a="http://schemas.openxmlformats.org/drawingml/2006/main" x="5029200" y="1463040"/>
          <a:ext xmlns:a="http://schemas.openxmlformats.org/drawingml/2006/main" cx="3657600" cy="914400"/>
        </p:xfrm>
        <a:graphic xmlns:a="http://schemas.openxmlformats.org/drawingml/2006/main">
          <a:graphicData uri="http://schemas.openxmlformats.org/drawingml/2006/table">
            <a:tbl>
              <a:tblPr/>
              <a:tblGrid>
                <a:gridCol w="822960"/>
                <a:gridCol w="1554480"/>
                <a:gridCol w="1280160"/>
              </a:tblGrid>
              <a:tr h="329184">
                <a:tc>
                  <a:txBody>
                    <a:bodyPr/>
                    <a:lstStyle/>
                    <a:p>
                      <a:pPr marL="0" indent="0" algn="ctr">
                        <a:buNone/>
                      </a:pPr>
                      <a:r>
                        <a:rPr sz="1200" b="1">
                          <a:solidFill>
                            <a:schemeClr val="bg1"/>
                          </a:solidFill>
                          <a:latin typeface="Calibri"/>
                          <a:ea typeface="Calibri"/>
                          <a:cs typeface="Calibri"/>
                        </a:rPr>
                        <a:t>R</a:t>
                      </a:r>
                      <a:endParaRPr sz="1200">
                        <a:latin typeface="Calibri"/>
                        <a:ea typeface="Calibri"/>
                        <a:cs typeface="Calibri"/>
                      </a:endParaRPr>
                    </a:p>
                  </a:txBody>
                  <a:tcPr marL="91440" marR="91440" marT="45720" marB="45720" anchor="ctr">
                    <a:lnL w="6350" cmpd="sng">
                      <a:solidFill>
                        <a:srgbClr val="D5DBE3"/>
                      </a:solidFill>
                      <a:prstDash val="solid"/>
                    </a:lnL>
                    <a:lnR w="6350" cmpd="sng">
                      <a:solidFill>
                        <a:srgbClr val="D5DBE3"/>
                      </a:solidFill>
                      <a:prstDash val="solid"/>
                    </a:lnR>
                    <a:lnT w="6350" cmpd="sng">
                      <a:solidFill>
                        <a:srgbClr val="D5DBE3"/>
                      </a:solidFill>
                      <a:prstDash val="solid"/>
                    </a:lnT>
                    <a:lnB w="6350" cmpd="sng">
                      <a:solidFill>
                        <a:srgbClr val="D5DBE3"/>
                      </a:solidFill>
                      <a:prstDash val="solid"/>
                    </a:lnB>
                    <a:solidFill>
                      <a:schemeClr val="tx1"/>
                    </a:solidFill>
                  </a:tcPr>
                </a:tc>
                <a:tc>
                  <a:txBody>
                    <a:bodyPr/>
                    <a:lstStyle/>
                    <a:p>
                      <a:pPr marL="0" indent="0" algn="ctr">
                        <a:buNone/>
                      </a:pPr>
                      <a:r>
                        <a:rPr sz="1200" b="1">
                          <a:solidFill>
                            <a:schemeClr val="bg1"/>
                          </a:solidFill>
                          <a:latin typeface="Calibri"/>
                          <a:ea typeface="Calibri"/>
                          <a:cs typeface="Calibri"/>
                        </a:rPr>
                        <a:t>Potencia (n = 1.000)</a:t>
                      </a:r>
                      <a:endParaRPr sz="1200">
                        <a:latin typeface="Calibri"/>
                        <a:ea typeface="Calibri"/>
                        <a:cs typeface="Calibri"/>
                      </a:endParaRPr>
                    </a:p>
                  </a:txBody>
                  <a:tcPr marL="91440" marR="91440" marT="45720" marB="45720" anchor="ctr">
                    <a:lnL w="6350" cmpd="sng">
                      <a:solidFill>
                        <a:srgbClr val="D5DBE3"/>
                      </a:solidFill>
                      <a:prstDash val="solid"/>
                    </a:lnL>
                    <a:lnR w="6350" cmpd="sng">
                      <a:solidFill>
                        <a:srgbClr val="D5DBE3"/>
                      </a:solidFill>
                      <a:prstDash val="solid"/>
                    </a:lnR>
                    <a:lnT w="6350" cmpd="sng">
                      <a:solidFill>
                        <a:srgbClr val="D5DBE3"/>
                      </a:solidFill>
                      <a:prstDash val="solid"/>
                    </a:lnT>
                    <a:lnB w="6350" cmpd="sng">
                      <a:solidFill>
                        <a:srgbClr val="D5DBE3"/>
                      </a:solidFill>
                      <a:prstDash val="solid"/>
                    </a:lnB>
                    <a:solidFill>
                      <a:schemeClr val="tx1"/>
                    </a:solidFill>
                  </a:tcPr>
                </a:tc>
                <a:tc>
                  <a:txBody>
                    <a:bodyPr/>
                    <a:lstStyle/>
                    <a:p>
                      <a:pPr marL="0" indent="0" algn="ctr">
                        <a:buNone/>
                      </a:pPr>
                      <a:r>
                        <a:rPr sz="1200" b="1">
                          <a:solidFill>
                            <a:schemeClr val="bg1"/>
                          </a:solidFill>
                          <a:latin typeface="Calibri"/>
                          <a:ea typeface="Calibri"/>
                          <a:cs typeface="Calibri"/>
                        </a:rPr>
                        <a:t>EE Monte Carlo</a:t>
                      </a:r>
                      <a:endParaRPr sz="1200">
                        <a:latin typeface="Calibri"/>
                        <a:ea typeface="Calibri"/>
                        <a:cs typeface="Calibri"/>
                      </a:endParaRPr>
                    </a:p>
                  </a:txBody>
                  <a:tcPr marL="91440" marR="91440" marT="45720" marB="45720" anchor="ctr">
                    <a:lnL w="6350" cmpd="sng">
                      <a:solidFill>
                        <a:srgbClr val="D5DBE3"/>
                      </a:solidFill>
                      <a:prstDash val="solid"/>
                    </a:lnL>
                    <a:lnR w="6350" cmpd="sng">
                      <a:solidFill>
                        <a:srgbClr val="D5DBE3"/>
                      </a:solidFill>
                      <a:prstDash val="solid"/>
                    </a:lnR>
                    <a:lnT w="6350" cmpd="sng">
                      <a:solidFill>
                        <a:srgbClr val="D5DBE3"/>
                      </a:solidFill>
                      <a:prstDash val="solid"/>
                    </a:lnT>
                    <a:lnB w="6350" cmpd="sng">
                      <a:solidFill>
                        <a:srgbClr val="D5DBE3"/>
                      </a:solidFill>
                      <a:prstDash val="solid"/>
                    </a:lnB>
                    <a:solidFill>
                      <a:schemeClr val="tx1"/>
                    </a:solidFill>
                  </a:tcPr>
                </a:tc>
              </a:tr>
              <a:tr h="329184">
                <a:tc>
                  <a:txBody>
                    <a:bodyPr/>
                    <a:lstStyle/>
                    <a:p>
                      <a:pPr marL="0" indent="0" algn="ctr">
                        <a:buNone/>
                      </a:pPr>
                      <a:r>
                        <a:rPr sz="1200">
                          <a:solidFill>
                            <a:schemeClr val="tx1"/>
                          </a:solidFill>
                          <a:latin typeface="Calibri"/>
                          <a:ea typeface="Calibri"/>
                          <a:cs typeface="Calibri"/>
                        </a:rPr>
                        <a:t>1.000</a:t>
                      </a:r>
                      <a:endParaRPr sz="1200">
                        <a:latin typeface="Calibri"/>
                        <a:ea typeface="Calibri"/>
                        <a:cs typeface="Calibri"/>
                      </a:endParaRPr>
                    </a:p>
                  </a:txBody>
                  <a:tcPr marL="91440" marR="91440" marT="45720" marB="45720" anchor="ctr">
                    <a:lnL w="6350" cmpd="sng">
                      <a:solidFill>
                        <a:srgbClr val="D5DBE3"/>
                      </a:solidFill>
                      <a:prstDash val="solid"/>
                    </a:lnL>
                    <a:lnR w="6350" cmpd="sng">
                      <a:solidFill>
                        <a:srgbClr val="D5DBE3"/>
                      </a:solidFill>
                      <a:prstDash val="solid"/>
                    </a:lnR>
                    <a:lnT w="6350" cmpd="sng">
                      <a:solidFill>
                        <a:srgbClr val="D5DBE3"/>
                      </a:solidFill>
                      <a:prstDash val="solid"/>
                    </a:lnT>
                    <a:lnB w="6350" cmpd="sng">
                      <a:solidFill>
                        <a:srgbClr val="D5DBE3"/>
                      </a:solidFill>
                      <a:prstDash val="solid"/>
                    </a:lnB>
                    <a:solidFill>
                      <a:schemeClr val="bg1"/>
                    </a:solidFill>
                  </a:tcPr>
                </a:tc>
                <a:tc>
                  <a:txBody>
                    <a:bodyPr/>
                    <a:lstStyle/>
                    <a:p>
                      <a:pPr marL="0" indent="0" algn="ctr">
                        <a:buNone/>
                      </a:pPr>
                      <a:r>
                        <a:rPr sz="1200">
                          <a:solidFill>
                            <a:schemeClr val="tx1"/>
                          </a:solidFill>
                          <a:latin typeface="Calibri"/>
                          <a:ea typeface="Calibri"/>
                          <a:cs typeface="Calibri"/>
                        </a:rPr>
                        <a:t>5,50%</a:t>
                      </a:r>
                      <a:endParaRPr sz="1200">
                        <a:latin typeface="Calibri"/>
                        <a:ea typeface="Calibri"/>
                        <a:cs typeface="Calibri"/>
                      </a:endParaRPr>
                    </a:p>
                  </a:txBody>
                  <a:tcPr marL="91440" marR="91440" marT="45720" marB="45720" anchor="ctr">
                    <a:lnL w="6350" cmpd="sng">
                      <a:solidFill>
                        <a:srgbClr val="D5DBE3"/>
                      </a:solidFill>
                      <a:prstDash val="solid"/>
                    </a:lnL>
                    <a:lnR w="6350" cmpd="sng">
                      <a:solidFill>
                        <a:srgbClr val="D5DBE3"/>
                      </a:solidFill>
                      <a:prstDash val="solid"/>
                    </a:lnR>
                    <a:lnT w="6350" cmpd="sng">
                      <a:solidFill>
                        <a:srgbClr val="D5DBE3"/>
                      </a:solidFill>
                      <a:prstDash val="solid"/>
                    </a:lnT>
                    <a:lnB w="6350" cmpd="sng">
                      <a:solidFill>
                        <a:srgbClr val="D5DBE3"/>
                      </a:solidFill>
                      <a:prstDash val="solid"/>
                    </a:lnB>
                    <a:solidFill>
                      <a:schemeClr val="bg1"/>
                    </a:solidFill>
                  </a:tcPr>
                </a:tc>
                <a:tc>
                  <a:txBody>
                    <a:bodyPr/>
                    <a:lstStyle/>
                    <a:p>
                      <a:pPr marL="0" indent="0" algn="ctr">
                        <a:buNone/>
                      </a:pPr>
                      <a:r>
                        <a:rPr sz="1200">
                          <a:solidFill>
                            <a:schemeClr val="tx1"/>
                          </a:solidFill>
                          <a:latin typeface="Calibri"/>
                          <a:ea typeface="Calibri"/>
                          <a:cs typeface="Calibri"/>
                        </a:rPr>
                        <a:t>0,00721</a:t>
                      </a:r>
                      <a:endParaRPr sz="1200">
                        <a:latin typeface="Calibri"/>
                        <a:ea typeface="Calibri"/>
                        <a:cs typeface="Calibri"/>
                      </a:endParaRPr>
                    </a:p>
                  </a:txBody>
                  <a:tcPr marL="91440" marR="91440" marT="45720" marB="45720" anchor="ctr">
                    <a:lnL w="6350" cmpd="sng">
                      <a:solidFill>
                        <a:srgbClr val="D5DBE3"/>
                      </a:solidFill>
                      <a:prstDash val="solid"/>
                    </a:lnL>
                    <a:lnR w="6350" cmpd="sng">
                      <a:solidFill>
                        <a:srgbClr val="D5DBE3"/>
                      </a:solidFill>
                      <a:prstDash val="solid"/>
                    </a:lnR>
                    <a:lnT w="6350" cmpd="sng">
                      <a:solidFill>
                        <a:srgbClr val="D5DBE3"/>
                      </a:solidFill>
                      <a:prstDash val="solid"/>
                    </a:lnT>
                    <a:lnB w="6350" cmpd="sng">
                      <a:solidFill>
                        <a:srgbClr val="D5DBE3"/>
                      </a:solidFill>
                      <a:prstDash val="solid"/>
                    </a:lnB>
                    <a:solidFill>
                      <a:schemeClr val="bg1"/>
                    </a:solidFill>
                  </a:tcPr>
                </a:tc>
              </a:tr>
              <a:tr h="329184">
                <a:tc>
                  <a:txBody>
                    <a:bodyPr/>
                    <a:lstStyle/>
                    <a:p>
                      <a:pPr marL="0" indent="0" algn="ctr">
                        <a:buNone/>
                      </a:pPr>
                      <a:r>
                        <a:rPr sz="1200">
                          <a:solidFill>
                            <a:schemeClr val="tx1"/>
                          </a:solidFill>
                          <a:latin typeface="Calibri"/>
                          <a:ea typeface="Calibri"/>
                          <a:cs typeface="Calibri"/>
                        </a:rPr>
                        <a:t>5.000</a:t>
                      </a:r>
                      <a:endParaRPr sz="1200">
                        <a:latin typeface="Calibri"/>
                        <a:ea typeface="Calibri"/>
                        <a:cs typeface="Calibri"/>
                      </a:endParaRPr>
                    </a:p>
                  </a:txBody>
                  <a:tcPr marL="91440" marR="91440" marT="45720" marB="45720" anchor="ctr">
                    <a:lnL w="6350" cmpd="sng">
                      <a:solidFill>
                        <a:srgbClr val="D5DBE3"/>
                      </a:solidFill>
                      <a:prstDash val="solid"/>
                    </a:lnL>
                    <a:lnR w="6350" cmpd="sng">
                      <a:solidFill>
                        <a:srgbClr val="D5DBE3"/>
                      </a:solidFill>
                      <a:prstDash val="solid"/>
                    </a:lnR>
                    <a:lnT w="6350" cmpd="sng">
                      <a:solidFill>
                        <a:srgbClr val="D5DBE3"/>
                      </a:solidFill>
                      <a:prstDash val="solid"/>
                    </a:lnT>
                    <a:lnB w="6350" cmpd="sng">
                      <a:solidFill>
                        <a:srgbClr val="D5DBE3"/>
                      </a:solidFill>
                      <a:prstDash val="solid"/>
                    </a:lnB>
                    <a:solidFill>
                      <a:schemeClr val="bg1"/>
                    </a:solidFill>
                  </a:tcPr>
                </a:tc>
                <a:tc>
                  <a:txBody>
                    <a:bodyPr/>
                    <a:lstStyle/>
                    <a:p>
                      <a:pPr marL="0" indent="0" algn="ctr">
                        <a:buNone/>
                      </a:pPr>
                      <a:r>
                        <a:rPr sz="1200">
                          <a:solidFill>
                            <a:schemeClr val="tx1"/>
                          </a:solidFill>
                          <a:latin typeface="Calibri"/>
                          <a:ea typeface="Calibri"/>
                          <a:cs typeface="Calibri"/>
                        </a:rPr>
                        <a:t>6,58%</a:t>
                      </a:r>
                      <a:endParaRPr sz="1200">
                        <a:latin typeface="Calibri"/>
                        <a:ea typeface="Calibri"/>
                        <a:cs typeface="Calibri"/>
                      </a:endParaRPr>
                    </a:p>
                  </a:txBody>
                  <a:tcPr marL="91440" marR="91440" marT="45720" marB="45720" anchor="ctr">
                    <a:lnL w="6350" cmpd="sng">
                      <a:solidFill>
                        <a:srgbClr val="D5DBE3"/>
                      </a:solidFill>
                      <a:prstDash val="solid"/>
                    </a:lnL>
                    <a:lnR w="6350" cmpd="sng">
                      <a:solidFill>
                        <a:srgbClr val="D5DBE3"/>
                      </a:solidFill>
                      <a:prstDash val="solid"/>
                    </a:lnR>
                    <a:lnT w="6350" cmpd="sng">
                      <a:solidFill>
                        <a:srgbClr val="D5DBE3"/>
                      </a:solidFill>
                      <a:prstDash val="solid"/>
                    </a:lnT>
                    <a:lnB w="6350" cmpd="sng">
                      <a:solidFill>
                        <a:srgbClr val="D5DBE3"/>
                      </a:solidFill>
                      <a:prstDash val="solid"/>
                    </a:lnB>
                    <a:solidFill>
                      <a:schemeClr val="bg1"/>
                    </a:solidFill>
                  </a:tcPr>
                </a:tc>
                <a:tc>
                  <a:txBody>
                    <a:bodyPr/>
                    <a:lstStyle/>
                    <a:p>
                      <a:pPr marL="0" indent="0" algn="ctr">
                        <a:buNone/>
                      </a:pPr>
                      <a:r>
                        <a:rPr sz="1200">
                          <a:solidFill>
                            <a:schemeClr val="tx1"/>
                          </a:solidFill>
                          <a:latin typeface="Calibri"/>
                          <a:ea typeface="Calibri"/>
                          <a:cs typeface="Calibri"/>
                        </a:rPr>
                        <a:t>0,00351</a:t>
                      </a:r>
                      <a:endParaRPr sz="1200">
                        <a:latin typeface="Calibri"/>
                        <a:ea typeface="Calibri"/>
                        <a:cs typeface="Calibri"/>
                      </a:endParaRPr>
                    </a:p>
                  </a:txBody>
                  <a:tcPr marL="91440" marR="91440" marT="45720" marB="45720" anchor="ctr">
                    <a:lnL w="6350" cmpd="sng">
                      <a:solidFill>
                        <a:srgbClr val="D5DBE3"/>
                      </a:solidFill>
                      <a:prstDash val="solid"/>
                    </a:lnL>
                    <a:lnR w="6350" cmpd="sng">
                      <a:solidFill>
                        <a:srgbClr val="D5DBE3"/>
                      </a:solidFill>
                      <a:prstDash val="solid"/>
                    </a:lnR>
                    <a:lnT w="6350" cmpd="sng">
                      <a:solidFill>
                        <a:srgbClr val="D5DBE3"/>
                      </a:solidFill>
                      <a:prstDash val="solid"/>
                    </a:lnT>
                    <a:lnB w="6350" cmpd="sng">
                      <a:solidFill>
                        <a:srgbClr val="D5DBE3"/>
                      </a:solidFill>
                      <a:prstDash val="solid"/>
                    </a:lnB>
                    <a:solidFill>
                      <a:schemeClr val="bg1"/>
                    </a:solidFill>
                  </a:tcPr>
                </a:tc>
              </a:tr>
              <a:tr h="329184">
                <a:tc>
                  <a:txBody>
                    <a:bodyPr/>
                    <a:lstStyle/>
                    <a:p>
                      <a:pPr marL="0" indent="0" algn="ctr">
                        <a:buNone/>
                      </a:pPr>
                      <a:r>
                        <a:rPr sz="1200">
                          <a:solidFill>
                            <a:schemeClr val="tx1"/>
                          </a:solidFill>
                          <a:latin typeface="Calibri"/>
                          <a:ea typeface="Calibri"/>
                          <a:cs typeface="Calibri"/>
                        </a:rPr>
                        <a:t>10.000</a:t>
                      </a:r>
                      <a:endParaRPr sz="1200">
                        <a:latin typeface="Calibri"/>
                        <a:ea typeface="Calibri"/>
                        <a:cs typeface="Calibri"/>
                      </a:endParaRPr>
                    </a:p>
                  </a:txBody>
                  <a:tcPr marL="91440" marR="91440" marT="45720" marB="45720" anchor="ctr">
                    <a:lnL w="6350" cmpd="sng">
                      <a:solidFill>
                        <a:srgbClr val="D5DBE3"/>
                      </a:solidFill>
                      <a:prstDash val="solid"/>
                    </a:lnL>
                    <a:lnR w="6350" cmpd="sng">
                      <a:solidFill>
                        <a:srgbClr val="D5DBE3"/>
                      </a:solidFill>
                      <a:prstDash val="solid"/>
                    </a:lnR>
                    <a:lnT w="6350" cmpd="sng">
                      <a:solidFill>
                        <a:srgbClr val="D5DBE3"/>
                      </a:solidFill>
                      <a:prstDash val="solid"/>
                    </a:lnT>
                    <a:lnB w="6350" cmpd="sng">
                      <a:solidFill>
                        <a:srgbClr val="D5DBE3"/>
                      </a:solidFill>
                      <a:prstDash val="solid"/>
                    </a:lnB>
                    <a:solidFill>
                      <a:schemeClr val="bg1"/>
                    </a:solidFill>
                  </a:tcPr>
                </a:tc>
                <a:tc>
                  <a:txBody>
                    <a:bodyPr/>
                    <a:lstStyle/>
                    <a:p>
                      <a:pPr marL="0" indent="0" algn="ctr">
                        <a:buNone/>
                      </a:pPr>
                      <a:r>
                        <a:rPr sz="1200">
                          <a:solidFill>
                            <a:schemeClr val="tx1"/>
                          </a:solidFill>
                          <a:latin typeface="Calibri"/>
                          <a:ea typeface="Calibri"/>
                          <a:cs typeface="Calibri"/>
                        </a:rPr>
                        <a:t>6,20%</a:t>
                      </a:r>
                      <a:endParaRPr sz="1200">
                        <a:latin typeface="Calibri"/>
                        <a:ea typeface="Calibri"/>
                        <a:cs typeface="Calibri"/>
                      </a:endParaRPr>
                    </a:p>
                  </a:txBody>
                  <a:tcPr marL="91440" marR="91440" marT="45720" marB="45720" anchor="ctr">
                    <a:lnL w="6350" cmpd="sng">
                      <a:solidFill>
                        <a:srgbClr val="D5DBE3"/>
                      </a:solidFill>
                      <a:prstDash val="solid"/>
                    </a:lnL>
                    <a:lnR w="6350" cmpd="sng">
                      <a:solidFill>
                        <a:srgbClr val="D5DBE3"/>
                      </a:solidFill>
                      <a:prstDash val="solid"/>
                    </a:lnR>
                    <a:lnT w="6350" cmpd="sng">
                      <a:solidFill>
                        <a:srgbClr val="D5DBE3"/>
                      </a:solidFill>
                      <a:prstDash val="solid"/>
                    </a:lnT>
                    <a:lnB w="6350" cmpd="sng">
                      <a:solidFill>
                        <a:srgbClr val="D5DBE3"/>
                      </a:solidFill>
                      <a:prstDash val="solid"/>
                    </a:lnB>
                    <a:solidFill>
                      <a:schemeClr val="bg1"/>
                    </a:solidFill>
                  </a:tcPr>
                </a:tc>
                <a:tc>
                  <a:txBody>
                    <a:bodyPr/>
                    <a:lstStyle/>
                    <a:p>
                      <a:pPr marL="0" indent="0" algn="ctr">
                        <a:buNone/>
                      </a:pPr>
                      <a:r>
                        <a:rPr sz="1200">
                          <a:solidFill>
                            <a:schemeClr val="tx1"/>
                          </a:solidFill>
                          <a:latin typeface="Calibri"/>
                          <a:ea typeface="Calibri"/>
                          <a:cs typeface="Calibri"/>
                        </a:rPr>
                        <a:t>0,00241</a:t>
                      </a:r>
                      <a:endParaRPr sz="1200">
                        <a:latin typeface="Calibri"/>
                        <a:ea typeface="Calibri"/>
                        <a:cs typeface="Calibri"/>
                      </a:endParaRPr>
                    </a:p>
                  </a:txBody>
                  <a:tcPr marL="91440" marR="91440" marT="45720" marB="45720" anchor="ctr">
                    <a:lnL w="6350" cmpd="sng">
                      <a:solidFill>
                        <a:srgbClr val="D5DBE3"/>
                      </a:solidFill>
                      <a:prstDash val="solid"/>
                    </a:lnL>
                    <a:lnR w="6350" cmpd="sng">
                      <a:solidFill>
                        <a:srgbClr val="D5DBE3"/>
                      </a:solidFill>
                      <a:prstDash val="solid"/>
                    </a:lnR>
                    <a:lnT w="6350" cmpd="sng">
                      <a:solidFill>
                        <a:srgbClr val="D5DBE3"/>
                      </a:solidFill>
                      <a:prstDash val="solid"/>
                    </a:lnT>
                    <a:lnB w="6350" cmpd="sng">
                      <a:solidFill>
                        <a:srgbClr val="D5DBE3"/>
                      </a:solidFill>
                      <a:prstDash val="solid"/>
                    </a:lnB>
                    <a:solidFill>
                      <a:schemeClr val="bg1"/>
                    </a:solidFill>
                  </a:tcPr>
                </a:tc>
              </a:tr>
              <a:tr h="329184">
                <a:tc>
                  <a:txBody>
                    <a:bodyPr/>
                    <a:lstStyle/>
                    <a:p>
                      <a:pPr marL="0" indent="0" algn="ctr">
                        <a:buNone/>
                      </a:pPr>
                      <a:r>
                        <a:rPr sz="1200" b="1">
                          <a:solidFill>
                            <a:schemeClr val="tx1"/>
                          </a:solidFill>
                          <a:latin typeface="Calibri"/>
                          <a:ea typeface="Calibri"/>
                          <a:cs typeface="Calibri"/>
                        </a:rPr>
                        <a:t>20.000</a:t>
                      </a:r>
                      <a:endParaRPr sz="1200">
                        <a:latin typeface="Calibri"/>
                        <a:ea typeface="Calibri"/>
                        <a:cs typeface="Calibri"/>
                      </a:endParaRPr>
                    </a:p>
                  </a:txBody>
                  <a:tcPr marL="91440" marR="91440" marT="45720" marB="45720" anchor="ctr">
                    <a:lnL w="6350" cmpd="sng">
                      <a:solidFill>
                        <a:srgbClr val="D5DBE3"/>
                      </a:solidFill>
                      <a:prstDash val="solid"/>
                    </a:lnL>
                    <a:lnR w="6350" cmpd="sng">
                      <a:solidFill>
                        <a:srgbClr val="D5DBE3"/>
                      </a:solidFill>
                      <a:prstDash val="solid"/>
                    </a:lnR>
                    <a:lnT w="6350" cmpd="sng">
                      <a:solidFill>
                        <a:srgbClr val="D5DBE3"/>
                      </a:solidFill>
                      <a:prstDash val="solid"/>
                    </a:lnT>
                    <a:lnB w="6350" cmpd="sng">
                      <a:solidFill>
                        <a:srgbClr val="D5DBE3"/>
                      </a:solidFill>
                      <a:prstDash val="solid"/>
                    </a:lnB>
                    <a:solidFill>
                      <a:schemeClr val="bg1"/>
                    </a:solidFill>
                  </a:tcPr>
                </a:tc>
                <a:tc>
                  <a:txBody>
                    <a:bodyPr/>
                    <a:lstStyle/>
                    <a:p>
                      <a:pPr marL="0" indent="0" algn="ctr">
                        <a:buNone/>
                      </a:pPr>
                      <a:r>
                        <a:rPr sz="1200" b="1">
                          <a:solidFill>
                            <a:schemeClr val="tx1"/>
                          </a:solidFill>
                          <a:latin typeface="Calibri"/>
                          <a:ea typeface="Calibri"/>
                          <a:cs typeface="Calibri"/>
                        </a:rPr>
                        <a:t>6,13%</a:t>
                      </a:r>
                      <a:endParaRPr sz="1200">
                        <a:latin typeface="Calibri"/>
                        <a:ea typeface="Calibri"/>
                        <a:cs typeface="Calibri"/>
                      </a:endParaRPr>
                    </a:p>
                  </a:txBody>
                  <a:tcPr marL="91440" marR="91440" marT="45720" marB="45720" anchor="ctr">
                    <a:lnL w="6350" cmpd="sng">
                      <a:solidFill>
                        <a:srgbClr val="D5DBE3"/>
                      </a:solidFill>
                      <a:prstDash val="solid"/>
                    </a:lnL>
                    <a:lnR w="6350" cmpd="sng">
                      <a:solidFill>
                        <a:srgbClr val="D5DBE3"/>
                      </a:solidFill>
                      <a:prstDash val="solid"/>
                    </a:lnR>
                    <a:lnT w="6350" cmpd="sng">
                      <a:solidFill>
                        <a:srgbClr val="D5DBE3"/>
                      </a:solidFill>
                      <a:prstDash val="solid"/>
                    </a:lnT>
                    <a:lnB w="6350" cmpd="sng">
                      <a:solidFill>
                        <a:srgbClr val="D5DBE3"/>
                      </a:solidFill>
                      <a:prstDash val="solid"/>
                    </a:lnB>
                    <a:solidFill>
                      <a:schemeClr val="bg1"/>
                    </a:solidFill>
                  </a:tcPr>
                </a:tc>
                <a:tc>
                  <a:txBody>
                    <a:bodyPr/>
                    <a:lstStyle/>
                    <a:p>
                      <a:pPr marL="0" indent="0" algn="ctr">
                        <a:buNone/>
                      </a:pPr>
                      <a:r>
                        <a:rPr sz="1200" b="1">
                          <a:solidFill>
                            <a:schemeClr val="tx1"/>
                          </a:solidFill>
                          <a:latin typeface="Calibri"/>
                          <a:ea typeface="Calibri"/>
                          <a:cs typeface="Calibri"/>
                        </a:rPr>
                        <a:t>0,00170</a:t>
                      </a:r>
                      <a:endParaRPr sz="1200">
                        <a:latin typeface="Calibri"/>
                        <a:ea typeface="Calibri"/>
                        <a:cs typeface="Calibri"/>
                      </a:endParaRPr>
                    </a:p>
                  </a:txBody>
                  <a:tcPr marL="91440" marR="91440" marT="45720" marB="45720" anchor="ctr">
                    <a:lnL w="6350" cmpd="sng">
                      <a:solidFill>
                        <a:srgbClr val="D5DBE3"/>
                      </a:solidFill>
                      <a:prstDash val="solid"/>
                    </a:lnL>
                    <a:lnR w="6350" cmpd="sng">
                      <a:solidFill>
                        <a:srgbClr val="D5DBE3"/>
                      </a:solidFill>
                      <a:prstDash val="solid"/>
                    </a:lnR>
                    <a:lnT w="6350" cmpd="sng">
                      <a:solidFill>
                        <a:srgbClr val="D5DBE3"/>
                      </a:solidFill>
                      <a:prstDash val="solid"/>
                    </a:lnT>
                    <a:lnB w="6350" cmpd="sng">
                      <a:solidFill>
                        <a:srgbClr val="D5DBE3"/>
                      </a:solidFill>
                      <a:prstDash val="solid"/>
                    </a:lnB>
                    <a:solidFill>
                      <a:schemeClr val="bg1"/>
                    </a:solidFill>
                  </a:tcPr>
                </a:tc>
              </a:tr>
            </a:tbl>
          </a:graphicData>
        </a:graphic>
      </p:graphicFrame>
      <p:sp>
        <p:nvSpPr>
          <p:cNvPr id="7" name="Tarjeta R vs n">
            <a:extLst xmlns:a="http://schemas.openxmlformats.org/drawingml/2006/main">
              <a:ext uri="{FF2B5EF4-FFF2-40B4-BE49-F238E27FC236}">
                <a16:creationId xmlns:a16="http://schemas.microsoft.com/office/drawing/2014/main" id="{E901B5D3-02A8-4EC2-841B-34F5EE88ECFE}"/>
              </a:ext>
            </a:extLst>
          </p:cNvPr>
          <p:cNvSpPr>
            <a:spLocks xmlns:a="http://schemas.openxmlformats.org/drawingml/2006/main" noGrp="1"/>
          </p:cNvSpPr>
          <p:nvPr/>
        </p:nvSpPr>
        <p:spPr>
          <a:xfrm xmlns:a="http://schemas.openxmlformats.org/drawingml/2006/main">
            <a:off x="5029200" y="3291840"/>
            <a:ext cx="3657600" cy="1280160"/>
          </a:xfrm>
          <a:prstGeom xmlns:a="http://schemas.openxmlformats.org/drawingml/2006/main" prst="roundRect">
            <a:avLst>
              <a:gd name="adj" fmla="val 5714"/>
            </a:avLst>
          </a:prstGeom>
          <a:solidFill xmlns:a="http://schemas.openxmlformats.org/drawingml/2006/main">
            <a:schemeClr val="bg2"/>
          </a:solidFill>
        </p:spPr>
      </p:sp>
      <p:sp>
        <p:nvSpPr>
          <p:cNvPr id="8" name="Text 4">
            <a:extLst xmlns:a="http://schemas.openxmlformats.org/drawingml/2006/main">
              <a:ext uri="{FF2B5EF4-FFF2-40B4-BE49-F238E27FC236}">
                <a16:creationId xmlns:a16="http://schemas.microsoft.com/office/drawing/2014/main" id="{510A52E6-5A4D-4605-9FC0-6FF8C046E1E0}"/>
              </a:ext>
            </a:extLst>
          </p:cNvPr>
          <p:cNvSpPr>
            <a:spLocks xmlns:a="http://schemas.openxmlformats.org/drawingml/2006/main" noGrp="1"/>
          </p:cNvSpPr>
          <p:nvPr/>
        </p:nvSpPr>
        <p:spPr>
          <a:xfrm xmlns:a="http://schemas.openxmlformats.org/drawingml/2006/main">
            <a:off x="5166360" y="3364992"/>
            <a:ext cx="338328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chemeClr val="tx1"/>
                </a:solidFill>
              </a:rPr>
              <a:t>R controla el error numérico: margen máximo de 0,69 puntos porcentuales con R = 20.000.</a:t>
            </a:r>
            <a:endParaRPr sz="1200"/>
          </a:p>
        </p:txBody>
      </p:sp>
      <p:sp>
        <p:nvSpPr>
          <p:cNvPr id="9" name="Text 5">
            <a:extLst xmlns:a="http://schemas.openxmlformats.org/drawingml/2006/main">
              <a:ext uri="{FF2B5EF4-FFF2-40B4-BE49-F238E27FC236}">
                <a16:creationId xmlns:a16="http://schemas.microsoft.com/office/drawing/2014/main" id="{DECA0748-142B-40BD-B13A-594D89351B88}"/>
              </a:ext>
            </a:extLst>
          </p:cNvPr>
          <p:cNvSpPr>
            <a:spLocks xmlns:a="http://schemas.openxmlformats.org/drawingml/2006/main" noGrp="1"/>
          </p:cNvSpPr>
          <p:nvPr/>
        </p:nvSpPr>
        <p:spPr>
          <a:xfrm xmlns:a="http://schemas.openxmlformats.org/drawingml/2006/main">
            <a:off x="5166360" y="3950208"/>
            <a:ext cx="338328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chemeClr val="tx1"/>
                </a:solidFill>
              </a:rPr>
              <a:t>n controla la variabilidad estadística. Más simulaciones no agregan anuncios observados.</a:t>
            </a:r>
            <a:endParaRPr sz="1200"/>
          </a:p>
        </p:txBody>
      </p:sp>
      <p:sp>
        <p:nvSpPr>
          <p:cNvPr id="25" name="Slide Number Placeholder 0">
            <a:extLst xmlns:a="http://schemas.openxmlformats.org/drawingml/2006/main">
              <a:ext uri="{FF2B5EF4-FFF2-40B4-BE49-F238E27FC236}">
                <a16:creationId xmlns:a16="http://schemas.microsoft.com/office/drawing/2014/main" id="{C38500C8-A55A-406D-AA6B-8E13B641C4DF}"/>
              </a:ext>
            </a:extLst>
          </p:cNvPr>
          <p:cNvSpPr>
            <a:spLocks xmlns:a="http://schemas.openxmlformats.org/drawingml/2006/main" noGrp="1"/>
          </p:cNvSpPr>
          <p:nvPr>
            <p:ph type="sldNum" idx="4294967295"/>
          </p:nvPr>
        </p:nvSpPr>
        <p:spPr>
          <a:xfrm xmlns:a="http://schemas.openxmlformats.org/drawingml/2006/main">
            <a:off x="8229600" y="4754880"/>
            <a:ext cx="457200" cy="228600"/>
          </a:xfrm>
          <a:prstGeom xmlns:a="http://schemas.openxmlformats.org/drawingml/2006/main" prst="rect">
            <a:avLst/>
          </a:prstGeom>
        </p:spPr>
        <p:txBody>
          <a:bodyPr xmlns:a="http://schemas.openxmlformats.org/drawingml/2006/main"/>
          <a:lstStyle xmlns:a="http://schemas.openxmlformats.org/drawingml/2006/main">
            <a:lvl1pPr>
              <a:buNone/>
              <a:defRPr sz="1000">
                <a:solidFill>
                  <a:schemeClr val="accent4"/>
                </a:solidFill>
              </a:defRPr>
            </a:lvl1pPr>
          </a:lstStyle>
          <a:p xmlns:a="http://schemas.openxmlformats.org/drawingml/2006/main">
            <a:pPr algn="r">
              <a:buNone/>
            </a:pPr>
            <a:fld id="{F7021451-1387-4CA6-816F-3879F97B5CBC}" type="slidenum">
              <a:rPr b="0"/>
              <a:t>11</a:t>
            </a:fld>
            <a:endParaRPr/>
          </a:p>
        </p:txBody>
      </p:sp>
      <p:graphicFrame>
        <p:nvGraphicFramePr>
          <p:cNvPr id="37" name="Chart"/>
          <p:cNvGraphicFramePr/>
          <p:nvPr/>
        </p:nvGraphicFramePr>
        <p:xfrm>
          <a:off xmlns:a="http://schemas.openxmlformats.org/drawingml/2006/main" x="457200" y="1051560"/>
          <a:ext xmlns:a="http://schemas.openxmlformats.org/drawingml/2006/main" cx="4297680" cy="2834640"/>
        </p:xfrm>
        <a:graphic xmlns:a="http://schemas.openxmlformats.org/drawingml/2006/main">
          <a:graphicData uri="http://schemas.openxmlformats.org/drawingml/2006/chart">
            <c:chart xmlns:r="http://schemas.openxmlformats.org/officeDocument/2006/relationships" xmlns:c="http://schemas.openxmlformats.org/drawingml/2006/chart" r:id="Rf5113b2cf09047db"/>
          </a:graphicData>
        </a:graphic>
      </p:graphicFrame>
    </p:spTree>
    <p:extLst>
      <p:ext uri="{BB962C8B-B14F-4D97-AF65-F5344CB8AC3E}">
        <p14:creationId xmlns:p14="http://schemas.microsoft.com/office/powerpoint/2010/main" val="2012897933"/>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452449E6-CFA7-427B-8CBE-9DFF32D072CB}"/>
              </a:ext>
            </a:extLst>
          </p:cNvPr>
          <p:cNvSpPr>
            <a:spLocks xmlns:a="http://schemas.openxmlformats.org/drawingml/2006/main" noGrp="1"/>
          </p:cNvSpPr>
          <p:nvPr>
            <p:ph type="title" idx="101" hasCustomPrompt="1"/>
          </p:nvPr>
        </p:nvSpPr>
        <p:spPr>
          <a:xfrm xmlns:a="http://schemas.openxmlformats.org/drawingml/2006/main">
            <a:off x="457200" y="274320"/>
            <a:ext cx="82296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3000" b="1">
                <a:solidFill>
                  <a:schemeClr val="bg1"/>
                </a:solidFill>
              </a:rPr>
              <a:t>Conclusiones</a:t>
            </a:r>
            <a:endParaRPr sz="3000"/>
          </a:p>
        </p:txBody>
      </p:sp>
      <p:sp>
        <p:nvSpPr>
          <p:cNvPr id="3" name="Tarjeta cifra principal">
            <a:extLst xmlns:a="http://schemas.openxmlformats.org/drawingml/2006/main">
              <a:ext uri="{FF2B5EF4-FFF2-40B4-BE49-F238E27FC236}">
                <a16:creationId xmlns:a16="http://schemas.microsoft.com/office/drawing/2014/main" id="{00D9BAEB-3C4D-4280-906A-2D3F272BB51C}"/>
              </a:ext>
            </a:extLst>
          </p:cNvPr>
          <p:cNvSpPr>
            <a:spLocks xmlns:a="http://schemas.openxmlformats.org/drawingml/2006/main" noGrp="1"/>
          </p:cNvSpPr>
          <p:nvPr/>
        </p:nvSpPr>
        <p:spPr>
          <a:xfrm xmlns:a="http://schemas.openxmlformats.org/drawingml/2006/main">
            <a:off x="457200" y="1188720"/>
            <a:ext cx="2651760" cy="3246120"/>
          </a:xfrm>
          <a:prstGeom xmlns:a="http://schemas.openxmlformats.org/drawingml/2006/main" prst="roundRect">
            <a:avLst>
              <a:gd name="adj" fmla="val 2759"/>
            </a:avLst>
          </a:prstGeom>
          <a:solidFill xmlns:a="http://schemas.openxmlformats.org/drawingml/2006/main">
            <a:schemeClr val="accent3"/>
          </a:solidFill>
        </p:spPr>
      </p:sp>
      <p:sp>
        <p:nvSpPr>
          <p:cNvPr id="4" name="Text 2">
            <a:extLst xmlns:a="http://schemas.openxmlformats.org/drawingml/2006/main">
              <a:ext uri="{FF2B5EF4-FFF2-40B4-BE49-F238E27FC236}">
                <a16:creationId xmlns:a16="http://schemas.microsoft.com/office/drawing/2014/main" id="{07F7BC63-EC85-4E0A-87EB-03AEA13CC6C9}"/>
              </a:ext>
            </a:extLst>
          </p:cNvPr>
          <p:cNvSpPr>
            <a:spLocks xmlns:a="http://schemas.openxmlformats.org/drawingml/2006/main" noGrp="1"/>
          </p:cNvSpPr>
          <p:nvPr/>
        </p:nvSpPr>
        <p:spPr>
          <a:xfrm xmlns:a="http://schemas.openxmlformats.org/drawingml/2006/main">
            <a:off x="457200" y="1737360"/>
            <a:ext cx="265176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4400" b="1">
                <a:solidFill>
                  <a:schemeClr val="bg1"/>
                </a:solidFill>
                <a:latin typeface="Cambria"/>
                <a:ea typeface="Cambria"/>
                <a:cs typeface="Cambria"/>
              </a:rPr>
              <a:t>0,0181</a:t>
            </a:r>
            <a:endParaRPr sz="4400"/>
          </a:p>
        </p:txBody>
      </p:sp>
      <p:sp>
        <p:nvSpPr>
          <p:cNvPr id="5" name="Text 3">
            <a:extLst xmlns:a="http://schemas.openxmlformats.org/drawingml/2006/main">
              <a:ext uri="{FF2B5EF4-FFF2-40B4-BE49-F238E27FC236}">
                <a16:creationId xmlns:a16="http://schemas.microsoft.com/office/drawing/2014/main" id="{F49AF2D9-8A22-418D-9F59-60BA1D26009D}"/>
              </a:ext>
            </a:extLst>
          </p:cNvPr>
          <p:cNvSpPr>
            <a:spLocks xmlns:a="http://schemas.openxmlformats.org/drawingml/2006/main" noGrp="1"/>
          </p:cNvSpPr>
          <p:nvPr/>
        </p:nvSpPr>
        <p:spPr>
          <a:xfrm xmlns:a="http://schemas.openxmlformats.org/drawingml/2006/main">
            <a:off x="640080" y="2697480"/>
            <a:ext cx="2286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300">
                <a:solidFill>
                  <a:srgbClr val="E4DFF2"/>
                </a:solidFill>
              </a:rPr>
              <a:t>puntos de diferencia entre Manhattan (3,2765) y Brooklyn (3,2585) en la escala 1–5</a:t>
            </a:r>
            <a:endParaRPr sz="1300"/>
          </a:p>
        </p:txBody>
      </p:sp>
      <p:sp>
        <p:nvSpPr>
          <p:cNvPr id="6" name="Ficha conclusión 1">
            <a:extLst xmlns:a="http://schemas.openxmlformats.org/drawingml/2006/main">
              <a:ext uri="{FF2B5EF4-FFF2-40B4-BE49-F238E27FC236}">
                <a16:creationId xmlns:a16="http://schemas.microsoft.com/office/drawing/2014/main" id="{74FE3B2F-E6A0-4FD1-BB07-1881177DC974}"/>
              </a:ext>
            </a:extLst>
          </p:cNvPr>
          <p:cNvSpPr>
            <a:spLocks xmlns:a="http://schemas.openxmlformats.org/drawingml/2006/main" noGrp="1"/>
          </p:cNvSpPr>
          <p:nvPr/>
        </p:nvSpPr>
        <p:spPr>
          <a:xfrm xmlns:a="http://schemas.openxmlformats.org/drawingml/2006/main">
            <a:off x="3429000" y="1261872"/>
            <a:ext cx="365760" cy="365760"/>
          </a:xfrm>
          <a:prstGeom xmlns:a="http://schemas.openxmlformats.org/drawingml/2006/main" prst="ellipse">
            <a:avLst/>
          </a:prstGeom>
          <a:solidFill xmlns:a="http://schemas.openxmlformats.org/drawingml/2006/main">
            <a:srgbClr val="087E8B"/>
          </a:solidFill>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chemeClr val="bg1"/>
                </a:solidFill>
              </a:rPr>
              <a:t>1</a:t>
            </a:r>
            <a:endParaRPr sz="1400"/>
          </a:p>
        </p:txBody>
      </p:sp>
      <p:sp>
        <p:nvSpPr>
          <p:cNvPr id="7" name="Text 5">
            <a:extLst xmlns:a="http://schemas.openxmlformats.org/drawingml/2006/main">
              <a:ext uri="{FF2B5EF4-FFF2-40B4-BE49-F238E27FC236}">
                <a16:creationId xmlns:a16="http://schemas.microsoft.com/office/drawing/2014/main" id="{F29DBED2-71D5-45C1-9896-CBC09FE207EB}"/>
              </a:ext>
            </a:extLst>
          </p:cNvPr>
          <p:cNvSpPr>
            <a:spLocks xmlns:a="http://schemas.openxmlformats.org/drawingml/2006/main" noGrp="1"/>
          </p:cNvSpPr>
          <p:nvPr/>
        </p:nvSpPr>
        <p:spPr>
          <a:xfrm xmlns:a="http://schemas.openxmlformats.org/drawingml/2006/main">
            <a:off x="3931920" y="1188720"/>
            <a:ext cx="4754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chemeClr val="bg1"/>
                </a:solidFill>
              </a:rPr>
              <a:t>Estimación</a:t>
            </a:r>
            <a:endParaRPr sz="1500"/>
          </a:p>
        </p:txBody>
      </p:sp>
      <p:sp>
        <p:nvSpPr>
          <p:cNvPr id="8" name="Text 6">
            <a:extLst xmlns:a="http://schemas.openxmlformats.org/drawingml/2006/main">
              <a:ext uri="{FF2B5EF4-FFF2-40B4-BE49-F238E27FC236}">
                <a16:creationId xmlns:a16="http://schemas.microsoft.com/office/drawing/2014/main" id="{E813BC4C-6C5D-4823-9204-3A4625E290E3}"/>
              </a:ext>
            </a:extLst>
          </p:cNvPr>
          <p:cNvSpPr>
            <a:spLocks xmlns:a="http://schemas.openxmlformats.org/drawingml/2006/main" noGrp="1"/>
          </p:cNvSpPr>
          <p:nvPr/>
        </p:nvSpPr>
        <p:spPr>
          <a:xfrm xmlns:a="http://schemas.openxmlformats.org/drawingml/2006/main">
            <a:off x="3931920" y="1463040"/>
            <a:ext cx="47548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rgbClr val="D5DCE4"/>
                </a:solidFill>
              </a:rPr>
              <a:t>IC 95% clásico [0,0007; 0,0355] y bootstrap [0,0006; 0,0354]: misma incertidumbre (razón de EE 0,996).</a:t>
            </a:r>
            <a:endParaRPr sz="1200"/>
          </a:p>
        </p:txBody>
      </p:sp>
      <p:sp>
        <p:nvSpPr>
          <p:cNvPr id="9" name="Ficha conclusión 2">
            <a:extLst xmlns:a="http://schemas.openxmlformats.org/drawingml/2006/main">
              <a:ext uri="{FF2B5EF4-FFF2-40B4-BE49-F238E27FC236}">
                <a16:creationId xmlns:a16="http://schemas.microsoft.com/office/drawing/2014/main" id="{D2C92B1C-88DE-4FA7-805F-9F058C49EB86}"/>
              </a:ext>
            </a:extLst>
          </p:cNvPr>
          <p:cNvSpPr>
            <a:spLocks xmlns:a="http://schemas.openxmlformats.org/drawingml/2006/main" noGrp="1"/>
          </p:cNvSpPr>
          <p:nvPr/>
        </p:nvSpPr>
        <p:spPr>
          <a:xfrm xmlns:a="http://schemas.openxmlformats.org/drawingml/2006/main">
            <a:off x="3429000" y="2084832"/>
            <a:ext cx="365760" cy="365760"/>
          </a:xfrm>
          <a:prstGeom xmlns:a="http://schemas.openxmlformats.org/drawingml/2006/main" prst="ellipse">
            <a:avLst/>
          </a:prstGeom>
          <a:solidFill xmlns:a="http://schemas.openxmlformats.org/drawingml/2006/main">
            <a:srgbClr val="C85A43"/>
          </a:solidFill>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chemeClr val="bg1"/>
                </a:solidFill>
              </a:rPr>
              <a:t>2</a:t>
            </a:r>
            <a:endParaRPr sz="1400"/>
          </a:p>
        </p:txBody>
      </p:sp>
      <p:sp>
        <p:nvSpPr>
          <p:cNvPr id="10" name="Text 8">
            <a:extLst xmlns:a="http://schemas.openxmlformats.org/drawingml/2006/main">
              <a:ext uri="{FF2B5EF4-FFF2-40B4-BE49-F238E27FC236}">
                <a16:creationId xmlns:a16="http://schemas.microsoft.com/office/drawing/2014/main" id="{600E5DCF-E27F-44FE-977A-7E535CDA7EEE}"/>
              </a:ext>
            </a:extLst>
          </p:cNvPr>
          <p:cNvSpPr>
            <a:spLocks xmlns:a="http://schemas.openxmlformats.org/drawingml/2006/main" noGrp="1"/>
          </p:cNvSpPr>
          <p:nvPr/>
        </p:nvSpPr>
        <p:spPr>
          <a:xfrm xmlns:a="http://schemas.openxmlformats.org/drawingml/2006/main">
            <a:off x="3931920" y="2011680"/>
            <a:ext cx="4754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chemeClr val="bg1"/>
                </a:solidFill>
              </a:rPr>
              <a:t>Simulación</a:t>
            </a:r>
            <a:endParaRPr sz="1500"/>
          </a:p>
        </p:txBody>
      </p:sp>
      <p:sp>
        <p:nvSpPr>
          <p:cNvPr id="11" name="Text 9">
            <a:extLst xmlns:a="http://schemas.openxmlformats.org/drawingml/2006/main">
              <a:ext uri="{FF2B5EF4-FFF2-40B4-BE49-F238E27FC236}">
                <a16:creationId xmlns:a16="http://schemas.microsoft.com/office/drawing/2014/main" id="{20FEEB16-1B6A-4CBD-8017-F6C276A1B8CE}"/>
              </a:ext>
            </a:extLst>
          </p:cNvPr>
          <p:cNvSpPr>
            <a:spLocks xmlns:a="http://schemas.openxmlformats.org/drawingml/2006/main" noGrp="1"/>
          </p:cNvSpPr>
          <p:nvPr/>
        </p:nvSpPr>
        <p:spPr>
          <a:xfrm xmlns:a="http://schemas.openxmlformats.org/drawingml/2006/main">
            <a:off x="3931920" y="2286000"/>
            <a:ext cx="47548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rgbClr val="D5DCE4"/>
                </a:solidFill>
              </a:rPr>
              <a:t>Potencia original ≈53% bajo el modelo ajustado. Error ≤0,05 en 20.000/20.000 simulaciones. Con n = 200, potencia ≈5%.</a:t>
            </a:r>
            <a:endParaRPr sz="1200"/>
          </a:p>
        </p:txBody>
      </p:sp>
      <p:sp>
        <p:nvSpPr>
          <p:cNvPr id="12" name="Ficha conclusión 3">
            <a:extLst xmlns:a="http://schemas.openxmlformats.org/drawingml/2006/main">
              <a:ext uri="{FF2B5EF4-FFF2-40B4-BE49-F238E27FC236}">
                <a16:creationId xmlns:a16="http://schemas.microsoft.com/office/drawing/2014/main" id="{E1FFC997-B683-4E62-9BF0-B89142D5FEC1}"/>
              </a:ext>
            </a:extLst>
          </p:cNvPr>
          <p:cNvSpPr>
            <a:spLocks xmlns:a="http://schemas.openxmlformats.org/drawingml/2006/main" noGrp="1"/>
          </p:cNvSpPr>
          <p:nvPr/>
        </p:nvSpPr>
        <p:spPr>
          <a:xfrm xmlns:a="http://schemas.openxmlformats.org/drawingml/2006/main">
            <a:off x="3429000" y="2907792"/>
            <a:ext cx="365760" cy="365760"/>
          </a:xfrm>
          <a:prstGeom xmlns:a="http://schemas.openxmlformats.org/drawingml/2006/main" prst="ellipse">
            <a:avLst/>
          </a:prstGeom>
          <a:solidFill xmlns:a="http://schemas.openxmlformats.org/drawingml/2006/main">
            <a:srgbClr val="493C73"/>
          </a:solidFill>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chemeClr val="bg1"/>
                </a:solidFill>
              </a:rPr>
              <a:t>3</a:t>
            </a:r>
            <a:endParaRPr sz="1400"/>
          </a:p>
        </p:txBody>
      </p:sp>
      <p:sp>
        <p:nvSpPr>
          <p:cNvPr id="13" name="Text 11">
            <a:extLst xmlns:a="http://schemas.openxmlformats.org/drawingml/2006/main">
              <a:ext uri="{FF2B5EF4-FFF2-40B4-BE49-F238E27FC236}">
                <a16:creationId xmlns:a16="http://schemas.microsoft.com/office/drawing/2014/main" id="{76C6906F-191F-4278-9B8E-FD8A588C9067}"/>
              </a:ext>
            </a:extLst>
          </p:cNvPr>
          <p:cNvSpPr>
            <a:spLocks xmlns:a="http://schemas.openxmlformats.org/drawingml/2006/main" noGrp="1"/>
          </p:cNvSpPr>
          <p:nvPr/>
        </p:nvSpPr>
        <p:spPr>
          <a:xfrm xmlns:a="http://schemas.openxmlformats.org/drawingml/2006/main">
            <a:off x="3931920" y="2834640"/>
            <a:ext cx="4754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chemeClr val="bg1"/>
                </a:solidFill>
              </a:rPr>
              <a:t>Magnitud</a:t>
            </a:r>
            <a:endParaRPr sz="1500"/>
          </a:p>
        </p:txBody>
      </p:sp>
      <p:sp>
        <p:nvSpPr>
          <p:cNvPr id="14" name="Text 12">
            <a:extLst xmlns:a="http://schemas.openxmlformats.org/drawingml/2006/main">
              <a:ext uri="{FF2B5EF4-FFF2-40B4-BE49-F238E27FC236}">
                <a16:creationId xmlns:a16="http://schemas.microsoft.com/office/drawing/2014/main" id="{8D410F32-802B-45D5-8D9E-650198BE61C0}"/>
              </a:ext>
            </a:extLst>
          </p:cNvPr>
          <p:cNvSpPr>
            <a:spLocks xmlns:a="http://schemas.openxmlformats.org/drawingml/2006/main" noGrp="1"/>
          </p:cNvSpPr>
          <p:nvPr/>
        </p:nvSpPr>
        <p:spPr>
          <a:xfrm xmlns:a="http://schemas.openxmlformats.org/drawingml/2006/main">
            <a:off x="3931920" y="3108960"/>
            <a:ext cx="47548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rgbClr val="D5DCE4"/>
                </a:solidFill>
              </a:rPr>
              <a:t>Detectable en muestras grandes, pero pequeña. Que sea detectable no implica que sea relevante.</a:t>
            </a:r>
            <a:endParaRPr sz="1200"/>
          </a:p>
        </p:txBody>
      </p:sp>
      <p:sp>
        <p:nvSpPr>
          <p:cNvPr id="15" name="Ficha conclusión 4">
            <a:extLst xmlns:a="http://schemas.openxmlformats.org/drawingml/2006/main">
              <a:ext uri="{FF2B5EF4-FFF2-40B4-BE49-F238E27FC236}">
                <a16:creationId xmlns:a16="http://schemas.microsoft.com/office/drawing/2014/main" id="{3A537DE8-0145-4398-A049-1A8A5D393723}"/>
              </a:ext>
            </a:extLst>
          </p:cNvPr>
          <p:cNvSpPr>
            <a:spLocks xmlns:a="http://schemas.openxmlformats.org/drawingml/2006/main" noGrp="1"/>
          </p:cNvSpPr>
          <p:nvPr/>
        </p:nvSpPr>
        <p:spPr>
          <a:xfrm xmlns:a="http://schemas.openxmlformats.org/drawingml/2006/main">
            <a:off x="3429000" y="3730752"/>
            <a:ext cx="365760" cy="365760"/>
          </a:xfrm>
          <a:prstGeom xmlns:a="http://schemas.openxmlformats.org/drawingml/2006/main" prst="ellipse">
            <a:avLst/>
          </a:prstGeom>
          <a:solidFill xmlns:a="http://schemas.openxmlformats.org/drawingml/2006/main">
            <a:srgbClr val="6B7A8C"/>
          </a:solidFill>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chemeClr val="bg1"/>
                </a:solidFill>
              </a:rPr>
              <a:t>4</a:t>
            </a:r>
            <a:endParaRPr sz="1400"/>
          </a:p>
        </p:txBody>
      </p:sp>
      <p:sp>
        <p:nvSpPr>
          <p:cNvPr id="16" name="Text 14">
            <a:extLst xmlns:a="http://schemas.openxmlformats.org/drawingml/2006/main">
              <a:ext uri="{FF2B5EF4-FFF2-40B4-BE49-F238E27FC236}">
                <a16:creationId xmlns:a16="http://schemas.microsoft.com/office/drawing/2014/main" id="{95459F20-8023-4117-B112-08160975EC53}"/>
              </a:ext>
            </a:extLst>
          </p:cNvPr>
          <p:cNvSpPr>
            <a:spLocks xmlns:a="http://schemas.openxmlformats.org/drawingml/2006/main" noGrp="1"/>
          </p:cNvSpPr>
          <p:nvPr/>
        </p:nvSpPr>
        <p:spPr>
          <a:xfrm xmlns:a="http://schemas.openxmlformats.org/drawingml/2006/main">
            <a:off x="3931920" y="3657600"/>
            <a:ext cx="4754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chemeClr val="bg1"/>
                </a:solidFill>
              </a:rPr>
              <a:t>Alcance</a:t>
            </a:r>
            <a:endParaRPr sz="1500"/>
          </a:p>
        </p:txBody>
      </p:sp>
      <p:sp>
        <p:nvSpPr>
          <p:cNvPr id="17" name="Text 15">
            <a:extLst xmlns:a="http://schemas.openxmlformats.org/drawingml/2006/main">
              <a:ext uri="{FF2B5EF4-FFF2-40B4-BE49-F238E27FC236}">
                <a16:creationId xmlns:a16="http://schemas.microsoft.com/office/drawing/2014/main" id="{37A3C6FD-AF3F-4D4C-BA4B-A92DBFE771ED}"/>
              </a:ext>
            </a:extLst>
          </p:cNvPr>
          <p:cNvSpPr>
            <a:spLocks xmlns:a="http://schemas.openxmlformats.org/drawingml/2006/main" noGrp="1"/>
          </p:cNvSpPr>
          <p:nvPr/>
        </p:nvSpPr>
        <p:spPr>
          <a:xfrm xmlns:a="http://schemas.openxmlformats.org/drawingml/2006/main">
            <a:off x="3931920" y="3931920"/>
            <a:ext cx="47548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rgbClr val="D5DCE4"/>
                </a:solidFill>
              </a:rPr>
              <a:t>Asociación en anuncios de esta fuente. No hay causalidad ni generalización a todo NYC.</a:t>
            </a:r>
            <a:endParaRPr sz="1200"/>
          </a:p>
        </p:txBody>
      </p:sp>
      <p:sp>
        <p:nvSpPr>
          <p:cNvPr id="25" name="Slide Number Placeholder 0">
            <a:extLst xmlns:a="http://schemas.openxmlformats.org/drawingml/2006/main">
              <a:ext uri="{FF2B5EF4-FFF2-40B4-BE49-F238E27FC236}">
                <a16:creationId xmlns:a16="http://schemas.microsoft.com/office/drawing/2014/main" id="{1090703F-739A-4A5C-B628-E477C66402FE}"/>
              </a:ext>
            </a:extLst>
          </p:cNvPr>
          <p:cNvSpPr>
            <a:spLocks xmlns:a="http://schemas.openxmlformats.org/drawingml/2006/main" noGrp="1"/>
          </p:cNvSpPr>
          <p:nvPr>
            <p:ph type="sldNum" idx="4294967295"/>
          </p:nvPr>
        </p:nvSpPr>
        <p:spPr>
          <a:xfrm xmlns:a="http://schemas.openxmlformats.org/drawingml/2006/main">
            <a:off x="8229600" y="4754880"/>
            <a:ext cx="457200" cy="22860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AEB8C4"/>
                </a:solidFill>
              </a:defRPr>
            </a:lvl1pPr>
          </a:lstStyle>
          <a:p xmlns:a="http://schemas.openxmlformats.org/drawingml/2006/main">
            <a:pPr algn="r">
              <a:buNone/>
            </a:pPr>
            <a:fld id="{F7021451-1387-4CA6-816F-3879F97B5CBC}" type="slidenum">
              <a:rPr b="0"/>
              <a:t>12</a:t>
            </a:fld>
            <a:endParaRPr/>
          </a:p>
        </p:txBody>
      </p:sp>
    </p:spTree>
    <p:extLst>
      <p:ext uri="{BB962C8B-B14F-4D97-AF65-F5344CB8AC3E}">
        <p14:creationId xmlns:p14="http://schemas.microsoft.com/office/powerpoint/2010/main" val="173974730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F86D485E-62DE-487D-8C3E-0EF1FAD469D7}"/>
              </a:ext>
            </a:extLst>
          </p:cNvPr>
          <p:cNvSpPr>
            <a:spLocks xmlns:a="http://schemas.openxmlformats.org/drawingml/2006/main" noGrp="1"/>
          </p:cNvSpPr>
          <p:nvPr>
            <p:ph type="title" idx="101" hasCustomPrompt="1"/>
          </p:nvPr>
        </p:nvSpPr>
        <p:spPr>
          <a:xfrm xmlns:a="http://schemas.openxmlformats.org/drawingml/2006/main">
            <a:off x="457200" y="274320"/>
            <a:ext cx="82296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3000" b="1">
                <a:solidFill>
                  <a:schemeClr val="tx1"/>
                </a:solidFill>
              </a:rPr>
              <a:t>Límites y uso de IA</a:t>
            </a:r>
            <a:endParaRPr sz="3000"/>
          </a:p>
        </p:txBody>
      </p:sp>
      <p:sp>
        <p:nvSpPr>
          <p:cNvPr id="3" name="Text 1">
            <a:extLst xmlns:a="http://schemas.openxmlformats.org/drawingml/2006/main">
              <a:ext uri="{FF2B5EF4-FFF2-40B4-BE49-F238E27FC236}">
                <a16:creationId xmlns:a16="http://schemas.microsoft.com/office/drawing/2014/main" id="{A2CE4722-688F-43AE-906A-11C5AC7E33D4}"/>
              </a:ext>
            </a:extLst>
          </p:cNvPr>
          <p:cNvSpPr>
            <a:spLocks xmlns:a="http://schemas.openxmlformats.org/drawingml/2006/main" noGrp="1"/>
          </p:cNvSpPr>
          <p:nvPr/>
        </p:nvSpPr>
        <p:spPr>
          <a:xfrm xmlns:a="http://schemas.openxmlformats.org/drawingml/2006/main">
            <a:off x="457200" y="1097280"/>
            <a:ext cx="42062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chemeClr val="tx1"/>
                </a:solidFill>
                <a:latin typeface="Cambria"/>
                <a:ea typeface="Cambria"/>
                <a:cs typeface="Cambria"/>
              </a:rPr>
              <a:t>Límites que condicionan la lectura</a:t>
            </a:r>
            <a:endParaRPr sz="1600"/>
          </a:p>
        </p:txBody>
      </p:sp>
      <p:sp>
        <p:nvSpPr>
          <p:cNvPr id="4" name="Text 2">
            <a:extLst xmlns:a="http://schemas.openxmlformats.org/drawingml/2006/main">
              <a:ext uri="{FF2B5EF4-FFF2-40B4-BE49-F238E27FC236}">
                <a16:creationId xmlns:a16="http://schemas.microsoft.com/office/drawing/2014/main" id="{E9BFFB32-F9E1-40A8-AC9C-6B76243B3CDC}"/>
              </a:ext>
            </a:extLst>
          </p:cNvPr>
          <p:cNvSpPr>
            <a:spLocks xmlns:a="http://schemas.openxmlformats.org/drawingml/2006/main" noGrp="1"/>
          </p:cNvSpPr>
          <p:nvPr/>
        </p:nvSpPr>
        <p:spPr>
          <a:xfrm xmlns:a="http://schemas.openxmlformats.org/drawingml/2006/main">
            <a:off x="457200" y="1463040"/>
            <a:ext cx="4206240" cy="3017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600"/>
              </a:spcAft>
              <a:buSzPct val="100000"/>
              <a:buChar char="•"/>
            </a:pPr>
            <a:r>
              <a:rPr sz="1300">
                <a:solidFill>
                  <a:schemeClr val="tx1"/>
                </a:solidFill>
              </a:rPr>
              <a:t>Al incorporar 256 anuncios sin calificación con distrito conocido: cotas descriptivas de Δ [0,0059; 0,0299]. No son IC.</a:t>
            </a:r>
            <a:endParaRPr sz="1300"/>
          </a:p>
          <a:p xmlns:a="http://schemas.openxmlformats.org/drawingml/2006/main">
            <a:pPr marL="342900" indent="-342900">
              <a:spcAft>
                <a:spcPts val="600"/>
              </a:spcAft>
              <a:buSzPct val="100000"/>
              <a:buChar char="•"/>
            </a:pPr>
            <a:r>
              <a:rPr sz="1300">
                <a:solidFill>
                  <a:schemeClr val="tx1"/>
                </a:solidFill>
              </a:rPr>
              <a:t>Independencia supuesta y escala ordinal promediada.</a:t>
            </a:r>
            <a:endParaRPr sz="1300"/>
          </a:p>
          <a:p xmlns:a="http://schemas.openxmlformats.org/drawingml/2006/main">
            <a:pPr marL="342900" indent="-342900">
              <a:spcAft>
                <a:spcPts val="600"/>
              </a:spcAft>
              <a:buSzPct val="100000"/>
              <a:buChar char="•"/>
            </a:pPr>
            <a:r>
              <a:rPr sz="1300">
                <a:solidFill>
                  <a:schemeClr val="tx1"/>
                </a:solidFill>
              </a:rPr>
              <a:t>Contraste de dos distritos, sin causalidad.</a:t>
            </a:r>
            <a:endParaRPr sz="1300"/>
          </a:p>
          <a:p xmlns:a="http://schemas.openxmlformats.org/drawingml/2006/main">
            <a:pPr marL="342900" indent="-342900">
              <a:spcAft>
                <a:spcPts val="600"/>
              </a:spcAft>
              <a:buSzPct val="100000"/>
              <a:buChar char="•"/>
            </a:pPr>
            <a:r>
              <a:rPr sz="1300">
                <a:solidFill>
                  <a:schemeClr val="tx1"/>
                </a:solidFill>
              </a:rPr>
              <a:t>Potencia condicionada a probabilidades ajustadas con estos datos.</a:t>
            </a:r>
            <a:endParaRPr sz="1300"/>
          </a:p>
        </p:txBody>
      </p:sp>
      <p:sp>
        <p:nvSpPr>
          <p:cNvPr id="5" name="Tarjeta IA">
            <a:extLst xmlns:a="http://schemas.openxmlformats.org/drawingml/2006/main">
              <a:ext uri="{FF2B5EF4-FFF2-40B4-BE49-F238E27FC236}">
                <a16:creationId xmlns:a16="http://schemas.microsoft.com/office/drawing/2014/main" id="{45DCA1AC-4FFF-41E8-B8E6-6BCD592E6CF7}"/>
              </a:ext>
            </a:extLst>
          </p:cNvPr>
          <p:cNvSpPr>
            <a:spLocks xmlns:a="http://schemas.openxmlformats.org/drawingml/2006/main" noGrp="1"/>
          </p:cNvSpPr>
          <p:nvPr/>
        </p:nvSpPr>
        <p:spPr>
          <a:xfrm xmlns:a="http://schemas.openxmlformats.org/drawingml/2006/main">
            <a:off x="4937760" y="1097280"/>
            <a:ext cx="3749040" cy="1600200"/>
          </a:xfrm>
          <a:prstGeom xmlns:a="http://schemas.openxmlformats.org/drawingml/2006/main" prst="roundRect">
            <a:avLst>
              <a:gd name="adj" fmla="val 4571"/>
            </a:avLst>
          </a:prstGeom>
          <a:solidFill xmlns:a="http://schemas.openxmlformats.org/drawingml/2006/main">
            <a:schemeClr val="bg2"/>
          </a:solidFill>
        </p:spPr>
      </p:sp>
      <p:sp>
        <p:nvSpPr>
          <p:cNvPr id="6" name="Text 4">
            <a:extLst xmlns:a="http://schemas.openxmlformats.org/drawingml/2006/main">
              <a:ext uri="{FF2B5EF4-FFF2-40B4-BE49-F238E27FC236}">
                <a16:creationId xmlns:a16="http://schemas.microsoft.com/office/drawing/2014/main" id="{AD40A1E8-926E-42E4-9421-6000AB4F646A}"/>
              </a:ext>
            </a:extLst>
          </p:cNvPr>
          <p:cNvSpPr>
            <a:spLocks xmlns:a="http://schemas.openxmlformats.org/drawingml/2006/main" noGrp="1"/>
          </p:cNvSpPr>
          <p:nvPr/>
        </p:nvSpPr>
        <p:spPr>
          <a:xfrm xmlns:a="http://schemas.openxmlformats.org/drawingml/2006/main">
            <a:off x="5074920" y="1170432"/>
            <a:ext cx="3474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chemeClr val="accent3"/>
                </a:solidFill>
                <a:latin typeface="Cambria"/>
                <a:ea typeface="Cambria"/>
                <a:cs typeface="Cambria"/>
              </a:rPr>
              <a:t>Uso de IA</a:t>
            </a:r>
            <a:endParaRPr sz="1500"/>
          </a:p>
        </p:txBody>
      </p:sp>
      <p:sp>
        <p:nvSpPr>
          <p:cNvPr id="7" name="Text 5">
            <a:extLst xmlns:a="http://schemas.openxmlformats.org/drawingml/2006/main">
              <a:ext uri="{FF2B5EF4-FFF2-40B4-BE49-F238E27FC236}">
                <a16:creationId xmlns:a16="http://schemas.microsoft.com/office/drawing/2014/main" id="{5804B2F9-DEA5-4317-9496-8198CC2EFC92}"/>
              </a:ext>
            </a:extLst>
          </p:cNvPr>
          <p:cNvSpPr>
            <a:spLocks xmlns:a="http://schemas.openxmlformats.org/drawingml/2006/main" noGrp="1"/>
          </p:cNvSpPr>
          <p:nvPr/>
        </p:nvSpPr>
        <p:spPr>
          <a:xfrm xmlns:a="http://schemas.openxmlformats.org/drawingml/2006/main">
            <a:off x="5074920" y="1481328"/>
            <a:ext cx="347472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chemeClr val="tx1"/>
                </a:solidFill>
              </a:rPr>
              <a:t>ChatGPT/Codex: análisis, código y actualización de los archivos. Claude: revisión y presentación inicial. El grupo responde por el contenido.</a:t>
            </a:r>
            <a:endParaRPr sz="1200"/>
          </a:p>
        </p:txBody>
      </p:sp>
      <p:sp>
        <p:nvSpPr>
          <p:cNvPr id="8" name="Text 6">
            <a:extLst xmlns:a="http://schemas.openxmlformats.org/drawingml/2006/main">
              <a:ext uri="{FF2B5EF4-FFF2-40B4-BE49-F238E27FC236}">
                <a16:creationId xmlns:a16="http://schemas.microsoft.com/office/drawing/2014/main" id="{B27277F0-249C-42C8-85FB-8BCE8321237E}"/>
              </a:ext>
            </a:extLst>
          </p:cNvPr>
          <p:cNvSpPr>
            <a:spLocks xmlns:a="http://schemas.openxmlformats.org/drawingml/2006/main" noGrp="1"/>
          </p:cNvSpPr>
          <p:nvPr/>
        </p:nvSpPr>
        <p:spPr>
          <a:xfrm xmlns:a="http://schemas.openxmlformats.org/drawingml/2006/main">
            <a:off x="4937760" y="2926080"/>
            <a:ext cx="37490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b="1">
                <a:solidFill>
                  <a:schemeClr val="tx1"/>
                </a:solidFill>
                <a:latin typeface="Cambria"/>
                <a:ea typeface="Cambria"/>
                <a:cs typeface="Cambria"/>
              </a:rPr>
              <a:t>Referencias</a:t>
            </a:r>
            <a:endParaRPr sz="1400"/>
          </a:p>
        </p:txBody>
      </p:sp>
      <p:sp>
        <p:nvSpPr>
          <p:cNvPr id="9" name="Text 7">
            <a:extLst xmlns:a="http://schemas.openxmlformats.org/drawingml/2006/main">
              <a:ext uri="{FF2B5EF4-FFF2-40B4-BE49-F238E27FC236}">
                <a16:creationId xmlns:a16="http://schemas.microsoft.com/office/drawing/2014/main" id="{D91A01F0-D12D-4065-805B-C889A40B2C3A}"/>
              </a:ext>
            </a:extLst>
          </p:cNvPr>
          <p:cNvSpPr>
            <a:spLocks xmlns:a="http://schemas.openxmlformats.org/drawingml/2006/main" noGrp="1"/>
          </p:cNvSpPr>
          <p:nvPr/>
        </p:nvSpPr>
        <p:spPr>
          <a:xfrm xmlns:a="http://schemas.openxmlformats.org/drawingml/2006/main">
            <a:off x="4937760" y="3218688"/>
            <a:ext cx="3749040" cy="1417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300"/>
              </a:spcAft>
              <a:buSzPct val="100000"/>
              <a:buChar char="•"/>
            </a:pPr>
            <a:r>
              <a:rPr sz="1100">
                <a:solidFill>
                  <a:schemeClr val="tx1"/>
                </a:solidFill>
              </a:rPr>
              <a:t>Efron (1979). Bootstrap Methods: Another Look at the Jackknife. Ann. Stat. 7(1).</a:t>
            </a:r>
            <a:endParaRPr sz="1100"/>
          </a:p>
          <a:p xmlns:a="http://schemas.openxmlformats.org/drawingml/2006/main">
            <a:pPr marL="342900" indent="-342900">
              <a:spcAft>
                <a:spcPts val="300"/>
              </a:spcAft>
              <a:buSzPct val="100000"/>
              <a:buChar char="•"/>
            </a:pPr>
            <a:r>
              <a:rPr sz="1100">
                <a:solidFill>
                  <a:schemeClr val="tx1"/>
                </a:solidFill>
              </a:rPr>
              <a:t>Shalizi (2018). Simulation for Inference I — The Bootstrap.</a:t>
            </a:r>
            <a:endParaRPr sz="1100"/>
          </a:p>
          <a:p xmlns:a="http://schemas.openxmlformats.org/drawingml/2006/main">
            <a:pPr marL="342900" indent="-342900">
              <a:spcAft>
                <a:spcPts val="300"/>
              </a:spcAft>
              <a:buSzPct val="100000"/>
              <a:buChar char="•"/>
            </a:pPr>
            <a:r>
              <a:rPr sz="1100">
                <a:solidFill>
                  <a:schemeClr val="tx1"/>
                </a:solidFill>
              </a:rPr>
              <a:t>NIST, Monte Carlo Tool · NumPy, Generator.multinomial.</a:t>
            </a:r>
            <a:endParaRPr sz="1100"/>
          </a:p>
          <a:p xmlns:a="http://schemas.openxmlformats.org/drawingml/2006/main">
            <a:pPr marL="342900" indent="-342900">
              <a:spcAft>
                <a:spcPts val="300"/>
              </a:spcAft>
              <a:buSzPct val="100000"/>
              <a:buChar char="•"/>
            </a:pPr>
            <a:r>
              <a:rPr sz="1100">
                <a:solidFill>
                  <a:schemeClr val="tx1"/>
                </a:solidFill>
              </a:rPr>
              <a:t>Airbnb Open Data (NYC), Kaggle, v1.</a:t>
            </a:r>
            <a:endParaRPr sz="1100"/>
          </a:p>
        </p:txBody>
      </p:sp>
      <p:sp>
        <p:nvSpPr>
          <p:cNvPr id="25" name="Slide Number Placeholder 0">
            <a:extLst xmlns:a="http://schemas.openxmlformats.org/drawingml/2006/main">
              <a:ext uri="{FF2B5EF4-FFF2-40B4-BE49-F238E27FC236}">
                <a16:creationId xmlns:a16="http://schemas.microsoft.com/office/drawing/2014/main" id="{D37F7CB9-9D65-451E-AC74-22C04026C802}"/>
              </a:ext>
            </a:extLst>
          </p:cNvPr>
          <p:cNvSpPr>
            <a:spLocks xmlns:a="http://schemas.openxmlformats.org/drawingml/2006/main" noGrp="1"/>
          </p:cNvSpPr>
          <p:nvPr>
            <p:ph type="sldNum" idx="4294967295"/>
          </p:nvPr>
        </p:nvSpPr>
        <p:spPr>
          <a:xfrm xmlns:a="http://schemas.openxmlformats.org/drawingml/2006/main">
            <a:off x="8229600" y="4754880"/>
            <a:ext cx="457200" cy="228600"/>
          </a:xfrm>
          <a:prstGeom xmlns:a="http://schemas.openxmlformats.org/drawingml/2006/main" prst="rect">
            <a:avLst/>
          </a:prstGeom>
        </p:spPr>
        <p:txBody>
          <a:bodyPr xmlns:a="http://schemas.openxmlformats.org/drawingml/2006/main"/>
          <a:lstStyle xmlns:a="http://schemas.openxmlformats.org/drawingml/2006/main">
            <a:lvl1pPr>
              <a:buNone/>
              <a:defRPr sz="1000">
                <a:solidFill>
                  <a:schemeClr val="accent4"/>
                </a:solidFill>
              </a:defRPr>
            </a:lvl1pPr>
          </a:lstStyle>
          <a:p xmlns:a="http://schemas.openxmlformats.org/drawingml/2006/main">
            <a:pPr algn="r">
              <a:buNone/>
            </a:pPr>
            <a:fld id="{F7021451-1387-4CA6-816F-3879F97B5CBC}" type="slidenum">
              <a:rPr b="0"/>
              <a:t>13</a:t>
            </a:fld>
            <a:endParaRPr/>
          </a:p>
        </p:txBody>
      </p:sp>
    </p:spTree>
    <p:extLst>
      <p:ext uri="{BB962C8B-B14F-4D97-AF65-F5344CB8AC3E}">
        <p14:creationId xmlns:p14="http://schemas.microsoft.com/office/powerpoint/2010/main" val="2063005140"/>
      </p:ext>
    </p:extLst>
  </p:cSld>
</p:sld>
</file>

<file path=ppt/theme/theme1.xml><?xml version="1.0" encoding="utf-8"?>
<a:theme xmlns:a="http://schemas.openxmlformats.org/drawingml/2006/main" name="Grupo17 Airbnb">
  <a:themeElements>
    <a:clrScheme name="Grupo17 Airbnb">
      <a:dk1>
        <a:srgbClr val="1F2A37"/>
      </a:dk1>
      <a:lt1>
        <a:srgbClr val="FFFFFF"/>
      </a:lt1>
      <a:dk2>
        <a:srgbClr val="493C73"/>
      </a:dk2>
      <a:lt2>
        <a:srgbClr val="EEF2F6"/>
      </a:lt2>
      <a:accent1>
        <a:srgbClr val="087E8B"/>
      </a:accent1>
      <a:accent2>
        <a:srgbClr val="C85A43"/>
      </a:accent2>
      <a:accent3>
        <a:srgbClr val="493C73"/>
      </a:accent3>
      <a:accent4>
        <a:srgbClr val="6B7A8C"/>
      </a:accent4>
      <a:accent5>
        <a:srgbClr val="2E7D5B"/>
      </a:accent5>
      <a:accent6>
        <a:srgbClr val="D9A441"/>
      </a:accent6>
      <a:hlink>
        <a:srgbClr val="087E8B"/>
      </a:hlink>
      <a:folHlink>
        <a:srgbClr val="493C73"/>
      </a:folHlink>
    </a:clrScheme>
    <a:fontScheme name="Grupo17 Airbnb">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Grupo17 Airbnb">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2026-10-07T16:53:11.0310000Z</dcterms:created>
  <dcterms:modified xsi:type="dcterms:W3CDTF">2026-10-07T16:53:11.0310000Z</dcterms:modified>
</coreProperties>
</file>