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Listados</c:v>
                </c:pt>
              </c:strCache>
            </c:strRef>
          </c:tx>
          <c:spPr>
            <a:solidFill>
              <a:srgbClr val="1B3A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Manhattan</c:v>
                  </c:pt>
                  <c:pt idx="1">
                    <c:v>Brooklyn</c:v>
                  </c:pt>
                  <c:pt idx="2">
                    <c:v>Queens</c:v>
                  </c:pt>
                  <c:pt idx="3">
                    <c:v>Bronx</c:v>
                  </c:pt>
                  <c:pt idx="4">
                    <c:v>Staten Island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43558</c:v>
                </c:pt>
                <c:pt idx="1">
                  <c:v>41631</c:v>
                </c:pt>
                <c:pt idx="2">
                  <c:v>13197</c:v>
                </c:pt>
                <c:pt idx="3">
                  <c:v>2694</c:v>
                </c:pt>
                <c:pt idx="4">
                  <c:v>949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222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2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22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Listados</c:v>
                </c:pt>
              </c:strCache>
            </c:strRef>
          </c:tx>
          <c:spPr>
            <a:solidFill>
              <a:srgbClr val="E860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9181</c:v>
                </c:pt>
                <c:pt idx="1">
                  <c:v>22968</c:v>
                </c:pt>
                <c:pt idx="2">
                  <c:v>23125</c:v>
                </c:pt>
                <c:pt idx="3">
                  <c:v>23194</c:v>
                </c:pt>
                <c:pt idx="4">
                  <c:v>23244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222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2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Entire home/apt</c:v>
                </c:pt>
              </c:strCache>
            </c:strRef>
          </c:tx>
          <c:spPr>
            <a:solidFill>
              <a:srgbClr val="1B3A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Bronx</c:v>
                  </c:pt>
                  <c:pt idx="1">
                    <c:v>Brooklyn</c:v>
                  </c:pt>
                  <c:pt idx="2">
                    <c:v>Manhattan</c:v>
                  </c:pt>
                  <c:pt idx="3">
                    <c:v>Queens</c:v>
                  </c:pt>
                  <c:pt idx="4">
                    <c:v>Staten Island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1020</c:v>
                </c:pt>
                <c:pt idx="1">
                  <c:v>20475</c:v>
                </c:pt>
                <c:pt idx="2">
                  <c:v>26331</c:v>
                </c:pt>
                <c:pt idx="3">
                  <c:v>5118</c:v>
                </c:pt>
                <c:pt idx="4">
                  <c:v>474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Private room</c:v>
                </c:pt>
              </c:strCache>
            </c:strRef>
          </c:tx>
          <c:spPr>
            <a:solidFill>
              <a:srgbClr val="3E5C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Bronx</c:v>
                  </c:pt>
                  <c:pt idx="1">
                    <c:v>Brooklyn</c:v>
                  </c:pt>
                  <c:pt idx="2">
                    <c:v>Manhattan</c:v>
                  </c:pt>
                  <c:pt idx="3">
                    <c:v>Queens</c:v>
                  </c:pt>
                  <c:pt idx="4">
                    <c:v>Staten Island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1559</c:v>
                </c:pt>
                <c:pt idx="1">
                  <c:v>20325</c:v>
                </c:pt>
                <c:pt idx="2">
                  <c:v>16232</c:v>
                </c:pt>
                <c:pt idx="3">
                  <c:v>7712</c:v>
                </c:pt>
                <c:pt idx="4">
                  <c:v>460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Shared room</c:v>
                </c:pt>
              </c:strCache>
            </c:strRef>
          </c:tx>
          <c:spPr>
            <a:solidFill>
              <a:srgbClr val="9AB6C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Bronx</c:v>
                  </c:pt>
                  <c:pt idx="1">
                    <c:v>Brooklyn</c:v>
                  </c:pt>
                  <c:pt idx="2">
                    <c:v>Manhattan</c:v>
                  </c:pt>
                  <c:pt idx="3">
                    <c:v>Queens</c:v>
                  </c:pt>
                  <c:pt idx="4">
                    <c:v>Staten Island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115</c:v>
                </c:pt>
                <c:pt idx="1">
                  <c:v>824</c:v>
                </c:pt>
                <c:pt idx="2">
                  <c:v>895</c:v>
                </c:pt>
                <c:pt idx="3">
                  <c:v>359</c:v>
                </c:pt>
                <c:pt idx="4">
                  <c:v>15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Hotel room</c:v>
                </c:pt>
              </c:strCache>
            </c:strRef>
          </c:tx>
          <c:spPr>
            <a:solidFill>
              <a:srgbClr val="E860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Bronx</c:v>
                  </c:pt>
                  <c:pt idx="1">
                    <c:v>Brooklyn</c:v>
                  </c:pt>
                  <c:pt idx="2">
                    <c:v>Manhattan</c:v>
                  </c:pt>
                  <c:pt idx="3">
                    <c:v>Queens</c:v>
                  </c:pt>
                  <c:pt idx="4">
                    <c:v>Staten Island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</c:v>
                </c:pt>
                <c:pt idx="1">
                  <c:v>7</c:v>
                </c:pt>
                <c:pt idx="2">
                  <c:v>100</c:v>
                </c:pt>
                <c:pt idx="3">
                  <c:v>8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2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2222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 review_rate_number</c:v>
                </c:pt>
              </c:strCache>
            </c:strRef>
          </c:tx>
          <c:spPr>
            <a:solidFill>
              <a:srgbClr val="1B3A4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222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Staten Island</c:v>
                  </c:pt>
                  <c:pt idx="1">
                    <c:v>Bronx</c:v>
                  </c:pt>
                  <c:pt idx="2">
                    <c:v>Queens</c:v>
                  </c:pt>
                  <c:pt idx="3">
                    <c:v>Manhattan</c:v>
                  </c:pt>
                  <c:pt idx="4">
                    <c:v>Brooklyn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3.404</c:v>
                </c:pt>
                <c:pt idx="1">
                  <c:v>3.3313</c:v>
                </c:pt>
                <c:pt idx="2">
                  <c:v>3.3304</c:v>
                </c:pt>
                <c:pt idx="3">
                  <c:v>3.2765</c:v>
                </c:pt>
                <c:pt idx="4">
                  <c:v>3.2585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2222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2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5"/>
          <c:min val="3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031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NEW YORK CITY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1460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 Exploratorio de Datos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6118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¿Determina el barrio la calificación que reciben los anfitriones?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343400"/>
            <a:ext cx="1280160" cy="36576"/>
          </a:xfrm>
          <a:prstGeom prst="rect">
            <a:avLst/>
          </a:prstGeom>
          <a:solidFill>
            <a:srgbClr val="E8603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461772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 Computacional (INF280) · USM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Tutor: Cristobal Duarte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 [Nombre 1] · [Nombre 2] · [Nombre 3] · [Nombre 4]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Airbnb NYC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346704" cy="3291840"/>
          </a:xfrm>
          <a:prstGeom prst="roundRect">
            <a:avLst>
              <a:gd name="adj" fmla="val 2222"/>
            </a:avLst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423160"/>
            <a:ext cx="502920" cy="502920"/>
          </a:xfrm>
          <a:prstGeom prst="ellipse">
            <a:avLst/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54680"/>
            <a:ext cx="27980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Impacto urbano real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03320"/>
            <a:ext cx="279806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alquiler de corto plazo transforma vivienda, turismo y regulación en una de las ciudades más densas del mundo.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69664" y="2103120"/>
            <a:ext cx="3346704" cy="3291840"/>
          </a:xfrm>
          <a:prstGeom prst="roundRect">
            <a:avLst>
              <a:gd name="adj" fmla="val 2222"/>
            </a:avLst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43984" y="2423160"/>
            <a:ext cx="502920" cy="502920"/>
          </a:xfrm>
          <a:prstGeom prst="ellipse">
            <a:avLst/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43984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443984" y="3154680"/>
            <a:ext cx="27980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sin sobre-procesar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443984" y="3703320"/>
            <a:ext cx="279806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diferencia de datasets "de juguete", este trae duplicados, errores de tipeo y formatos inconsistentes: limpieza genuina.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90688" y="2103120"/>
            <a:ext cx="3346704" cy="3291840"/>
          </a:xfrm>
          <a:prstGeom prst="roundRect">
            <a:avLst>
              <a:gd name="adj" fmla="val 2222"/>
            </a:avLst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65008" y="2423160"/>
            <a:ext cx="502920" cy="502920"/>
          </a:xfrm>
          <a:prstGeom prst="ellipse">
            <a:avLst/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65008" y="2423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065008" y="3154680"/>
            <a:ext cx="27980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Mezcla de variables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065008" y="3703320"/>
            <a:ext cx="279806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distritos, 4 tipos de alojamiento, precios, reseñas y políticas de cancelación en más de 100 mil listados.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NYC — Análisis Exploratorio de Datos · INF280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DATASET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Airbnb Open Data — Nueva York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Kaggle (arianazmoudeh/airbnbopendata)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60604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6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102.599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661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originales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237744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91840" y="260604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6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35661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 / variables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237744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35040" y="260604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6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35661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distritos (boroughs)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778240" y="237744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778240" y="260604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86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8778240" y="356616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alojamiento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5720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 tras limpieza (deduplicación): 102.058 filas · 22 columnas — cumple holgadamente el mínimo de 200 observaciones exigido.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NYC — Análisis Exploratorio de Datos · INF280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DATOS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Problemas reales encontrados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73352"/>
            <a:ext cx="128016" cy="128016"/>
          </a:xfrm>
          <a:prstGeom prst="ellipse">
            <a:avLst/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002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541 filas duplicadas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160020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id repetido exactamente — eliminadas.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542032"/>
            <a:ext cx="128016" cy="128016"/>
          </a:xfrm>
          <a:prstGeom prst="ellipse">
            <a:avLst/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4688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de tipeo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246888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"manhatan" y "brookln" en neighbourhood_group — corregidos manualmente.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410712"/>
            <a:ext cx="128016" cy="128016"/>
          </a:xfrm>
          <a:prstGeom prst="ellipse">
            <a:avLst/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3375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monetario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333756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y service_fee venían como texto ("$966 ") en vez de número.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279392"/>
            <a:ext cx="128016" cy="128016"/>
          </a:xfrm>
          <a:prstGeom prst="ellipse">
            <a:avLst/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42062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físicamente imposibles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297680" y="420624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minimum_nights negativo (13 filas); availability_365 fuera de 0–365 (3.185 filas).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148072"/>
            <a:ext cx="128016" cy="128016"/>
          </a:xfrm>
          <a:prstGeom prst="ellipse">
            <a:avLst/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50749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 casi vacías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5074920"/>
            <a:ext cx="6675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(99,998% nula) y house_rules (&gt;51% nula) — descartadas.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NYC — Análisis Exploratorio de Datos · INF280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 DESCRIPTIVA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Detección de outliers — criterio IQR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292608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Outliers detectados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4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Distribución acotada (50–1.200)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service_fee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Distribución acotada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availability_365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 corregida en la limpieza previa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minimum_nights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86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Cola larga: hasta 5.645 noches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number_of_reviews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E860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Distribución tipo ley de potencias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846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 variables de cola larga son de conteo/duración: la asimetría es esperable y no implica error de captura.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NYC — Análisis Exploratorio de Datos · INF280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UNIVARIADA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principales: distribución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Listados por distrito (neighbourhood_group)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874520"/>
          <a:ext cx="5303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309360" y="14630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Calificaciones otorgadas (review_rate_number)</a:t>
            </a:r>
            <a:endParaRPr lang="en-US" sz="14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309360" y="1874520"/>
          <a:ext cx="5303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3035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 y Brooklyn concentran ~83% de los listados · Las categorías 2 a 5 tienen conteos casi idénticos (~23 mil c/u)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NYC — Análisis Exploratorio de Datos · INF280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OBSERVAR CON LUPA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Hallazgo: el precio no depende del barrio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boxplots de price por distrito y por tipo de alojamiento son prácticamente indistinguibles entre sí.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6032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86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$628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en Manhattan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256032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86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$623</a:t>
            </a:r>
            <a:endParaRPr lang="en-US" sz="52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37947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en el Bronx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138160" y="256032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86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1%</a:t>
            </a:r>
            <a:endParaRPr lang="en-US" sz="52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37947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diferencia entre ambos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4348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 mercado real, un departamento completo en Manhattan debería costar sustancialmente más que una habitación en la periferia. Esta planicie sugiere que price fue anonimizado o generado sintéticamente en el dataset original.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NYC — Análisis Exploratorio de Datos · INF280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SECUNDARIA DE CONTEXTO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room_type según distrito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9494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737360"/>
            <a:ext cx="3840480" cy="3566160"/>
          </a:xfrm>
          <a:prstGeom prst="roundRect">
            <a:avLst>
              <a:gd name="adj" fmla="val 2051"/>
            </a:avLst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46720" y="19659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Chi-cuadrado de independencia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046720" y="242316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6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χ² = 2708.85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30632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10⁻¹⁶  ·  df = 12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046720" y="356616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rechaza H0: la composición de alojamientos SÍ depende del distrito.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046720" y="448056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 concentra casi el 100% de los "Hotel room" (100 de 115).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NYC — Análisis Exploratorio de Datos · INF280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INVESTIGACIÓN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¿El distrito influye en la calificación?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0515600" cy="1005840"/>
          </a:xfrm>
          <a:prstGeom prst="roundRect">
            <a:avLst>
              <a:gd name="adj" fmla="val 7273"/>
            </a:avLst>
          </a:prstGeom>
          <a:solidFill>
            <a:srgbClr val="24485B"/>
          </a:solidFill>
          <a:ln w="12700">
            <a:solidFill>
              <a:srgbClr val="24485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96596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¿Existe asociación entre el distrito (neighbourhood_group) y la calificación otorgada por los huéspedes (review_rate_number) en Airbnb NYC?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004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6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H0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32461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calificación promedio es independiente del distrito (las 5 medias son iguales).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9776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6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H1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1645920" y="40233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calificación promedio difiere significativamente en al menos un distrito.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0292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significancia α = 0.05  ·  Test: ANOVA de una vía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NYC — Análisis Exploratorio de Datos · INF280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PRINCIPAL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ANOVA: calificación media por distrito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9494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737360"/>
            <a:ext cx="3840480" cy="3749040"/>
          </a:xfrm>
          <a:prstGeom prst="roundRect">
            <a:avLst>
              <a:gd name="adj" fmla="val 1951"/>
            </a:avLst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46720" y="196596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6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= 11.3048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≈ 0.0000  (p = 3.6 × 10⁻⁹)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046720" y="3063240"/>
            <a:ext cx="329184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46720" y="3246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rechaza H0 (α = 0.05)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046720" y="36576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diferencia estadísticamente significativa entre distritos.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046720" y="44805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Consistente con el boxplot: Staten Island destaca (mediana más alta), aunque con muestra chica (N=943).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NYC — Análisis Exploratorio de Datos · INF280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MIRANDO MÁS ALLÁ DEL P-VALOR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¿Significativo ≠ importante?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N &gt; 100.000, hasta una diferencia trivial se vuelve "estadísticamente significativa". Por eso medimos también el tamaño del efecto: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377440"/>
            <a:ext cx="5029200" cy="3200400"/>
          </a:xfrm>
          <a:prstGeom prst="roundRect">
            <a:avLst>
              <a:gd name="adj" fmla="val 2286"/>
            </a:avLst>
          </a:prstGeom>
          <a:solidFill>
            <a:srgbClr val="24485B"/>
          </a:solidFill>
          <a:ln w="12700">
            <a:solidFill>
              <a:srgbClr val="2448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2606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de Cramér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92608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6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0.02</a:t>
            </a:r>
            <a:endParaRPr lang="en-US" sz="72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42976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Asociación extremadamente débil / casi nula (escala 0 a 1)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5029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 = 162.53 · df = 16 · N = 101.712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2377440"/>
            <a:ext cx="5029200" cy="3200400"/>
          </a:xfrm>
          <a:prstGeom prst="roundRect">
            <a:avLst>
              <a:gd name="adj" fmla="val 2286"/>
            </a:avLst>
          </a:prstGeom>
          <a:solidFill>
            <a:srgbClr val="24485B"/>
          </a:solidFill>
          <a:ln w="12700">
            <a:solidFill>
              <a:srgbClr val="2448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2606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práctica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92608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860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0.14 pts</a:t>
            </a:r>
            <a:endParaRPr lang="en-US" sz="72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42976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Staten Island (3.40) y Brooklyn (3.26), en escala de 1 a 5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5029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distrito no es un factor determinante en la calificación.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NYC — Análisis Exploratorio de Datos · INF280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hay que leer con cautela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64792"/>
            <a:ext cx="128016" cy="128016"/>
          </a:xfrm>
          <a:prstGeom prst="ellipse">
            <a:avLst/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Representatividad geográfica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169164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Manhattan + Brooklyn concentran ~83% de los listados; Staten Island &lt; 1%.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816352"/>
            <a:ext cx="128016" cy="128016"/>
          </a:xfrm>
          <a:prstGeom prst="ellipse">
            <a:avLst/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74320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Posible generación sintética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74320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y review_rate_number muestran patrones estadísticamente inusuales (planicie entre grupos).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867912"/>
            <a:ext cx="128016" cy="128016"/>
          </a:xfrm>
          <a:prstGeom prst="ellipse">
            <a:avLst/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79476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continuidad temporal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79476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dataset es una fotografía estática; no captura estacionalidad ni cambios regulatorios recientes.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919472"/>
            <a:ext cx="128016" cy="128016"/>
          </a:xfrm>
          <a:prstGeom prst="ellipse">
            <a:avLst/>
          </a:prstGeom>
          <a:solidFill>
            <a:srgbClr val="E8603C"/>
          </a:solidFill>
          <a:ln w="12700">
            <a:solidFill>
              <a:srgbClr val="E860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484632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de captura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484632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de disponibilidad &gt;365 días o noches mínimas negativas evidencian falta de validación al ingresar datos.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NYC — Análisis Exploratorio de Datos · INF280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 y uso de IA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53949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Asociación estadística real pero de magnitud despreciable entre distrito y calificación (V = 0.02).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tipo de alojamiento sí depende fuertemente del distrito (χ² = 2708.85).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y review_rate_number muestran señales de no ser datos de mercado orgánicos.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309360" y="1554480"/>
            <a:ext cx="5349240" cy="3566160"/>
          </a:xfrm>
          <a:prstGeom prst="roundRect">
            <a:avLst>
              <a:gd name="adj" fmla="val 2051"/>
            </a:avLst>
          </a:prstGeom>
          <a:solidFill>
            <a:srgbClr val="F4F1EC"/>
          </a:solidFill>
          <a:ln w="12700">
            <a:solidFill>
              <a:srgbClr val="F4F1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0" y="17830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de IA declaradas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22402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(Anthropic)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56032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y transformación de datos, visualizaciones, pruebas estadísticas (ANOVA, χ²) y redacción analítica.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32461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6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(Google)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356616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Estructuración del informe, función de detección de outliers (IQR) y cálculo de la V de Cramér.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43434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código y los resultados fueron revisados y comprendidos por el equipo.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Airbnb NYC — Análisis Exploratorio de Datos · INF280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777240" y="3657600"/>
            <a:ext cx="1280160" cy="36576"/>
          </a:xfrm>
          <a:prstGeom prst="rect">
            <a:avLst/>
          </a:prstGeom>
          <a:solidFill>
            <a:srgbClr val="E8603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38404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60350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Repositorio: github.com/MANPROCOOL/Estaca-tom-y-los-holland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2026-09-12T18:42:06Z</dcterms:created>
  <dcterms:modified xsi:type="dcterms:W3CDTF">2026-09-12T18:42:06Z</dcterms:modified>
</cp:coreProperties>
</file>